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5" r:id="rId9"/>
    <p:sldId id="263"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4" d="100"/>
          <a:sy n="74" d="100"/>
        </p:scale>
        <p:origin x="104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2FFA8-AC19-F1EC-C69F-302574E2DD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6507633-084B-8707-796A-FB6B38527C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285C56-F10B-28AB-7B7A-11FF2FB59391}"/>
              </a:ext>
            </a:extLst>
          </p:cNvPr>
          <p:cNvSpPr>
            <a:spLocks noGrp="1"/>
          </p:cNvSpPr>
          <p:nvPr>
            <p:ph type="dt" sz="half" idx="10"/>
          </p:nvPr>
        </p:nvSpPr>
        <p:spPr/>
        <p:txBody>
          <a:bodyPr/>
          <a:lstStyle/>
          <a:p>
            <a:fld id="{FEBB4077-6BE2-4D26-80D3-9FFBBE2E9B57}" type="datetimeFigureOut">
              <a:rPr lang="en-US" smtClean="0"/>
              <a:t>27-Dec-24</a:t>
            </a:fld>
            <a:endParaRPr lang="en-US"/>
          </a:p>
        </p:txBody>
      </p:sp>
      <p:sp>
        <p:nvSpPr>
          <p:cNvPr id="5" name="Footer Placeholder 4">
            <a:extLst>
              <a:ext uri="{FF2B5EF4-FFF2-40B4-BE49-F238E27FC236}">
                <a16:creationId xmlns:a16="http://schemas.microsoft.com/office/drawing/2014/main" id="{072A0B1A-BE08-226F-CECB-9AAB30D478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DC7B41-8B7C-4FF8-ACA7-21909F8E6CEB}"/>
              </a:ext>
            </a:extLst>
          </p:cNvPr>
          <p:cNvSpPr>
            <a:spLocks noGrp="1"/>
          </p:cNvSpPr>
          <p:nvPr>
            <p:ph type="sldNum" sz="quarter" idx="12"/>
          </p:nvPr>
        </p:nvSpPr>
        <p:spPr/>
        <p:txBody>
          <a:bodyPr/>
          <a:lstStyle/>
          <a:p>
            <a:fld id="{621A3666-22F8-4495-A442-19F7E6331BBE}" type="slidenum">
              <a:rPr lang="en-US" smtClean="0"/>
              <a:t>‹#›</a:t>
            </a:fld>
            <a:endParaRPr lang="en-US"/>
          </a:p>
        </p:txBody>
      </p:sp>
    </p:spTree>
    <p:extLst>
      <p:ext uri="{BB962C8B-B14F-4D97-AF65-F5344CB8AC3E}">
        <p14:creationId xmlns:p14="http://schemas.microsoft.com/office/powerpoint/2010/main" val="12985937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CB314-C62F-9D84-ACFC-A4FADC679E3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B5E95C-4CE0-E915-4075-C93B2A7054E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4797F9-58A0-69D5-6AAB-387A7FC4C5A6}"/>
              </a:ext>
            </a:extLst>
          </p:cNvPr>
          <p:cNvSpPr>
            <a:spLocks noGrp="1"/>
          </p:cNvSpPr>
          <p:nvPr>
            <p:ph type="dt" sz="half" idx="10"/>
          </p:nvPr>
        </p:nvSpPr>
        <p:spPr/>
        <p:txBody>
          <a:bodyPr/>
          <a:lstStyle/>
          <a:p>
            <a:fld id="{FEBB4077-6BE2-4D26-80D3-9FFBBE2E9B57}" type="datetimeFigureOut">
              <a:rPr lang="en-US" smtClean="0"/>
              <a:t>27-Dec-24</a:t>
            </a:fld>
            <a:endParaRPr lang="en-US"/>
          </a:p>
        </p:txBody>
      </p:sp>
      <p:sp>
        <p:nvSpPr>
          <p:cNvPr id="5" name="Footer Placeholder 4">
            <a:extLst>
              <a:ext uri="{FF2B5EF4-FFF2-40B4-BE49-F238E27FC236}">
                <a16:creationId xmlns:a16="http://schemas.microsoft.com/office/drawing/2014/main" id="{64BCB579-9526-8401-8FFC-E7527DF3DA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3D1680-FCBA-C097-24A6-93B8A4F9F6B5}"/>
              </a:ext>
            </a:extLst>
          </p:cNvPr>
          <p:cNvSpPr>
            <a:spLocks noGrp="1"/>
          </p:cNvSpPr>
          <p:nvPr>
            <p:ph type="sldNum" sz="quarter" idx="12"/>
          </p:nvPr>
        </p:nvSpPr>
        <p:spPr/>
        <p:txBody>
          <a:bodyPr/>
          <a:lstStyle/>
          <a:p>
            <a:fld id="{621A3666-22F8-4495-A442-19F7E6331BBE}" type="slidenum">
              <a:rPr lang="en-US" smtClean="0"/>
              <a:t>‹#›</a:t>
            </a:fld>
            <a:endParaRPr lang="en-US"/>
          </a:p>
        </p:txBody>
      </p:sp>
    </p:spTree>
    <p:extLst>
      <p:ext uri="{BB962C8B-B14F-4D97-AF65-F5344CB8AC3E}">
        <p14:creationId xmlns:p14="http://schemas.microsoft.com/office/powerpoint/2010/main" val="41868884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C9E05-52DC-DC58-823C-097F0334109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F62C1C8-633C-EF00-F3D9-E09C8B52955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E783CE7-78B2-26D9-7278-45A0EE6ECCA4}"/>
              </a:ext>
            </a:extLst>
          </p:cNvPr>
          <p:cNvSpPr>
            <a:spLocks noGrp="1"/>
          </p:cNvSpPr>
          <p:nvPr>
            <p:ph type="dt" sz="half" idx="10"/>
          </p:nvPr>
        </p:nvSpPr>
        <p:spPr/>
        <p:txBody>
          <a:bodyPr/>
          <a:lstStyle/>
          <a:p>
            <a:fld id="{FEBB4077-6BE2-4D26-80D3-9FFBBE2E9B57}" type="datetimeFigureOut">
              <a:rPr lang="en-US" smtClean="0"/>
              <a:t>27-Dec-24</a:t>
            </a:fld>
            <a:endParaRPr lang="en-US"/>
          </a:p>
        </p:txBody>
      </p:sp>
      <p:sp>
        <p:nvSpPr>
          <p:cNvPr id="5" name="Footer Placeholder 4">
            <a:extLst>
              <a:ext uri="{FF2B5EF4-FFF2-40B4-BE49-F238E27FC236}">
                <a16:creationId xmlns:a16="http://schemas.microsoft.com/office/drawing/2014/main" id="{7BDD6E0D-46D0-C0A3-2E5B-FE4F68256B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5A9612-59D1-4BC7-29AD-CE9A7C8E50D8}"/>
              </a:ext>
            </a:extLst>
          </p:cNvPr>
          <p:cNvSpPr>
            <a:spLocks noGrp="1"/>
          </p:cNvSpPr>
          <p:nvPr>
            <p:ph type="sldNum" sz="quarter" idx="12"/>
          </p:nvPr>
        </p:nvSpPr>
        <p:spPr/>
        <p:txBody>
          <a:bodyPr/>
          <a:lstStyle/>
          <a:p>
            <a:fld id="{621A3666-22F8-4495-A442-19F7E6331BBE}" type="slidenum">
              <a:rPr lang="en-US" smtClean="0"/>
              <a:t>‹#›</a:t>
            </a:fld>
            <a:endParaRPr lang="en-US"/>
          </a:p>
        </p:txBody>
      </p:sp>
    </p:spTree>
    <p:extLst>
      <p:ext uri="{BB962C8B-B14F-4D97-AF65-F5344CB8AC3E}">
        <p14:creationId xmlns:p14="http://schemas.microsoft.com/office/powerpoint/2010/main" val="6147762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67561-F28D-9A3D-0DA7-D3D67454667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957399-C7FC-D7AB-9894-10B63228C86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34BC183-26DE-9CB3-C81F-C2E69624C68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4AF43AC-98D0-77EC-D033-92B14E543D75}"/>
              </a:ext>
            </a:extLst>
          </p:cNvPr>
          <p:cNvSpPr>
            <a:spLocks noGrp="1"/>
          </p:cNvSpPr>
          <p:nvPr>
            <p:ph type="dt" sz="half" idx="10"/>
          </p:nvPr>
        </p:nvSpPr>
        <p:spPr/>
        <p:txBody>
          <a:bodyPr/>
          <a:lstStyle/>
          <a:p>
            <a:fld id="{FEBB4077-6BE2-4D26-80D3-9FFBBE2E9B57}" type="datetimeFigureOut">
              <a:rPr lang="en-US" smtClean="0"/>
              <a:t>27-Dec-24</a:t>
            </a:fld>
            <a:endParaRPr lang="en-US"/>
          </a:p>
        </p:txBody>
      </p:sp>
      <p:sp>
        <p:nvSpPr>
          <p:cNvPr id="6" name="Footer Placeholder 5">
            <a:extLst>
              <a:ext uri="{FF2B5EF4-FFF2-40B4-BE49-F238E27FC236}">
                <a16:creationId xmlns:a16="http://schemas.microsoft.com/office/drawing/2014/main" id="{C52BB4D2-F4DF-CABC-9EF6-15D3882604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E5C9CC-9E86-3F72-5650-474FE4E28096}"/>
              </a:ext>
            </a:extLst>
          </p:cNvPr>
          <p:cNvSpPr>
            <a:spLocks noGrp="1"/>
          </p:cNvSpPr>
          <p:nvPr>
            <p:ph type="sldNum" sz="quarter" idx="12"/>
          </p:nvPr>
        </p:nvSpPr>
        <p:spPr/>
        <p:txBody>
          <a:bodyPr/>
          <a:lstStyle/>
          <a:p>
            <a:fld id="{621A3666-22F8-4495-A442-19F7E6331BBE}" type="slidenum">
              <a:rPr lang="en-US" smtClean="0"/>
              <a:t>‹#›</a:t>
            </a:fld>
            <a:endParaRPr lang="en-US"/>
          </a:p>
        </p:txBody>
      </p:sp>
    </p:spTree>
    <p:extLst>
      <p:ext uri="{BB962C8B-B14F-4D97-AF65-F5344CB8AC3E}">
        <p14:creationId xmlns:p14="http://schemas.microsoft.com/office/powerpoint/2010/main" val="527808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5B891-3C9B-1126-D845-9706AAC2E7E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18F5392-54A6-C995-684B-D620BD492A5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CFF577E-B292-8120-6355-E21B5C391C2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F3CD4D6-610D-3F83-32DF-B5E59D1CC13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54C9774-6CB9-FEF0-76AF-20D5BBC8850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F64A2E0-6EB5-4752-2C9D-CE1D91A3C14A}"/>
              </a:ext>
            </a:extLst>
          </p:cNvPr>
          <p:cNvSpPr>
            <a:spLocks noGrp="1"/>
          </p:cNvSpPr>
          <p:nvPr>
            <p:ph type="dt" sz="half" idx="10"/>
          </p:nvPr>
        </p:nvSpPr>
        <p:spPr/>
        <p:txBody>
          <a:bodyPr/>
          <a:lstStyle/>
          <a:p>
            <a:fld id="{FEBB4077-6BE2-4D26-80D3-9FFBBE2E9B57}" type="datetimeFigureOut">
              <a:rPr lang="en-US" smtClean="0"/>
              <a:t>27-Dec-24</a:t>
            </a:fld>
            <a:endParaRPr lang="en-US"/>
          </a:p>
        </p:txBody>
      </p:sp>
      <p:sp>
        <p:nvSpPr>
          <p:cNvPr id="8" name="Footer Placeholder 7">
            <a:extLst>
              <a:ext uri="{FF2B5EF4-FFF2-40B4-BE49-F238E27FC236}">
                <a16:creationId xmlns:a16="http://schemas.microsoft.com/office/drawing/2014/main" id="{86EAF871-A025-8B0A-D01C-6A13968BD33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6FA14AF-5D68-9072-22B9-62898253E321}"/>
              </a:ext>
            </a:extLst>
          </p:cNvPr>
          <p:cNvSpPr>
            <a:spLocks noGrp="1"/>
          </p:cNvSpPr>
          <p:nvPr>
            <p:ph type="sldNum" sz="quarter" idx="12"/>
          </p:nvPr>
        </p:nvSpPr>
        <p:spPr/>
        <p:txBody>
          <a:bodyPr/>
          <a:lstStyle/>
          <a:p>
            <a:fld id="{621A3666-22F8-4495-A442-19F7E6331BBE}" type="slidenum">
              <a:rPr lang="en-US" smtClean="0"/>
              <a:t>‹#›</a:t>
            </a:fld>
            <a:endParaRPr lang="en-US"/>
          </a:p>
        </p:txBody>
      </p:sp>
    </p:spTree>
    <p:extLst>
      <p:ext uri="{BB962C8B-B14F-4D97-AF65-F5344CB8AC3E}">
        <p14:creationId xmlns:p14="http://schemas.microsoft.com/office/powerpoint/2010/main" val="13337845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168C7-025A-5BC1-B8DC-34F241C97E1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A3B1B12-41C5-0A4B-771B-FC65FD49CB0A}"/>
              </a:ext>
            </a:extLst>
          </p:cNvPr>
          <p:cNvSpPr>
            <a:spLocks noGrp="1"/>
          </p:cNvSpPr>
          <p:nvPr>
            <p:ph type="dt" sz="half" idx="10"/>
          </p:nvPr>
        </p:nvSpPr>
        <p:spPr/>
        <p:txBody>
          <a:bodyPr/>
          <a:lstStyle/>
          <a:p>
            <a:fld id="{FEBB4077-6BE2-4D26-80D3-9FFBBE2E9B57}" type="datetimeFigureOut">
              <a:rPr lang="en-US" smtClean="0"/>
              <a:t>27-Dec-24</a:t>
            </a:fld>
            <a:endParaRPr lang="en-US"/>
          </a:p>
        </p:txBody>
      </p:sp>
      <p:sp>
        <p:nvSpPr>
          <p:cNvPr id="4" name="Footer Placeholder 3">
            <a:extLst>
              <a:ext uri="{FF2B5EF4-FFF2-40B4-BE49-F238E27FC236}">
                <a16:creationId xmlns:a16="http://schemas.microsoft.com/office/drawing/2014/main" id="{3CF39297-8656-7361-157B-7B1EED2AE93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0D46348-87DD-EF02-8FE6-19B985AFFDEE}"/>
              </a:ext>
            </a:extLst>
          </p:cNvPr>
          <p:cNvSpPr>
            <a:spLocks noGrp="1"/>
          </p:cNvSpPr>
          <p:nvPr>
            <p:ph type="sldNum" sz="quarter" idx="12"/>
          </p:nvPr>
        </p:nvSpPr>
        <p:spPr/>
        <p:txBody>
          <a:bodyPr/>
          <a:lstStyle/>
          <a:p>
            <a:fld id="{621A3666-22F8-4495-A442-19F7E6331BBE}" type="slidenum">
              <a:rPr lang="en-US" smtClean="0"/>
              <a:t>‹#›</a:t>
            </a:fld>
            <a:endParaRPr lang="en-US"/>
          </a:p>
        </p:txBody>
      </p:sp>
    </p:spTree>
    <p:extLst>
      <p:ext uri="{BB962C8B-B14F-4D97-AF65-F5344CB8AC3E}">
        <p14:creationId xmlns:p14="http://schemas.microsoft.com/office/powerpoint/2010/main" val="38914703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4D07149-A197-1060-C031-545CDFB0B236}"/>
              </a:ext>
            </a:extLst>
          </p:cNvPr>
          <p:cNvSpPr>
            <a:spLocks noGrp="1"/>
          </p:cNvSpPr>
          <p:nvPr>
            <p:ph type="dt" sz="half" idx="10"/>
          </p:nvPr>
        </p:nvSpPr>
        <p:spPr/>
        <p:txBody>
          <a:bodyPr/>
          <a:lstStyle/>
          <a:p>
            <a:fld id="{FEBB4077-6BE2-4D26-80D3-9FFBBE2E9B57}" type="datetimeFigureOut">
              <a:rPr lang="en-US" smtClean="0"/>
              <a:t>27-Dec-24</a:t>
            </a:fld>
            <a:endParaRPr lang="en-US"/>
          </a:p>
        </p:txBody>
      </p:sp>
      <p:sp>
        <p:nvSpPr>
          <p:cNvPr id="3" name="Footer Placeholder 2">
            <a:extLst>
              <a:ext uri="{FF2B5EF4-FFF2-40B4-BE49-F238E27FC236}">
                <a16:creationId xmlns:a16="http://schemas.microsoft.com/office/drawing/2014/main" id="{80067D58-3A84-A76D-F933-23DCB3CDC53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CB9F41D-3D99-6035-4D68-9A33535F7F32}"/>
              </a:ext>
            </a:extLst>
          </p:cNvPr>
          <p:cNvSpPr>
            <a:spLocks noGrp="1"/>
          </p:cNvSpPr>
          <p:nvPr>
            <p:ph type="sldNum" sz="quarter" idx="12"/>
          </p:nvPr>
        </p:nvSpPr>
        <p:spPr/>
        <p:txBody>
          <a:bodyPr/>
          <a:lstStyle/>
          <a:p>
            <a:fld id="{621A3666-22F8-4495-A442-19F7E6331BBE}" type="slidenum">
              <a:rPr lang="en-US" smtClean="0"/>
              <a:t>‹#›</a:t>
            </a:fld>
            <a:endParaRPr lang="en-US"/>
          </a:p>
        </p:txBody>
      </p:sp>
    </p:spTree>
    <p:extLst>
      <p:ext uri="{BB962C8B-B14F-4D97-AF65-F5344CB8AC3E}">
        <p14:creationId xmlns:p14="http://schemas.microsoft.com/office/powerpoint/2010/main" val="4823849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A3C3F-8427-D49E-ADDA-90CC6374B5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51A11E2-B874-7DF6-801C-9D7591D94F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89757C5-A994-FAAC-D043-584CED2506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BBDBD5-41D1-5CD6-C4DF-90C7F004BA60}"/>
              </a:ext>
            </a:extLst>
          </p:cNvPr>
          <p:cNvSpPr>
            <a:spLocks noGrp="1"/>
          </p:cNvSpPr>
          <p:nvPr>
            <p:ph type="dt" sz="half" idx="10"/>
          </p:nvPr>
        </p:nvSpPr>
        <p:spPr/>
        <p:txBody>
          <a:bodyPr/>
          <a:lstStyle/>
          <a:p>
            <a:fld id="{FEBB4077-6BE2-4D26-80D3-9FFBBE2E9B57}" type="datetimeFigureOut">
              <a:rPr lang="en-US" smtClean="0"/>
              <a:t>27-Dec-24</a:t>
            </a:fld>
            <a:endParaRPr lang="en-US"/>
          </a:p>
        </p:txBody>
      </p:sp>
      <p:sp>
        <p:nvSpPr>
          <p:cNvPr id="6" name="Footer Placeholder 5">
            <a:extLst>
              <a:ext uri="{FF2B5EF4-FFF2-40B4-BE49-F238E27FC236}">
                <a16:creationId xmlns:a16="http://schemas.microsoft.com/office/drawing/2014/main" id="{3123661C-EE46-7C90-6467-24CDBDCEA4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B0BB167-8DAA-8EDD-7E7B-1E890D47B709}"/>
              </a:ext>
            </a:extLst>
          </p:cNvPr>
          <p:cNvSpPr>
            <a:spLocks noGrp="1"/>
          </p:cNvSpPr>
          <p:nvPr>
            <p:ph type="sldNum" sz="quarter" idx="12"/>
          </p:nvPr>
        </p:nvSpPr>
        <p:spPr/>
        <p:txBody>
          <a:bodyPr/>
          <a:lstStyle/>
          <a:p>
            <a:fld id="{621A3666-22F8-4495-A442-19F7E6331BBE}" type="slidenum">
              <a:rPr lang="en-US" smtClean="0"/>
              <a:t>‹#›</a:t>
            </a:fld>
            <a:endParaRPr lang="en-US"/>
          </a:p>
        </p:txBody>
      </p:sp>
    </p:spTree>
    <p:extLst>
      <p:ext uri="{BB962C8B-B14F-4D97-AF65-F5344CB8AC3E}">
        <p14:creationId xmlns:p14="http://schemas.microsoft.com/office/powerpoint/2010/main" val="1344114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1E870-49F3-9BCC-A10E-EB47BB9E47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35111F4-063F-39A0-7A31-5B435ACB65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35A599A-FC2E-4EFC-156A-192A4EF50B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4C76ED-5806-0332-BED2-C683395BE600}"/>
              </a:ext>
            </a:extLst>
          </p:cNvPr>
          <p:cNvSpPr>
            <a:spLocks noGrp="1"/>
          </p:cNvSpPr>
          <p:nvPr>
            <p:ph type="dt" sz="half" idx="10"/>
          </p:nvPr>
        </p:nvSpPr>
        <p:spPr/>
        <p:txBody>
          <a:bodyPr/>
          <a:lstStyle/>
          <a:p>
            <a:fld id="{FEBB4077-6BE2-4D26-80D3-9FFBBE2E9B57}" type="datetimeFigureOut">
              <a:rPr lang="en-US" smtClean="0"/>
              <a:t>27-Dec-24</a:t>
            </a:fld>
            <a:endParaRPr lang="en-US"/>
          </a:p>
        </p:txBody>
      </p:sp>
      <p:sp>
        <p:nvSpPr>
          <p:cNvPr id="6" name="Footer Placeholder 5">
            <a:extLst>
              <a:ext uri="{FF2B5EF4-FFF2-40B4-BE49-F238E27FC236}">
                <a16:creationId xmlns:a16="http://schemas.microsoft.com/office/drawing/2014/main" id="{7DE4FA4A-CDBE-2B6B-909F-2BC54F2EBA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BDDBFF3-C113-5EC5-9327-A4D9977A6F2E}"/>
              </a:ext>
            </a:extLst>
          </p:cNvPr>
          <p:cNvSpPr>
            <a:spLocks noGrp="1"/>
          </p:cNvSpPr>
          <p:nvPr>
            <p:ph type="sldNum" sz="quarter" idx="12"/>
          </p:nvPr>
        </p:nvSpPr>
        <p:spPr/>
        <p:txBody>
          <a:bodyPr/>
          <a:lstStyle/>
          <a:p>
            <a:fld id="{621A3666-22F8-4495-A442-19F7E6331BBE}" type="slidenum">
              <a:rPr lang="en-US" smtClean="0"/>
              <a:t>‹#›</a:t>
            </a:fld>
            <a:endParaRPr lang="en-US"/>
          </a:p>
        </p:txBody>
      </p:sp>
    </p:spTree>
    <p:extLst>
      <p:ext uri="{BB962C8B-B14F-4D97-AF65-F5344CB8AC3E}">
        <p14:creationId xmlns:p14="http://schemas.microsoft.com/office/powerpoint/2010/main" val="25084366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D5F64-F166-DE30-D6D4-D2B0B568AC8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53E7C20-D7D6-06A5-849E-03588D0FF3C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66AD6B-F388-E1AC-A488-8F4CA1A5D649}"/>
              </a:ext>
            </a:extLst>
          </p:cNvPr>
          <p:cNvSpPr>
            <a:spLocks noGrp="1"/>
          </p:cNvSpPr>
          <p:nvPr>
            <p:ph type="dt" sz="half" idx="10"/>
          </p:nvPr>
        </p:nvSpPr>
        <p:spPr/>
        <p:txBody>
          <a:bodyPr/>
          <a:lstStyle/>
          <a:p>
            <a:fld id="{FEBB4077-6BE2-4D26-80D3-9FFBBE2E9B57}" type="datetimeFigureOut">
              <a:rPr lang="en-US" smtClean="0"/>
              <a:t>27-Dec-24</a:t>
            </a:fld>
            <a:endParaRPr lang="en-US"/>
          </a:p>
        </p:txBody>
      </p:sp>
      <p:sp>
        <p:nvSpPr>
          <p:cNvPr id="5" name="Footer Placeholder 4">
            <a:extLst>
              <a:ext uri="{FF2B5EF4-FFF2-40B4-BE49-F238E27FC236}">
                <a16:creationId xmlns:a16="http://schemas.microsoft.com/office/drawing/2014/main" id="{A92B13A6-1C40-BEAB-D50D-6E3F6BE6A1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F1FFBE-90C1-E332-154F-DE3220C9A621}"/>
              </a:ext>
            </a:extLst>
          </p:cNvPr>
          <p:cNvSpPr>
            <a:spLocks noGrp="1"/>
          </p:cNvSpPr>
          <p:nvPr>
            <p:ph type="sldNum" sz="quarter" idx="12"/>
          </p:nvPr>
        </p:nvSpPr>
        <p:spPr/>
        <p:txBody>
          <a:bodyPr/>
          <a:lstStyle/>
          <a:p>
            <a:fld id="{621A3666-22F8-4495-A442-19F7E6331BBE}" type="slidenum">
              <a:rPr lang="en-US" smtClean="0"/>
              <a:t>‹#›</a:t>
            </a:fld>
            <a:endParaRPr lang="en-US"/>
          </a:p>
        </p:txBody>
      </p:sp>
    </p:spTree>
    <p:extLst>
      <p:ext uri="{BB962C8B-B14F-4D97-AF65-F5344CB8AC3E}">
        <p14:creationId xmlns:p14="http://schemas.microsoft.com/office/powerpoint/2010/main" val="6248056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668BA92-41C4-A017-C4CE-95167C49A5B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D505634-9B4B-E97F-3F25-F6CBD1C6B7E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006E6E-6657-CF44-EBEA-CBC8F170B01B}"/>
              </a:ext>
            </a:extLst>
          </p:cNvPr>
          <p:cNvSpPr>
            <a:spLocks noGrp="1"/>
          </p:cNvSpPr>
          <p:nvPr>
            <p:ph type="dt" sz="half" idx="10"/>
          </p:nvPr>
        </p:nvSpPr>
        <p:spPr/>
        <p:txBody>
          <a:bodyPr/>
          <a:lstStyle/>
          <a:p>
            <a:fld id="{FEBB4077-6BE2-4D26-80D3-9FFBBE2E9B57}" type="datetimeFigureOut">
              <a:rPr lang="en-US" smtClean="0"/>
              <a:t>27-Dec-24</a:t>
            </a:fld>
            <a:endParaRPr lang="en-US"/>
          </a:p>
        </p:txBody>
      </p:sp>
      <p:sp>
        <p:nvSpPr>
          <p:cNvPr id="5" name="Footer Placeholder 4">
            <a:extLst>
              <a:ext uri="{FF2B5EF4-FFF2-40B4-BE49-F238E27FC236}">
                <a16:creationId xmlns:a16="http://schemas.microsoft.com/office/drawing/2014/main" id="{BCF2564F-9B4E-2508-8D0E-0FF6F6F799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4F7EBC-1D82-90A3-DED9-20202775DB02}"/>
              </a:ext>
            </a:extLst>
          </p:cNvPr>
          <p:cNvSpPr>
            <a:spLocks noGrp="1"/>
          </p:cNvSpPr>
          <p:nvPr>
            <p:ph type="sldNum" sz="quarter" idx="12"/>
          </p:nvPr>
        </p:nvSpPr>
        <p:spPr/>
        <p:txBody>
          <a:bodyPr/>
          <a:lstStyle/>
          <a:p>
            <a:fld id="{621A3666-22F8-4495-A442-19F7E6331BBE}" type="slidenum">
              <a:rPr lang="en-US" smtClean="0"/>
              <a:t>‹#›</a:t>
            </a:fld>
            <a:endParaRPr lang="en-US"/>
          </a:p>
        </p:txBody>
      </p:sp>
    </p:spTree>
    <p:extLst>
      <p:ext uri="{BB962C8B-B14F-4D97-AF65-F5344CB8AC3E}">
        <p14:creationId xmlns:p14="http://schemas.microsoft.com/office/powerpoint/2010/main" val="6718581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1B07A5-A6D7-10D6-00AA-1174E9C1F1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97FD066-8171-0161-7CF7-A1DD2782BA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5EB38F-A9C6-A759-D92E-EA84CA231D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EBB4077-6BE2-4D26-80D3-9FFBBE2E9B57}" type="datetimeFigureOut">
              <a:rPr lang="en-US" smtClean="0"/>
              <a:t>27-Dec-24</a:t>
            </a:fld>
            <a:endParaRPr lang="en-US"/>
          </a:p>
        </p:txBody>
      </p:sp>
      <p:sp>
        <p:nvSpPr>
          <p:cNvPr id="5" name="Footer Placeholder 4">
            <a:extLst>
              <a:ext uri="{FF2B5EF4-FFF2-40B4-BE49-F238E27FC236}">
                <a16:creationId xmlns:a16="http://schemas.microsoft.com/office/drawing/2014/main" id="{992C1851-CD56-79F1-8AF0-84B831359B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3254D8C-0AF1-7B47-21E9-A2B5BB0AD5F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1A3666-22F8-4495-A442-19F7E6331BBE}" type="slidenum">
              <a:rPr lang="en-US" smtClean="0"/>
              <a:t>‹#›</a:t>
            </a:fld>
            <a:endParaRPr lang="en-US"/>
          </a:p>
        </p:txBody>
      </p:sp>
    </p:spTree>
    <p:extLst>
      <p:ext uri="{BB962C8B-B14F-4D97-AF65-F5344CB8AC3E}">
        <p14:creationId xmlns:p14="http://schemas.microsoft.com/office/powerpoint/2010/main" val="13933386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837D5-DC5A-47D8-DA55-1774AA6F982D}"/>
              </a:ext>
            </a:extLst>
          </p:cNvPr>
          <p:cNvSpPr>
            <a:spLocks noGrp="1"/>
          </p:cNvSpPr>
          <p:nvPr>
            <p:ph type="ctrTitle"/>
          </p:nvPr>
        </p:nvSpPr>
        <p:spPr>
          <a:xfrm>
            <a:off x="4662657" y="1122363"/>
            <a:ext cx="3352823" cy="2387600"/>
          </a:xfrm>
        </p:spPr>
        <p:txBody>
          <a:bodyPr>
            <a:normAutofit/>
          </a:bodyPr>
          <a:lstStyle/>
          <a:p>
            <a:r>
              <a:rPr lang="en-US" dirty="0"/>
              <a:t>  </a:t>
            </a:r>
          </a:p>
        </p:txBody>
      </p:sp>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E5314F3F-86BD-FAED-AEFA-01AE9765BE17}"/>
                  </a:ext>
                </a:extLst>
              </p:cNvPr>
              <p:cNvSpPr>
                <a:spLocks noGrp="1"/>
              </p:cNvSpPr>
              <p:nvPr>
                <p:ph type="subTitle" idx="1"/>
              </p:nvPr>
            </p:nvSpPr>
            <p:spPr>
              <a:xfrm>
                <a:off x="1524000" y="3964128"/>
                <a:ext cx="9144000" cy="1655762"/>
              </a:xfrm>
            </p:spPr>
            <p:txBody>
              <a:bodyPr>
                <a:normAutofit lnSpcReduction="10000"/>
              </a:bodyPr>
              <a:lstStyle/>
              <a:p>
                <a:r>
                  <a:rPr lang="en-US" dirty="0">
                    <a:solidFill>
                      <a:srgbClr val="002060"/>
                    </a:solidFill>
                  </a:rPr>
                  <a:t>Course Code: </a:t>
                </a:r>
                <a:r>
                  <a:rPr lang="en-US" u="sng" dirty="0">
                    <a:solidFill>
                      <a:srgbClr val="002060"/>
                    </a:solidFill>
                  </a:rPr>
                  <a:t>CSE106</a:t>
                </a:r>
              </a:p>
              <a:p>
                <a:r>
                  <a:rPr lang="en-US" dirty="0">
                    <a:solidFill>
                      <a:srgbClr val="002060"/>
                    </a:solidFill>
                  </a:rPr>
                  <a:t>Course Title: Discrete Mathematics </a:t>
                </a:r>
              </a:p>
              <a:p>
                <a:r>
                  <a:rPr lang="en-US" dirty="0">
                    <a:solidFill>
                      <a:srgbClr val="002060"/>
                    </a:solidFill>
                  </a:rPr>
                  <a:t>Presentation Topic: </a:t>
                </a:r>
                <a:r>
                  <a:rPr lang="en-GB" b="1" dirty="0">
                    <a:solidFill>
                      <a:srgbClr val="002060"/>
                    </a:solidFill>
                  </a:rPr>
                  <a:t>Use of Big-</a:t>
                </a:r>
                <a14:m>
                  <m:oMath xmlns:m="http://schemas.openxmlformats.org/officeDocument/2006/math">
                    <m:r>
                      <a:rPr lang="en-GB" b="1"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𝜽</m:t>
                    </m:r>
                    <m:r>
                      <a:rPr lang="en-US" b="1" i="0"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en-GB" b="1" dirty="0">
                    <a:solidFill>
                      <a:srgbClr val="002060"/>
                    </a:solidFill>
                  </a:rPr>
                  <a:t>Notation in the Time Complexity Analysis of Algorithms</a:t>
                </a:r>
                <a:endParaRPr lang="en-US" b="1" dirty="0">
                  <a:solidFill>
                    <a:srgbClr val="002060"/>
                  </a:solidFill>
                </a:endParaRPr>
              </a:p>
            </p:txBody>
          </p:sp>
        </mc:Choice>
        <mc:Fallback xmlns="">
          <p:sp>
            <p:nvSpPr>
              <p:cNvPr id="3" name="Subtitle 2">
                <a:extLst>
                  <a:ext uri="{FF2B5EF4-FFF2-40B4-BE49-F238E27FC236}">
                    <a16:creationId xmlns:a16="http://schemas.microsoft.com/office/drawing/2014/main" id="{E5314F3F-86BD-FAED-AEFA-01AE9765BE17}"/>
                  </a:ext>
                </a:extLst>
              </p:cNvPr>
              <p:cNvSpPr>
                <a:spLocks noGrp="1" noRot="1" noChangeAspect="1" noMove="1" noResize="1" noEditPoints="1" noAdjustHandles="1" noChangeArrowheads="1" noChangeShapeType="1" noTextEdit="1"/>
              </p:cNvSpPr>
              <p:nvPr>
                <p:ph type="subTitle" idx="1"/>
              </p:nvPr>
            </p:nvSpPr>
            <p:spPr>
              <a:xfrm>
                <a:off x="1524000" y="3964128"/>
                <a:ext cx="9144000" cy="1655762"/>
              </a:xfrm>
              <a:blipFill>
                <a:blip r:embed="rId2"/>
                <a:stretch>
                  <a:fillRect t="-6985" b="-368"/>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1FFE76B7-486B-DD63-B9F8-0FC7593556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48851" y="819896"/>
            <a:ext cx="3576577" cy="2817389"/>
          </a:xfrm>
          <a:prstGeom prst="rect">
            <a:avLst/>
          </a:prstGeom>
        </p:spPr>
      </p:pic>
    </p:spTree>
    <p:extLst>
      <p:ext uri="{BB962C8B-B14F-4D97-AF65-F5344CB8AC3E}">
        <p14:creationId xmlns:p14="http://schemas.microsoft.com/office/powerpoint/2010/main" val="23778697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0854B-18B4-DAC2-44DC-EB8EB4875E6C}"/>
              </a:ext>
            </a:extLst>
          </p:cNvPr>
          <p:cNvSpPr>
            <a:spLocks noGrp="1"/>
          </p:cNvSpPr>
          <p:nvPr>
            <p:ph type="title"/>
          </p:nvPr>
        </p:nvSpPr>
        <p:spPr/>
        <p:txBody>
          <a:bodyPr/>
          <a:lstStyle/>
          <a:p>
            <a:r>
              <a:rPr lang="en-US" dirty="0">
                <a:solidFill>
                  <a:srgbClr val="FF0000"/>
                </a:solidFill>
              </a:rPr>
              <a:t>                       </a:t>
            </a:r>
            <a:r>
              <a:rPr lang="en-US" b="1" dirty="0">
                <a:solidFill>
                  <a:srgbClr val="FF0000"/>
                </a:solidFill>
              </a:rPr>
              <a:t>INTRODUCTION</a:t>
            </a:r>
          </a:p>
        </p:txBody>
      </p:sp>
      <p:sp>
        <p:nvSpPr>
          <p:cNvPr id="3" name="Content Placeholder 2">
            <a:extLst>
              <a:ext uri="{FF2B5EF4-FFF2-40B4-BE49-F238E27FC236}">
                <a16:creationId xmlns:a16="http://schemas.microsoft.com/office/drawing/2014/main" id="{21180BEA-C086-7A34-9214-3100D66EC53C}"/>
              </a:ext>
            </a:extLst>
          </p:cNvPr>
          <p:cNvSpPr>
            <a:spLocks noGrp="1"/>
          </p:cNvSpPr>
          <p:nvPr>
            <p:ph idx="1"/>
          </p:nvPr>
        </p:nvSpPr>
        <p:spPr>
          <a:xfrm>
            <a:off x="838200" y="2282825"/>
            <a:ext cx="10515600" cy="4351338"/>
          </a:xfrm>
        </p:spPr>
        <p:txBody>
          <a:bodyPr/>
          <a:lstStyle/>
          <a:p>
            <a:pPr marL="0" indent="0">
              <a:buNone/>
            </a:pPr>
            <a:r>
              <a:rPr lang="en-US" sz="2400" dirty="0"/>
              <a:t> </a:t>
            </a:r>
            <a:r>
              <a:rPr lang="en-US" sz="2400" b="1" u="sng" dirty="0"/>
              <a:t>SUBMITED TO </a:t>
            </a:r>
            <a:r>
              <a:rPr lang="en-US" sz="2400" b="1" dirty="0"/>
              <a:t>:                                                    </a:t>
            </a:r>
            <a:r>
              <a:rPr lang="en-US" sz="2400" b="1" u="sng" dirty="0"/>
              <a:t>SUBMITED BY :</a:t>
            </a:r>
          </a:p>
          <a:p>
            <a:pPr marL="0" indent="0">
              <a:buNone/>
            </a:pPr>
            <a:r>
              <a:rPr lang="en-US" sz="2400" dirty="0"/>
              <a:t> </a:t>
            </a:r>
            <a:r>
              <a:rPr lang="en-US" sz="2400" dirty="0">
                <a:solidFill>
                  <a:srgbClr val="002060"/>
                </a:solidFill>
              </a:rPr>
              <a:t>Dr. MOHAMMAD SALAH UDDIN                      MD. ARIFUR RAHMAN RAZU</a:t>
            </a:r>
          </a:p>
          <a:p>
            <a:pPr marL="0" indent="0">
              <a:buNone/>
            </a:pPr>
            <a:r>
              <a:rPr lang="en-US" sz="2400" dirty="0">
                <a:solidFill>
                  <a:srgbClr val="002060"/>
                </a:solidFill>
              </a:rPr>
              <a:t> DEPARTMENT OF CSE                                        ID: 2024-3-60-503 </a:t>
            </a:r>
          </a:p>
          <a:p>
            <a:endParaRPr lang="en-US" dirty="0"/>
          </a:p>
        </p:txBody>
      </p:sp>
    </p:spTree>
    <p:extLst>
      <p:ext uri="{BB962C8B-B14F-4D97-AF65-F5344CB8AC3E}">
        <p14:creationId xmlns:p14="http://schemas.microsoft.com/office/powerpoint/2010/main" val="25900712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9D3F5DB7-47ED-F7B4-CFD4-999FE7A72F66}"/>
                  </a:ext>
                </a:extLst>
              </p:cNvPr>
              <p:cNvSpPr>
                <a:spLocks noGrp="1"/>
              </p:cNvSpPr>
              <p:nvPr>
                <p:ph type="title"/>
              </p:nvPr>
            </p:nvSpPr>
            <p:spPr/>
            <p:txBody>
              <a:bodyPr>
                <a:normAutofit/>
              </a:bodyPr>
              <a:lstStyle/>
              <a:p>
                <a:r>
                  <a:rPr lang="en-US" b="1" dirty="0">
                    <a:solidFill>
                      <a:srgbClr val="FF0000"/>
                    </a:solidFill>
                  </a:rPr>
                  <a:t>The Big Theta (</a:t>
                </a:r>
                <a14:m>
                  <m:oMath xmlns:m="http://schemas.openxmlformats.org/officeDocument/2006/math">
                    <m:r>
                      <a:rPr lang="en-GB"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𝜽</m:t>
                    </m:r>
                  </m:oMath>
                </a14:m>
                <a:r>
                  <a:rPr lang="en-US" b="1" dirty="0">
                    <a:solidFill>
                      <a:srgbClr val="FF0000"/>
                    </a:solidFill>
                  </a:rPr>
                  <a:t>) Notation</a:t>
                </a:r>
              </a:p>
            </p:txBody>
          </p:sp>
        </mc:Choice>
        <mc:Fallback xmlns="">
          <p:sp>
            <p:nvSpPr>
              <p:cNvPr id="2" name="Title 1">
                <a:extLst>
                  <a:ext uri="{FF2B5EF4-FFF2-40B4-BE49-F238E27FC236}">
                    <a16:creationId xmlns:a16="http://schemas.microsoft.com/office/drawing/2014/main" id="{9D3F5DB7-47ED-F7B4-CFD4-999FE7A72F66}"/>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7D40837-3D4F-0745-CBD5-FA3AEE1CDB2D}"/>
                  </a:ext>
                </a:extLst>
              </p:cNvPr>
              <p:cNvSpPr>
                <a:spLocks noGrp="1"/>
              </p:cNvSpPr>
              <p:nvPr>
                <p:ph idx="1"/>
              </p:nvPr>
            </p:nvSpPr>
            <p:spPr>
              <a:xfrm>
                <a:off x="838200" y="1825625"/>
                <a:ext cx="10515600" cy="4544695"/>
              </a:xfrm>
            </p:spPr>
            <p:txBody>
              <a:bodyPr>
                <a:normAutofit fontScale="92500"/>
              </a:bodyPr>
              <a:lstStyle/>
              <a:p>
                <a:pPr marL="0" indent="0">
                  <a:buNone/>
                </a:pPr>
                <a:r>
                  <a:rPr lang="en-US" dirty="0">
                    <a:solidFill>
                      <a:srgbClr val="002060"/>
                    </a:solidFill>
                  </a:rPr>
                  <a:t>    It mainly represent average bound of algorithm run time.</a:t>
                </a:r>
              </a:p>
              <a:p>
                <a:pPr marL="0" indent="0">
                  <a:buNone/>
                </a:pPr>
                <a:r>
                  <a:rPr lang="en-US" dirty="0">
                    <a:solidFill>
                      <a:srgbClr val="002060"/>
                    </a:solidFill>
                  </a:rPr>
                  <a:t>        By using theta notation we can calculate average case time                        </a:t>
                </a:r>
              </a:p>
              <a:p>
                <a:pPr marL="0" indent="0">
                  <a:buNone/>
                </a:pPr>
                <a:r>
                  <a:rPr lang="en-US" dirty="0">
                    <a:solidFill>
                      <a:srgbClr val="002060"/>
                    </a:solidFill>
                  </a:rPr>
                  <a:t>        complexity of an algorithm.</a:t>
                </a:r>
              </a:p>
              <a:p>
                <a:pPr marL="0" indent="0">
                  <a:buNone/>
                </a:pPr>
                <a:endParaRPr lang="en-US" dirty="0">
                  <a:solidFill>
                    <a:srgbClr val="002060"/>
                  </a:solidFill>
                </a:endParaRPr>
              </a:p>
              <a:p>
                <a:pPr marL="0" indent="0">
                  <a:buNone/>
                </a:pPr>
                <a:r>
                  <a:rPr lang="en-US" b="1" u="sng" dirty="0">
                    <a:solidFill>
                      <a:srgbClr val="002060"/>
                    </a:solidFill>
                  </a:rPr>
                  <a:t>Definition</a:t>
                </a:r>
                <a:r>
                  <a:rPr lang="en-US" dirty="0">
                    <a:solidFill>
                      <a:srgbClr val="002060"/>
                    </a:solidFill>
                  </a:rPr>
                  <a:t>:  Assuming f(n) and g(n) are non-negative functions. </a:t>
                </a:r>
              </a:p>
              <a:p>
                <a:pPr marL="0" indent="0">
                  <a:buNone/>
                </a:pPr>
                <a:r>
                  <a:rPr lang="en-US" dirty="0">
                    <a:solidFill>
                      <a:srgbClr val="002060"/>
                    </a:solidFill>
                  </a:rPr>
                  <a:t>                     f(n) = </a:t>
                </a:r>
                <a14:m>
                  <m:oMath xmlns:m="http://schemas.openxmlformats.org/officeDocument/2006/math">
                    <m:r>
                      <a:rPr lang="en-GB"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𝜃</m:t>
                    </m:r>
                  </m:oMath>
                </a14:m>
                <a:r>
                  <a:rPr lang="en-US" dirty="0">
                    <a:solidFill>
                      <a:srgbClr val="002060"/>
                    </a:solidFill>
                  </a:rPr>
                  <a:t>(g(n)) if and only if c</a:t>
                </a:r>
                <a:r>
                  <a:rPr lang="en-US" baseline="-25000" dirty="0">
                    <a:solidFill>
                      <a:srgbClr val="002060"/>
                    </a:solidFill>
                  </a:rPr>
                  <a:t>1 </a:t>
                </a:r>
                <a:r>
                  <a:rPr lang="en-US" dirty="0">
                    <a:solidFill>
                      <a:srgbClr val="002060"/>
                    </a:solidFill>
                  </a:rPr>
                  <a:t>. g(n)  </a:t>
                </a:r>
                <a14:m>
                  <m:oMath xmlns:m="http://schemas.openxmlformats.org/officeDocument/2006/math">
                    <m:r>
                      <a:rPr lang="en-US" i="1" smtClean="0">
                        <a:solidFill>
                          <a:srgbClr val="002060"/>
                        </a:solidFill>
                        <a:latin typeface="Cambria Math" panose="02040503050406030204" pitchFamily="18" charset="0"/>
                        <a:ea typeface="Cambria Math" panose="02040503050406030204" pitchFamily="18" charset="0"/>
                      </a:rPr>
                      <m:t>≤</m:t>
                    </m:r>
                  </m:oMath>
                </a14:m>
                <a:r>
                  <a:rPr lang="en-US" dirty="0">
                    <a:solidFill>
                      <a:srgbClr val="002060"/>
                    </a:solidFill>
                  </a:rPr>
                  <a:t>  f(n)  </a:t>
                </a:r>
                <a14:m>
                  <m:oMath xmlns:m="http://schemas.openxmlformats.org/officeDocument/2006/math">
                    <m:r>
                      <a:rPr lang="en-US" i="1">
                        <a:solidFill>
                          <a:srgbClr val="002060"/>
                        </a:solidFill>
                        <a:latin typeface="Cambria Math" panose="02040503050406030204" pitchFamily="18" charset="0"/>
                        <a:ea typeface="Cambria Math" panose="02040503050406030204" pitchFamily="18" charset="0"/>
                      </a:rPr>
                      <m:t>≤</m:t>
                    </m:r>
                  </m:oMath>
                </a14:m>
                <a:r>
                  <a:rPr lang="en-US" dirty="0">
                    <a:solidFill>
                      <a:srgbClr val="002060"/>
                    </a:solidFill>
                  </a:rPr>
                  <a:t>  c</a:t>
                </a:r>
                <a:r>
                  <a:rPr lang="en-US" baseline="-25000" dirty="0">
                    <a:solidFill>
                      <a:srgbClr val="002060"/>
                    </a:solidFill>
                  </a:rPr>
                  <a:t>2 </a:t>
                </a:r>
                <a:r>
                  <a:rPr lang="en-US" dirty="0">
                    <a:solidFill>
                      <a:srgbClr val="002060"/>
                    </a:solidFill>
                  </a:rPr>
                  <a:t>. g(n) for all  </a:t>
                </a:r>
              </a:p>
              <a:p>
                <a:pPr marL="0" indent="0">
                  <a:buNone/>
                </a:pPr>
                <a:r>
                  <a:rPr lang="en-US" dirty="0">
                    <a:solidFill>
                      <a:srgbClr val="002060"/>
                    </a:solidFill>
                  </a:rPr>
                  <a:t>                     values of n where n </a:t>
                </a:r>
                <a14:m>
                  <m:oMath xmlns:m="http://schemas.openxmlformats.org/officeDocument/2006/math">
                    <m:r>
                      <a:rPr lang="en-US" i="1" smtClean="0">
                        <a:solidFill>
                          <a:srgbClr val="002060"/>
                        </a:solidFill>
                        <a:latin typeface="Cambria Math" panose="02040503050406030204" pitchFamily="18" charset="0"/>
                        <a:ea typeface="Cambria Math" panose="02040503050406030204" pitchFamily="18" charset="0"/>
                      </a:rPr>
                      <m:t>≥</m:t>
                    </m:r>
                    <m:r>
                      <a:rPr lang="en-US" b="0" i="1" smtClean="0">
                        <a:solidFill>
                          <a:srgbClr val="002060"/>
                        </a:solidFill>
                        <a:latin typeface="Cambria Math" panose="02040503050406030204" pitchFamily="18" charset="0"/>
                        <a:ea typeface="Cambria Math" panose="02040503050406030204" pitchFamily="18" charset="0"/>
                      </a:rPr>
                      <m:t> </m:t>
                    </m:r>
                  </m:oMath>
                </a14:m>
                <a:r>
                  <a:rPr lang="en-US" dirty="0">
                    <a:solidFill>
                      <a:srgbClr val="002060"/>
                    </a:solidFill>
                  </a:rPr>
                  <a:t> n</a:t>
                </a:r>
                <a:r>
                  <a:rPr lang="en-US" baseline="-25000" dirty="0">
                    <a:solidFill>
                      <a:srgbClr val="002060"/>
                    </a:solidFill>
                  </a:rPr>
                  <a:t>0</a:t>
                </a:r>
                <a:r>
                  <a:rPr lang="en-US" dirty="0">
                    <a:solidFill>
                      <a:srgbClr val="002060"/>
                    </a:solidFill>
                  </a:rPr>
                  <a:t> and c</a:t>
                </a:r>
                <a:r>
                  <a:rPr lang="en-US" baseline="-25000" dirty="0">
                    <a:solidFill>
                      <a:srgbClr val="002060"/>
                    </a:solidFill>
                  </a:rPr>
                  <a:t>1 </a:t>
                </a:r>
                <a:r>
                  <a:rPr lang="en-US" dirty="0">
                    <a:solidFill>
                      <a:srgbClr val="002060"/>
                    </a:solidFill>
                  </a:rPr>
                  <a:t>. c</a:t>
                </a:r>
                <a:r>
                  <a:rPr lang="en-US" baseline="-25000" dirty="0">
                    <a:solidFill>
                      <a:srgbClr val="002060"/>
                    </a:solidFill>
                  </a:rPr>
                  <a:t>2</a:t>
                </a:r>
                <a:r>
                  <a:rPr lang="en-US" dirty="0">
                    <a:solidFill>
                      <a:srgbClr val="002060"/>
                    </a:solidFill>
                  </a:rPr>
                  <a:t> , and n</a:t>
                </a:r>
                <a:r>
                  <a:rPr lang="en-US" baseline="-25000" dirty="0">
                    <a:solidFill>
                      <a:srgbClr val="002060"/>
                    </a:solidFill>
                  </a:rPr>
                  <a:t>0</a:t>
                </a:r>
                <a:r>
                  <a:rPr lang="en-US" dirty="0">
                    <a:solidFill>
                      <a:srgbClr val="002060"/>
                    </a:solidFill>
                  </a:rPr>
                  <a:t> are constants.  </a:t>
                </a:r>
              </a:p>
            </p:txBody>
          </p:sp>
        </mc:Choice>
        <mc:Fallback xmlns="">
          <p:sp>
            <p:nvSpPr>
              <p:cNvPr id="3" name="Content Placeholder 2">
                <a:extLst>
                  <a:ext uri="{FF2B5EF4-FFF2-40B4-BE49-F238E27FC236}">
                    <a16:creationId xmlns:a16="http://schemas.microsoft.com/office/drawing/2014/main" id="{27D40837-3D4F-0745-CBD5-FA3AEE1CDB2D}"/>
                  </a:ext>
                </a:extLst>
              </p:cNvPr>
              <p:cNvSpPr>
                <a:spLocks noGrp="1" noRot="1" noChangeAspect="1" noMove="1" noResize="1" noEditPoints="1" noAdjustHandles="1" noChangeArrowheads="1" noChangeShapeType="1" noTextEdit="1"/>
              </p:cNvSpPr>
              <p:nvPr>
                <p:ph idx="1"/>
              </p:nvPr>
            </p:nvSpPr>
            <p:spPr>
              <a:xfrm>
                <a:off x="838200" y="1825625"/>
                <a:ext cx="10515600" cy="4544695"/>
              </a:xfrm>
              <a:blipFill>
                <a:blip r:embed="rId3"/>
                <a:stretch>
                  <a:fillRect l="-1043" t="-2011" r="-232"/>
                </a:stretch>
              </a:blipFill>
            </p:spPr>
            <p:txBody>
              <a:bodyPr/>
              <a:lstStyle/>
              <a:p>
                <a:r>
                  <a:rPr lang="en-US">
                    <a:noFill/>
                  </a:rPr>
                  <a:t> </a:t>
                </a:r>
              </a:p>
            </p:txBody>
          </p:sp>
        </mc:Fallback>
      </mc:AlternateContent>
      <p:sp>
        <p:nvSpPr>
          <p:cNvPr id="19" name="Arrow: Right 18">
            <a:extLst>
              <a:ext uri="{FF2B5EF4-FFF2-40B4-BE49-F238E27FC236}">
                <a16:creationId xmlns:a16="http://schemas.microsoft.com/office/drawing/2014/main" id="{8210BA74-183B-95D2-2777-0A7B08B588EA}"/>
              </a:ext>
            </a:extLst>
          </p:cNvPr>
          <p:cNvSpPr/>
          <p:nvPr/>
        </p:nvSpPr>
        <p:spPr>
          <a:xfrm>
            <a:off x="934720" y="2406968"/>
            <a:ext cx="467360" cy="23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29344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93A6E-D3F0-0673-61F9-1B9DB378E2EB}"/>
              </a:ext>
            </a:extLst>
          </p:cNvPr>
          <p:cNvSpPr>
            <a:spLocks noGrp="1"/>
          </p:cNvSpPr>
          <p:nvPr>
            <p:ph type="title"/>
          </p:nvPr>
        </p:nvSpPr>
        <p:spPr>
          <a:xfrm flipV="1">
            <a:off x="939800" y="-311727"/>
            <a:ext cx="10515600" cy="311727"/>
          </a:xfrm>
        </p:spPr>
        <p:txBody>
          <a:bodyPr>
            <a:normAutofit fontScale="90000"/>
          </a:bodyPr>
          <a:lstStyle/>
          <a:p>
            <a:endParaRPr lang="en-US" sz="3600" b="1" dirty="0">
              <a:solidFill>
                <a:srgbClr val="FF0000"/>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B8C093A-FD83-DB5B-4F64-EDEB4C4A91BA}"/>
                  </a:ext>
                </a:extLst>
              </p:cNvPr>
              <p:cNvSpPr txBox="1"/>
              <p:nvPr/>
            </p:nvSpPr>
            <p:spPr>
              <a:xfrm>
                <a:off x="939800" y="716972"/>
                <a:ext cx="4775200" cy="6555641"/>
              </a:xfrm>
              <a:prstGeom prst="rect">
                <a:avLst/>
              </a:prstGeom>
              <a:noFill/>
            </p:spPr>
            <p:txBody>
              <a:bodyPr wrap="square" rtlCol="0">
                <a:spAutoFit/>
              </a:bodyPr>
              <a:lstStyle/>
              <a:p>
                <a:r>
                  <a:rPr lang="en-US" sz="2000" b="1" u="sng" dirty="0">
                    <a:solidFill>
                      <a:srgbClr val="002060"/>
                    </a:solidFill>
                  </a:rPr>
                  <a:t>Example</a:t>
                </a:r>
                <a:r>
                  <a:rPr lang="en-US" sz="2000" dirty="0">
                    <a:solidFill>
                      <a:srgbClr val="002060"/>
                    </a:solidFill>
                  </a:rPr>
                  <a:t> : Let f(n) = 3n+2 , g(n) = n</a:t>
                </a:r>
              </a:p>
              <a:p>
                <a:endParaRPr lang="en-US" sz="2000" dirty="0">
                  <a:solidFill>
                    <a:srgbClr val="002060"/>
                  </a:solidFill>
                </a:endParaRPr>
              </a:p>
              <a:p>
                <a:r>
                  <a:rPr lang="en-US" sz="2000" dirty="0">
                    <a:solidFill>
                      <a:srgbClr val="002060"/>
                    </a:solidFill>
                  </a:rPr>
                  <a:t>f(n) = </a:t>
                </a:r>
                <a14:m>
                  <m:oMath xmlns:m="http://schemas.openxmlformats.org/officeDocument/2006/math">
                    <m:r>
                      <a:rPr lang="en-GB" sz="2000" i="1">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𝜃</m:t>
                    </m:r>
                  </m:oMath>
                </a14:m>
                <a:r>
                  <a:rPr lang="en-US" sz="2000" dirty="0">
                    <a:solidFill>
                      <a:srgbClr val="002060"/>
                    </a:solidFill>
                  </a:rPr>
                  <a:t>(g(n)) ;  </a:t>
                </a:r>
              </a:p>
              <a:p>
                <a:endParaRPr lang="en-US" sz="2000" dirty="0">
                  <a:solidFill>
                    <a:srgbClr val="002060"/>
                  </a:solidFill>
                </a:endParaRPr>
              </a:p>
              <a:p>
                <a:r>
                  <a:rPr lang="en-US" sz="2000" dirty="0">
                    <a:solidFill>
                      <a:srgbClr val="002060"/>
                    </a:solidFill>
                  </a:rPr>
                  <a:t>When n = 1,</a:t>
                </a:r>
              </a:p>
              <a:p>
                <a:endParaRPr lang="en-US" sz="2000" dirty="0">
                  <a:solidFill>
                    <a:srgbClr val="002060"/>
                  </a:solidFill>
                </a:endParaRPr>
              </a:p>
              <a:p>
                <a:r>
                  <a:rPr lang="en-US" sz="2000" dirty="0">
                    <a:solidFill>
                      <a:srgbClr val="002060"/>
                    </a:solidFill>
                  </a:rPr>
                  <a:t> c</a:t>
                </a:r>
                <a:r>
                  <a:rPr lang="en-US" sz="2000" baseline="-25000" dirty="0">
                    <a:solidFill>
                      <a:srgbClr val="002060"/>
                    </a:solidFill>
                  </a:rPr>
                  <a:t>1 </a:t>
                </a:r>
                <a:r>
                  <a:rPr lang="en-US" sz="2000" dirty="0">
                    <a:solidFill>
                      <a:srgbClr val="002060"/>
                    </a:solidFill>
                  </a:rPr>
                  <a:t>. g(n)  </a:t>
                </a:r>
                <a14:m>
                  <m:oMath xmlns:m="http://schemas.openxmlformats.org/officeDocument/2006/math">
                    <m:r>
                      <a:rPr lang="en-US" sz="2000" i="1">
                        <a:solidFill>
                          <a:srgbClr val="002060"/>
                        </a:solidFill>
                        <a:latin typeface="Cambria Math" panose="02040503050406030204" pitchFamily="18" charset="0"/>
                        <a:ea typeface="Cambria Math" panose="02040503050406030204" pitchFamily="18" charset="0"/>
                      </a:rPr>
                      <m:t>≤</m:t>
                    </m:r>
                  </m:oMath>
                </a14:m>
                <a:r>
                  <a:rPr lang="en-US" sz="2000" dirty="0">
                    <a:solidFill>
                      <a:srgbClr val="002060"/>
                    </a:solidFill>
                  </a:rPr>
                  <a:t>  f(n)  </a:t>
                </a:r>
                <a14:m>
                  <m:oMath xmlns:m="http://schemas.openxmlformats.org/officeDocument/2006/math">
                    <m:r>
                      <a:rPr lang="en-US" sz="2000" i="1">
                        <a:solidFill>
                          <a:srgbClr val="002060"/>
                        </a:solidFill>
                        <a:latin typeface="Cambria Math" panose="02040503050406030204" pitchFamily="18" charset="0"/>
                        <a:ea typeface="Cambria Math" panose="02040503050406030204" pitchFamily="18" charset="0"/>
                      </a:rPr>
                      <m:t>≤</m:t>
                    </m:r>
                  </m:oMath>
                </a14:m>
                <a:r>
                  <a:rPr lang="en-US" sz="2000" dirty="0">
                    <a:solidFill>
                      <a:srgbClr val="002060"/>
                    </a:solidFill>
                  </a:rPr>
                  <a:t>  c</a:t>
                </a:r>
                <a:r>
                  <a:rPr lang="en-US" sz="2000" baseline="-25000" dirty="0">
                    <a:solidFill>
                      <a:srgbClr val="002060"/>
                    </a:solidFill>
                  </a:rPr>
                  <a:t>2 </a:t>
                </a:r>
                <a:r>
                  <a:rPr lang="en-US" sz="2000" dirty="0">
                    <a:solidFill>
                      <a:srgbClr val="002060"/>
                    </a:solidFill>
                  </a:rPr>
                  <a:t>. g(n)</a:t>
                </a:r>
              </a:p>
              <a:p>
                <a:r>
                  <a:rPr lang="en-US" sz="2000" dirty="0">
                    <a:solidFill>
                      <a:srgbClr val="002060"/>
                    </a:solidFill>
                  </a:rPr>
                  <a:t>= 1</a:t>
                </a:r>
                <a:r>
                  <a:rPr lang="en-US" sz="2000" baseline="-25000" dirty="0">
                    <a:solidFill>
                      <a:srgbClr val="002060"/>
                    </a:solidFill>
                  </a:rPr>
                  <a:t> </a:t>
                </a:r>
                <a:r>
                  <a:rPr lang="en-US" sz="2000" dirty="0">
                    <a:solidFill>
                      <a:srgbClr val="002060"/>
                    </a:solidFill>
                  </a:rPr>
                  <a:t>. n  </a:t>
                </a:r>
                <a14:m>
                  <m:oMath xmlns:m="http://schemas.openxmlformats.org/officeDocument/2006/math">
                    <m:r>
                      <a:rPr lang="en-US" sz="2000" i="1">
                        <a:solidFill>
                          <a:srgbClr val="002060"/>
                        </a:solidFill>
                        <a:latin typeface="Cambria Math" panose="02040503050406030204" pitchFamily="18" charset="0"/>
                        <a:ea typeface="Cambria Math" panose="02040503050406030204" pitchFamily="18" charset="0"/>
                      </a:rPr>
                      <m:t>≤</m:t>
                    </m:r>
                  </m:oMath>
                </a14:m>
                <a:r>
                  <a:rPr lang="en-US" sz="2000" dirty="0">
                    <a:solidFill>
                      <a:srgbClr val="002060"/>
                    </a:solidFill>
                  </a:rPr>
                  <a:t>  3n + 2  </a:t>
                </a:r>
                <a14:m>
                  <m:oMath xmlns:m="http://schemas.openxmlformats.org/officeDocument/2006/math">
                    <m:r>
                      <a:rPr lang="en-US" sz="2000" i="1">
                        <a:solidFill>
                          <a:srgbClr val="002060"/>
                        </a:solidFill>
                        <a:latin typeface="Cambria Math" panose="02040503050406030204" pitchFamily="18" charset="0"/>
                        <a:ea typeface="Cambria Math" panose="02040503050406030204" pitchFamily="18" charset="0"/>
                      </a:rPr>
                      <m:t>≤</m:t>
                    </m:r>
                  </m:oMath>
                </a14:m>
                <a:r>
                  <a:rPr lang="en-US" sz="2000" dirty="0">
                    <a:solidFill>
                      <a:srgbClr val="002060"/>
                    </a:solidFill>
                  </a:rPr>
                  <a:t>  4</a:t>
                </a:r>
                <a:r>
                  <a:rPr lang="en-US" sz="2000" baseline="-25000" dirty="0">
                    <a:solidFill>
                      <a:srgbClr val="002060"/>
                    </a:solidFill>
                  </a:rPr>
                  <a:t> </a:t>
                </a:r>
                <a:r>
                  <a:rPr lang="en-US" sz="2000" dirty="0">
                    <a:solidFill>
                      <a:srgbClr val="002060"/>
                    </a:solidFill>
                  </a:rPr>
                  <a:t>. n </a:t>
                </a:r>
              </a:p>
              <a:p>
                <a:r>
                  <a:rPr lang="en-US" sz="2000" dirty="0">
                    <a:solidFill>
                      <a:srgbClr val="002060"/>
                    </a:solidFill>
                  </a:rPr>
                  <a:t>= 1 . 1</a:t>
                </a:r>
                <a:r>
                  <a:rPr lang="en-US" sz="2000" baseline="-25000" dirty="0">
                    <a:solidFill>
                      <a:srgbClr val="002060"/>
                    </a:solidFill>
                  </a:rPr>
                  <a:t> </a:t>
                </a:r>
                <a:r>
                  <a:rPr lang="en-US" sz="2000" dirty="0">
                    <a:solidFill>
                      <a:srgbClr val="002060"/>
                    </a:solidFill>
                  </a:rPr>
                  <a:t>  </a:t>
                </a:r>
                <a14:m>
                  <m:oMath xmlns:m="http://schemas.openxmlformats.org/officeDocument/2006/math">
                    <m:r>
                      <a:rPr lang="en-US" sz="2000" i="1">
                        <a:solidFill>
                          <a:srgbClr val="002060"/>
                        </a:solidFill>
                        <a:latin typeface="Cambria Math" panose="02040503050406030204" pitchFamily="18" charset="0"/>
                        <a:ea typeface="Cambria Math" panose="02040503050406030204" pitchFamily="18" charset="0"/>
                      </a:rPr>
                      <m:t>≤</m:t>
                    </m:r>
                  </m:oMath>
                </a14:m>
                <a:r>
                  <a:rPr lang="en-US" sz="2000" dirty="0">
                    <a:solidFill>
                      <a:srgbClr val="002060"/>
                    </a:solidFill>
                  </a:rPr>
                  <a:t>  3 . 1 + 2  </a:t>
                </a:r>
                <a14:m>
                  <m:oMath xmlns:m="http://schemas.openxmlformats.org/officeDocument/2006/math">
                    <m:r>
                      <a:rPr lang="en-US" sz="2000" i="1">
                        <a:solidFill>
                          <a:srgbClr val="002060"/>
                        </a:solidFill>
                        <a:latin typeface="Cambria Math" panose="02040503050406030204" pitchFamily="18" charset="0"/>
                        <a:ea typeface="Cambria Math" panose="02040503050406030204" pitchFamily="18" charset="0"/>
                      </a:rPr>
                      <m:t>≤</m:t>
                    </m:r>
                  </m:oMath>
                </a14:m>
                <a:r>
                  <a:rPr lang="en-US" sz="2000" dirty="0">
                    <a:solidFill>
                      <a:srgbClr val="002060"/>
                    </a:solidFill>
                  </a:rPr>
                  <a:t>  4</a:t>
                </a:r>
                <a:r>
                  <a:rPr lang="en-US" sz="2000" baseline="-25000" dirty="0">
                    <a:solidFill>
                      <a:srgbClr val="002060"/>
                    </a:solidFill>
                  </a:rPr>
                  <a:t> </a:t>
                </a:r>
                <a:r>
                  <a:rPr lang="en-US" sz="2000" dirty="0">
                    <a:solidFill>
                      <a:srgbClr val="002060"/>
                    </a:solidFill>
                  </a:rPr>
                  <a:t>. 1</a:t>
                </a:r>
              </a:p>
              <a:p>
                <a:r>
                  <a:rPr lang="en-US" sz="2000" dirty="0">
                    <a:solidFill>
                      <a:srgbClr val="002060"/>
                    </a:solidFill>
                  </a:rPr>
                  <a:t>= 1</a:t>
                </a:r>
                <a:r>
                  <a:rPr lang="en-US" sz="2000" baseline="-25000" dirty="0">
                    <a:solidFill>
                      <a:srgbClr val="002060"/>
                    </a:solidFill>
                  </a:rPr>
                  <a:t> </a:t>
                </a:r>
                <a:r>
                  <a:rPr lang="en-US" sz="2000" dirty="0">
                    <a:solidFill>
                      <a:srgbClr val="002060"/>
                    </a:solidFill>
                  </a:rPr>
                  <a:t> </a:t>
                </a:r>
                <a14:m>
                  <m:oMath xmlns:m="http://schemas.openxmlformats.org/officeDocument/2006/math">
                    <m:r>
                      <a:rPr lang="en-US" sz="2000" i="1">
                        <a:solidFill>
                          <a:srgbClr val="002060"/>
                        </a:solidFill>
                        <a:latin typeface="Cambria Math" panose="02040503050406030204" pitchFamily="18" charset="0"/>
                        <a:ea typeface="Cambria Math" panose="02040503050406030204" pitchFamily="18" charset="0"/>
                      </a:rPr>
                      <m:t>≤</m:t>
                    </m:r>
                  </m:oMath>
                </a14:m>
                <a:r>
                  <a:rPr lang="en-US" sz="2000" dirty="0">
                    <a:solidFill>
                      <a:srgbClr val="002060"/>
                    </a:solidFill>
                  </a:rPr>
                  <a:t>  5  </a:t>
                </a:r>
                <a14:m>
                  <m:oMath xmlns:m="http://schemas.openxmlformats.org/officeDocument/2006/math">
                    <m:r>
                      <a:rPr lang="en-US" sz="2000" i="1">
                        <a:solidFill>
                          <a:srgbClr val="002060"/>
                        </a:solidFill>
                        <a:latin typeface="Cambria Math" panose="02040503050406030204" pitchFamily="18" charset="0"/>
                        <a:ea typeface="Cambria Math" panose="02040503050406030204" pitchFamily="18" charset="0"/>
                      </a:rPr>
                      <m:t>≤</m:t>
                    </m:r>
                  </m:oMath>
                </a14:m>
                <a:r>
                  <a:rPr lang="en-US" sz="2000" dirty="0">
                    <a:solidFill>
                      <a:srgbClr val="002060"/>
                    </a:solidFill>
                  </a:rPr>
                  <a:t>  4</a:t>
                </a:r>
                <a:r>
                  <a:rPr lang="en-US" sz="2000" baseline="-25000" dirty="0">
                    <a:solidFill>
                      <a:srgbClr val="002060"/>
                    </a:solidFill>
                  </a:rPr>
                  <a:t>  </a:t>
                </a:r>
                <a:r>
                  <a:rPr lang="en-US" sz="2000" dirty="0">
                    <a:solidFill>
                      <a:srgbClr val="002060"/>
                    </a:solidFill>
                  </a:rPr>
                  <a:t>[ false ]</a:t>
                </a:r>
              </a:p>
              <a:p>
                <a:endParaRPr lang="en-US" sz="2000" dirty="0">
                  <a:solidFill>
                    <a:srgbClr val="002060"/>
                  </a:solidFill>
                </a:endParaRPr>
              </a:p>
              <a:p>
                <a:r>
                  <a:rPr lang="en-US" sz="2000" dirty="0">
                    <a:solidFill>
                      <a:srgbClr val="002060"/>
                    </a:solidFill>
                  </a:rPr>
                  <a:t>When n = 2,</a:t>
                </a:r>
              </a:p>
              <a:p>
                <a:endParaRPr lang="en-US" sz="2000" dirty="0">
                  <a:solidFill>
                    <a:srgbClr val="002060"/>
                  </a:solidFill>
                </a:endParaRPr>
              </a:p>
              <a:p>
                <a:r>
                  <a:rPr lang="en-US" sz="2000" dirty="0">
                    <a:solidFill>
                      <a:srgbClr val="002060"/>
                    </a:solidFill>
                  </a:rPr>
                  <a:t> c</a:t>
                </a:r>
                <a:r>
                  <a:rPr lang="en-US" sz="2000" baseline="-25000" dirty="0">
                    <a:solidFill>
                      <a:srgbClr val="002060"/>
                    </a:solidFill>
                  </a:rPr>
                  <a:t>1 </a:t>
                </a:r>
                <a:r>
                  <a:rPr lang="en-US" sz="2000" dirty="0">
                    <a:solidFill>
                      <a:srgbClr val="002060"/>
                    </a:solidFill>
                  </a:rPr>
                  <a:t>. g(n)  </a:t>
                </a:r>
                <a14:m>
                  <m:oMath xmlns:m="http://schemas.openxmlformats.org/officeDocument/2006/math">
                    <m:r>
                      <a:rPr lang="en-US" sz="2000" i="1">
                        <a:solidFill>
                          <a:srgbClr val="002060"/>
                        </a:solidFill>
                        <a:latin typeface="Cambria Math" panose="02040503050406030204" pitchFamily="18" charset="0"/>
                        <a:ea typeface="Cambria Math" panose="02040503050406030204" pitchFamily="18" charset="0"/>
                      </a:rPr>
                      <m:t>≤</m:t>
                    </m:r>
                  </m:oMath>
                </a14:m>
                <a:r>
                  <a:rPr lang="en-US" sz="2000" dirty="0">
                    <a:solidFill>
                      <a:srgbClr val="002060"/>
                    </a:solidFill>
                  </a:rPr>
                  <a:t>  f(n)  </a:t>
                </a:r>
                <a14:m>
                  <m:oMath xmlns:m="http://schemas.openxmlformats.org/officeDocument/2006/math">
                    <m:r>
                      <a:rPr lang="en-US" sz="2000" i="1">
                        <a:solidFill>
                          <a:srgbClr val="002060"/>
                        </a:solidFill>
                        <a:latin typeface="Cambria Math" panose="02040503050406030204" pitchFamily="18" charset="0"/>
                        <a:ea typeface="Cambria Math" panose="02040503050406030204" pitchFamily="18" charset="0"/>
                      </a:rPr>
                      <m:t>≤</m:t>
                    </m:r>
                  </m:oMath>
                </a14:m>
                <a:r>
                  <a:rPr lang="en-US" sz="2000" dirty="0">
                    <a:solidFill>
                      <a:srgbClr val="002060"/>
                    </a:solidFill>
                  </a:rPr>
                  <a:t>  c</a:t>
                </a:r>
                <a:r>
                  <a:rPr lang="en-US" sz="2000" baseline="-25000" dirty="0">
                    <a:solidFill>
                      <a:srgbClr val="002060"/>
                    </a:solidFill>
                  </a:rPr>
                  <a:t>2 </a:t>
                </a:r>
                <a:r>
                  <a:rPr lang="en-US" sz="2000" dirty="0">
                    <a:solidFill>
                      <a:srgbClr val="002060"/>
                    </a:solidFill>
                  </a:rPr>
                  <a:t>. g(n)</a:t>
                </a:r>
              </a:p>
              <a:p>
                <a:r>
                  <a:rPr lang="en-US" sz="2000" dirty="0">
                    <a:solidFill>
                      <a:srgbClr val="002060"/>
                    </a:solidFill>
                  </a:rPr>
                  <a:t>= 1</a:t>
                </a:r>
                <a:r>
                  <a:rPr lang="en-US" sz="2000" baseline="-25000" dirty="0">
                    <a:solidFill>
                      <a:srgbClr val="002060"/>
                    </a:solidFill>
                  </a:rPr>
                  <a:t> </a:t>
                </a:r>
                <a:r>
                  <a:rPr lang="en-US" sz="2000" dirty="0">
                    <a:solidFill>
                      <a:srgbClr val="002060"/>
                    </a:solidFill>
                  </a:rPr>
                  <a:t>. n  </a:t>
                </a:r>
                <a14:m>
                  <m:oMath xmlns:m="http://schemas.openxmlformats.org/officeDocument/2006/math">
                    <m:r>
                      <a:rPr lang="en-US" sz="2000" i="1">
                        <a:solidFill>
                          <a:srgbClr val="002060"/>
                        </a:solidFill>
                        <a:latin typeface="Cambria Math" panose="02040503050406030204" pitchFamily="18" charset="0"/>
                        <a:ea typeface="Cambria Math" panose="02040503050406030204" pitchFamily="18" charset="0"/>
                      </a:rPr>
                      <m:t>≤</m:t>
                    </m:r>
                  </m:oMath>
                </a14:m>
                <a:r>
                  <a:rPr lang="en-US" sz="2000" dirty="0">
                    <a:solidFill>
                      <a:srgbClr val="002060"/>
                    </a:solidFill>
                  </a:rPr>
                  <a:t>  3n + 2  </a:t>
                </a:r>
                <a14:m>
                  <m:oMath xmlns:m="http://schemas.openxmlformats.org/officeDocument/2006/math">
                    <m:r>
                      <a:rPr lang="en-US" sz="2000" i="1">
                        <a:solidFill>
                          <a:srgbClr val="002060"/>
                        </a:solidFill>
                        <a:latin typeface="Cambria Math" panose="02040503050406030204" pitchFamily="18" charset="0"/>
                        <a:ea typeface="Cambria Math" panose="02040503050406030204" pitchFamily="18" charset="0"/>
                      </a:rPr>
                      <m:t>≤</m:t>
                    </m:r>
                  </m:oMath>
                </a14:m>
                <a:r>
                  <a:rPr lang="en-US" sz="2000" dirty="0">
                    <a:solidFill>
                      <a:srgbClr val="002060"/>
                    </a:solidFill>
                  </a:rPr>
                  <a:t>  4</a:t>
                </a:r>
                <a:r>
                  <a:rPr lang="en-US" sz="2000" baseline="-25000" dirty="0">
                    <a:solidFill>
                      <a:srgbClr val="002060"/>
                    </a:solidFill>
                  </a:rPr>
                  <a:t> </a:t>
                </a:r>
                <a:r>
                  <a:rPr lang="en-US" sz="2000" dirty="0">
                    <a:solidFill>
                      <a:srgbClr val="002060"/>
                    </a:solidFill>
                  </a:rPr>
                  <a:t>. n </a:t>
                </a:r>
              </a:p>
              <a:p>
                <a:r>
                  <a:rPr lang="en-US" sz="2000" dirty="0">
                    <a:solidFill>
                      <a:srgbClr val="002060"/>
                    </a:solidFill>
                  </a:rPr>
                  <a:t>= 1 . 2</a:t>
                </a:r>
                <a:r>
                  <a:rPr lang="en-US" sz="2000" baseline="-25000" dirty="0">
                    <a:solidFill>
                      <a:srgbClr val="002060"/>
                    </a:solidFill>
                  </a:rPr>
                  <a:t> </a:t>
                </a:r>
                <a:r>
                  <a:rPr lang="en-US" sz="2000" dirty="0">
                    <a:solidFill>
                      <a:srgbClr val="002060"/>
                    </a:solidFill>
                  </a:rPr>
                  <a:t>  </a:t>
                </a:r>
                <a14:m>
                  <m:oMath xmlns:m="http://schemas.openxmlformats.org/officeDocument/2006/math">
                    <m:r>
                      <a:rPr lang="en-US" sz="2000" i="1">
                        <a:solidFill>
                          <a:srgbClr val="002060"/>
                        </a:solidFill>
                        <a:latin typeface="Cambria Math" panose="02040503050406030204" pitchFamily="18" charset="0"/>
                        <a:ea typeface="Cambria Math" panose="02040503050406030204" pitchFamily="18" charset="0"/>
                      </a:rPr>
                      <m:t>≤</m:t>
                    </m:r>
                  </m:oMath>
                </a14:m>
                <a:r>
                  <a:rPr lang="en-US" sz="2000" dirty="0">
                    <a:solidFill>
                      <a:srgbClr val="002060"/>
                    </a:solidFill>
                  </a:rPr>
                  <a:t>  3 . 2 + 2  </a:t>
                </a:r>
                <a14:m>
                  <m:oMath xmlns:m="http://schemas.openxmlformats.org/officeDocument/2006/math">
                    <m:r>
                      <a:rPr lang="en-US" sz="2000" i="1">
                        <a:solidFill>
                          <a:srgbClr val="002060"/>
                        </a:solidFill>
                        <a:latin typeface="Cambria Math" panose="02040503050406030204" pitchFamily="18" charset="0"/>
                        <a:ea typeface="Cambria Math" panose="02040503050406030204" pitchFamily="18" charset="0"/>
                      </a:rPr>
                      <m:t>≤</m:t>
                    </m:r>
                  </m:oMath>
                </a14:m>
                <a:r>
                  <a:rPr lang="en-US" sz="2000" dirty="0">
                    <a:solidFill>
                      <a:srgbClr val="002060"/>
                    </a:solidFill>
                  </a:rPr>
                  <a:t>  4</a:t>
                </a:r>
                <a:r>
                  <a:rPr lang="en-US" sz="2000" baseline="-25000" dirty="0">
                    <a:solidFill>
                      <a:srgbClr val="002060"/>
                    </a:solidFill>
                  </a:rPr>
                  <a:t> </a:t>
                </a:r>
                <a:r>
                  <a:rPr lang="en-US" sz="2000" dirty="0">
                    <a:solidFill>
                      <a:srgbClr val="002060"/>
                    </a:solidFill>
                  </a:rPr>
                  <a:t>. 2</a:t>
                </a:r>
              </a:p>
              <a:p>
                <a:r>
                  <a:rPr lang="en-US" sz="2000" dirty="0">
                    <a:solidFill>
                      <a:srgbClr val="002060"/>
                    </a:solidFill>
                  </a:rPr>
                  <a:t>= 2</a:t>
                </a:r>
                <a:r>
                  <a:rPr lang="en-US" sz="2000" baseline="-25000" dirty="0">
                    <a:solidFill>
                      <a:srgbClr val="002060"/>
                    </a:solidFill>
                  </a:rPr>
                  <a:t> </a:t>
                </a:r>
                <a:r>
                  <a:rPr lang="en-US" sz="2000" dirty="0">
                    <a:solidFill>
                      <a:srgbClr val="002060"/>
                    </a:solidFill>
                  </a:rPr>
                  <a:t> </a:t>
                </a:r>
                <a14:m>
                  <m:oMath xmlns:m="http://schemas.openxmlformats.org/officeDocument/2006/math">
                    <m:r>
                      <a:rPr lang="en-US" sz="2000" i="1">
                        <a:solidFill>
                          <a:srgbClr val="002060"/>
                        </a:solidFill>
                        <a:latin typeface="Cambria Math" panose="02040503050406030204" pitchFamily="18" charset="0"/>
                        <a:ea typeface="Cambria Math" panose="02040503050406030204" pitchFamily="18" charset="0"/>
                      </a:rPr>
                      <m:t>≤</m:t>
                    </m:r>
                  </m:oMath>
                </a14:m>
                <a:r>
                  <a:rPr lang="en-US" sz="2000" dirty="0">
                    <a:solidFill>
                      <a:srgbClr val="002060"/>
                    </a:solidFill>
                  </a:rPr>
                  <a:t>  8  </a:t>
                </a:r>
                <a14:m>
                  <m:oMath xmlns:m="http://schemas.openxmlformats.org/officeDocument/2006/math">
                    <m:r>
                      <a:rPr lang="en-US" sz="2000" i="1">
                        <a:solidFill>
                          <a:srgbClr val="002060"/>
                        </a:solidFill>
                        <a:latin typeface="Cambria Math" panose="02040503050406030204" pitchFamily="18" charset="0"/>
                        <a:ea typeface="Cambria Math" panose="02040503050406030204" pitchFamily="18" charset="0"/>
                      </a:rPr>
                      <m:t>≤</m:t>
                    </m:r>
                  </m:oMath>
                </a14:m>
                <a:r>
                  <a:rPr lang="en-US" sz="2000" dirty="0">
                    <a:solidFill>
                      <a:srgbClr val="002060"/>
                    </a:solidFill>
                  </a:rPr>
                  <a:t>  8</a:t>
                </a:r>
                <a:r>
                  <a:rPr lang="en-US" sz="2000" baseline="-25000" dirty="0">
                    <a:solidFill>
                      <a:srgbClr val="002060"/>
                    </a:solidFill>
                  </a:rPr>
                  <a:t>  </a:t>
                </a:r>
                <a:r>
                  <a:rPr lang="en-US" sz="2000" dirty="0">
                    <a:solidFill>
                      <a:srgbClr val="002060"/>
                    </a:solidFill>
                  </a:rPr>
                  <a:t>[ condition satisfied ]</a:t>
                </a:r>
              </a:p>
              <a:p>
                <a:endParaRPr lang="en-US" sz="2000" dirty="0">
                  <a:solidFill>
                    <a:srgbClr val="002060"/>
                  </a:solidFill>
                </a:endParaRPr>
              </a:p>
              <a:p>
                <a:endParaRPr lang="en-US" sz="2000" dirty="0">
                  <a:solidFill>
                    <a:srgbClr val="002060"/>
                  </a:solidFill>
                </a:endParaRPr>
              </a:p>
              <a:p>
                <a:endParaRPr lang="en-US" sz="2000" dirty="0">
                  <a:solidFill>
                    <a:srgbClr val="002060"/>
                  </a:solidFill>
                </a:endParaRPr>
              </a:p>
              <a:p>
                <a:r>
                  <a:rPr lang="en-US" sz="2000" dirty="0">
                    <a:solidFill>
                      <a:srgbClr val="002060"/>
                    </a:solidFill>
                  </a:rPr>
                  <a:t> </a:t>
                </a:r>
              </a:p>
            </p:txBody>
          </p:sp>
        </mc:Choice>
        <mc:Fallback xmlns="">
          <p:sp>
            <p:nvSpPr>
              <p:cNvPr id="4" name="TextBox 3">
                <a:extLst>
                  <a:ext uri="{FF2B5EF4-FFF2-40B4-BE49-F238E27FC236}">
                    <a16:creationId xmlns:a16="http://schemas.microsoft.com/office/drawing/2014/main" id="{9B8C093A-FD83-DB5B-4F64-EDEB4C4A91BA}"/>
                  </a:ext>
                </a:extLst>
              </p:cNvPr>
              <p:cNvSpPr txBox="1">
                <a:spLocks noRot="1" noChangeAspect="1" noMove="1" noResize="1" noEditPoints="1" noAdjustHandles="1" noChangeArrowheads="1" noChangeShapeType="1" noTextEdit="1"/>
              </p:cNvSpPr>
              <p:nvPr/>
            </p:nvSpPr>
            <p:spPr>
              <a:xfrm>
                <a:off x="939800" y="716972"/>
                <a:ext cx="4775200" cy="6555641"/>
              </a:xfrm>
              <a:prstGeom prst="rect">
                <a:avLst/>
              </a:prstGeom>
              <a:blipFill>
                <a:blip r:embed="rId2"/>
                <a:stretch>
                  <a:fillRect l="-1276" t="-558"/>
                </a:stretch>
              </a:blipFill>
            </p:spPr>
            <p:txBody>
              <a:bodyPr/>
              <a:lstStyle/>
              <a:p>
                <a:r>
                  <a:rPr lang="en-US">
                    <a:noFill/>
                  </a:rPr>
                  <a:t> </a:t>
                </a:r>
              </a:p>
            </p:txBody>
          </p:sp>
        </mc:Fallback>
      </mc:AlternateContent>
      <p:sp>
        <p:nvSpPr>
          <p:cNvPr id="5" name="Content Placeholder 4">
            <a:extLst>
              <a:ext uri="{FF2B5EF4-FFF2-40B4-BE49-F238E27FC236}">
                <a16:creationId xmlns:a16="http://schemas.microsoft.com/office/drawing/2014/main" id="{8B215EAE-18E1-4223-5D97-C8D94B5866B5}"/>
              </a:ext>
            </a:extLst>
          </p:cNvPr>
          <p:cNvSpPr>
            <a:spLocks noGrp="1"/>
          </p:cNvSpPr>
          <p:nvPr>
            <p:ph idx="1"/>
          </p:nvPr>
        </p:nvSpPr>
        <p:spPr>
          <a:xfrm flipV="1">
            <a:off x="644236" y="6598226"/>
            <a:ext cx="9902537" cy="820882"/>
          </a:xfrm>
        </p:spPr>
        <p:txBody>
          <a:bodyPr>
            <a:normAutofit/>
          </a:bodyPr>
          <a:lstStyle/>
          <a:p>
            <a:pPr marL="0" indent="0">
              <a:buNone/>
            </a:pPr>
            <a:endParaRPr lang="en-US" dirty="0"/>
          </a:p>
        </p:txBody>
      </p:sp>
    </p:spTree>
    <p:extLst>
      <p:ext uri="{BB962C8B-B14F-4D97-AF65-F5344CB8AC3E}">
        <p14:creationId xmlns:p14="http://schemas.microsoft.com/office/powerpoint/2010/main" val="41742128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6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9D25D756-8722-71A3-6ACA-1824FF47008C}"/>
                  </a:ext>
                </a:extLst>
              </p:cNvPr>
              <p:cNvSpPr>
                <a:spLocks noGrp="1"/>
              </p:cNvSpPr>
              <p:nvPr>
                <p:ph type="title"/>
              </p:nvPr>
            </p:nvSpPr>
            <p:spPr>
              <a:xfrm>
                <a:off x="838200" y="261217"/>
                <a:ext cx="10515600" cy="1245466"/>
              </a:xfrm>
            </p:spPr>
            <p:txBody>
              <a:bodyPr/>
              <a:lstStyle/>
              <a:p>
                <a:r>
                  <a:rPr lang="en-US" dirty="0">
                    <a:solidFill>
                      <a:srgbClr val="FF0000"/>
                    </a:solidFill>
                  </a:rPr>
                  <a:t>Objective of big theta (</a:t>
                </a:r>
                <a14:m>
                  <m:oMath xmlns:m="http://schemas.openxmlformats.org/officeDocument/2006/math">
                    <m:r>
                      <a:rPr lang="en-GB"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𝜃</m:t>
                    </m:r>
                  </m:oMath>
                </a14:m>
                <a:r>
                  <a:rPr lang="en-US" dirty="0">
                    <a:solidFill>
                      <a:srgbClr val="FF0000"/>
                    </a:solidFill>
                  </a:rPr>
                  <a:t>) notation</a:t>
                </a:r>
              </a:p>
            </p:txBody>
          </p:sp>
        </mc:Choice>
        <mc:Fallback xmlns="">
          <p:sp>
            <p:nvSpPr>
              <p:cNvPr id="2" name="Title 1">
                <a:extLst>
                  <a:ext uri="{FF2B5EF4-FFF2-40B4-BE49-F238E27FC236}">
                    <a16:creationId xmlns:a16="http://schemas.microsoft.com/office/drawing/2014/main" id="{9D25D756-8722-71A3-6ACA-1824FF47008C}"/>
                  </a:ext>
                </a:extLst>
              </p:cNvPr>
              <p:cNvSpPr>
                <a:spLocks noGrp="1" noRot="1" noChangeAspect="1" noMove="1" noResize="1" noEditPoints="1" noAdjustHandles="1" noChangeArrowheads="1" noChangeShapeType="1" noTextEdit="1"/>
              </p:cNvSpPr>
              <p:nvPr>
                <p:ph type="title"/>
              </p:nvPr>
            </p:nvSpPr>
            <p:spPr>
              <a:xfrm>
                <a:off x="838200" y="261217"/>
                <a:ext cx="10515600" cy="1245466"/>
              </a:xfrm>
              <a:blipFill>
                <a:blip r:embed="rId2"/>
                <a:stretch>
                  <a:fillRect l="-2377" b="-147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8C1AE51-7687-27DB-348B-B4C7D190EF19}"/>
                  </a:ext>
                </a:extLst>
              </p:cNvPr>
              <p:cNvSpPr>
                <a:spLocks noGrp="1"/>
              </p:cNvSpPr>
              <p:nvPr>
                <p:ph idx="1"/>
              </p:nvPr>
            </p:nvSpPr>
            <p:spPr>
              <a:xfrm>
                <a:off x="727364" y="1350819"/>
                <a:ext cx="10775372" cy="5060372"/>
              </a:xfrm>
            </p:spPr>
            <p:txBody>
              <a:bodyPr>
                <a:normAutofit/>
              </a:bodyPr>
              <a:lstStyle/>
              <a:p>
                <a:pPr marL="0" indent="0">
                  <a:buNone/>
                </a:pPr>
                <a:r>
                  <a:rPr lang="en-GB" sz="2600" dirty="0">
                    <a:solidFill>
                      <a:srgbClr val="002060"/>
                    </a:solidFill>
                  </a:rPr>
                  <a:t>   The objective of Big Theta (</a:t>
                </a:r>
                <a14:m>
                  <m:oMath xmlns:m="http://schemas.openxmlformats.org/officeDocument/2006/math">
                    <m:r>
                      <a:rPr lang="en-GB" sz="26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𝜃</m:t>
                    </m:r>
                    <m:r>
                      <a:rPr lang="en-GB" sz="2600" b="1"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en-GB" sz="2600" dirty="0">
                    <a:solidFill>
                      <a:srgbClr val="002060"/>
                    </a:solidFill>
                  </a:rPr>
                  <a:t>-notation) is to provide a tight asymptotic bound on the growth rate of a function, describing both its upper and lower bounds for large input sizes. It helps in accurately measuring the time or space complexity of algorithms, offering a precise and efficient way to analyse and compare algorithms based on their scalability.</a:t>
                </a:r>
              </a:p>
              <a:p>
                <a:pPr marL="0" indent="0">
                  <a:buNone/>
                </a:pPr>
                <a:endParaRPr lang="en-US" sz="2600" dirty="0">
                  <a:solidFill>
                    <a:srgbClr val="FF0000"/>
                  </a:solidFill>
                </a:endParaRPr>
              </a:p>
              <a:p>
                <a:pPr marL="0" indent="0">
                  <a:buNone/>
                </a:pPr>
                <a:r>
                  <a:rPr lang="en-US" sz="2600" dirty="0">
                    <a:solidFill>
                      <a:srgbClr val="FF0000"/>
                    </a:solidFill>
                  </a:rPr>
                  <a:t>Algorithm</a:t>
                </a:r>
              </a:p>
              <a:p>
                <a:pPr>
                  <a:buFont typeface="Wingdings" panose="05000000000000000000" pitchFamily="2" charset="2"/>
                  <a:buChar char="Ø"/>
                </a:pPr>
                <a:endParaRPr lang="en-US" sz="2600" dirty="0"/>
              </a:p>
              <a:p>
                <a:pPr>
                  <a:buFont typeface="Wingdings" panose="05000000000000000000" pitchFamily="2" charset="2"/>
                  <a:buChar char="Ø"/>
                </a:pPr>
                <a:r>
                  <a:rPr lang="en-US" sz="2600" dirty="0"/>
                  <a:t>  </a:t>
                </a:r>
                <a:r>
                  <a:rPr lang="en-US" sz="2600" dirty="0">
                    <a:solidFill>
                      <a:srgbClr val="002060"/>
                    </a:solidFill>
                  </a:rPr>
                  <a:t>Bubble sort</a:t>
                </a:r>
              </a:p>
              <a:p>
                <a:pPr marL="0" indent="0">
                  <a:buNone/>
                </a:pPr>
                <a:endParaRPr lang="en-GB" sz="2600" dirty="0">
                  <a:solidFill>
                    <a:srgbClr val="002060"/>
                  </a:solidFill>
                </a:endParaRPr>
              </a:p>
            </p:txBody>
          </p:sp>
        </mc:Choice>
        <mc:Fallback>
          <p:sp>
            <p:nvSpPr>
              <p:cNvPr id="3" name="Content Placeholder 2">
                <a:extLst>
                  <a:ext uri="{FF2B5EF4-FFF2-40B4-BE49-F238E27FC236}">
                    <a16:creationId xmlns:a16="http://schemas.microsoft.com/office/drawing/2014/main" id="{18C1AE51-7687-27DB-348B-B4C7D190EF19}"/>
                  </a:ext>
                </a:extLst>
              </p:cNvPr>
              <p:cNvSpPr>
                <a:spLocks noGrp="1" noRot="1" noChangeAspect="1" noMove="1" noResize="1" noEditPoints="1" noAdjustHandles="1" noChangeArrowheads="1" noChangeShapeType="1" noTextEdit="1"/>
              </p:cNvSpPr>
              <p:nvPr>
                <p:ph idx="1"/>
              </p:nvPr>
            </p:nvSpPr>
            <p:spPr>
              <a:xfrm>
                <a:off x="727364" y="1350819"/>
                <a:ext cx="10775372" cy="5060372"/>
              </a:xfrm>
              <a:blipFill>
                <a:blip r:embed="rId3"/>
                <a:stretch>
                  <a:fillRect l="-1018" t="-1928" r="-566"/>
                </a:stretch>
              </a:blipFill>
            </p:spPr>
            <p:txBody>
              <a:bodyPr/>
              <a:lstStyle/>
              <a:p>
                <a:r>
                  <a:rPr lang="en-US">
                    <a:noFill/>
                  </a:rPr>
                  <a:t> </a:t>
                </a:r>
              </a:p>
            </p:txBody>
          </p:sp>
        </mc:Fallback>
      </mc:AlternateContent>
    </p:spTree>
    <p:extLst>
      <p:ext uri="{BB962C8B-B14F-4D97-AF65-F5344CB8AC3E}">
        <p14:creationId xmlns:p14="http://schemas.microsoft.com/office/powerpoint/2010/main" val="20970982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159CE-B91D-840D-0F2E-A5410F8F0F88}"/>
              </a:ext>
            </a:extLst>
          </p:cNvPr>
          <p:cNvSpPr>
            <a:spLocks noGrp="1"/>
          </p:cNvSpPr>
          <p:nvPr>
            <p:ph type="title"/>
          </p:nvPr>
        </p:nvSpPr>
        <p:spPr>
          <a:xfrm>
            <a:off x="536863" y="41662"/>
            <a:ext cx="10515600" cy="1325563"/>
          </a:xfrm>
        </p:spPr>
        <p:txBody>
          <a:bodyPr/>
          <a:lstStyle/>
          <a:p>
            <a:r>
              <a:rPr lang="en-US" dirty="0">
                <a:solidFill>
                  <a:srgbClr val="FF0000"/>
                </a:solidFill>
              </a:rPr>
              <a:t>Bubble Sort</a:t>
            </a:r>
          </a:p>
        </p:txBody>
      </p:sp>
      <p:sp>
        <p:nvSpPr>
          <p:cNvPr id="3" name="Content Placeholder 2">
            <a:extLst>
              <a:ext uri="{FF2B5EF4-FFF2-40B4-BE49-F238E27FC236}">
                <a16:creationId xmlns:a16="http://schemas.microsoft.com/office/drawing/2014/main" id="{A71FA8E2-00E3-0214-9934-AF963CC1C2D3}"/>
              </a:ext>
            </a:extLst>
          </p:cNvPr>
          <p:cNvSpPr>
            <a:spLocks noGrp="1"/>
          </p:cNvSpPr>
          <p:nvPr>
            <p:ph idx="1"/>
          </p:nvPr>
        </p:nvSpPr>
        <p:spPr>
          <a:xfrm>
            <a:off x="616528" y="1173977"/>
            <a:ext cx="6497782" cy="5642361"/>
          </a:xfrm>
        </p:spPr>
        <p:txBody>
          <a:bodyPr>
            <a:normAutofit/>
          </a:bodyPr>
          <a:lstStyle/>
          <a:p>
            <a:pPr marL="0" indent="0">
              <a:buNone/>
            </a:pPr>
            <a:endParaRPr lang="en-US" sz="2000" b="1" dirty="0">
              <a:solidFill>
                <a:srgbClr val="002060"/>
              </a:solidFill>
            </a:endParaRPr>
          </a:p>
          <a:p>
            <a:pPr marL="0" indent="0">
              <a:buNone/>
            </a:pPr>
            <a:r>
              <a:rPr lang="en-US" sz="2000" b="1" dirty="0">
                <a:solidFill>
                  <a:srgbClr val="002060"/>
                </a:solidFill>
              </a:rPr>
              <a:t>#include &lt;stdio.h&gt;</a:t>
            </a:r>
          </a:p>
          <a:p>
            <a:pPr marL="0" indent="0">
              <a:buNone/>
            </a:pPr>
            <a:r>
              <a:rPr lang="en-US" sz="2000" b="1" dirty="0">
                <a:solidFill>
                  <a:srgbClr val="002060"/>
                </a:solidFill>
              </a:rPr>
              <a:t>void main ()</a:t>
            </a:r>
          </a:p>
          <a:p>
            <a:pPr marL="0" indent="0">
              <a:buNone/>
            </a:pPr>
            <a:r>
              <a:rPr lang="en-US" sz="2000" b="1" dirty="0">
                <a:solidFill>
                  <a:srgbClr val="002060"/>
                </a:solidFill>
              </a:rPr>
              <a:t>{</a:t>
            </a:r>
          </a:p>
          <a:p>
            <a:pPr marL="0" indent="0">
              <a:buNone/>
            </a:pPr>
            <a:r>
              <a:rPr lang="en-US" sz="2000" b="1" dirty="0">
                <a:solidFill>
                  <a:srgbClr val="002060"/>
                </a:solidFill>
              </a:rPr>
              <a:t>    int </a:t>
            </a:r>
            <a:r>
              <a:rPr lang="en-US" sz="2000" b="1" dirty="0" err="1">
                <a:solidFill>
                  <a:srgbClr val="002060"/>
                </a:solidFill>
              </a:rPr>
              <a:t>arr</a:t>
            </a:r>
            <a:r>
              <a:rPr lang="en-US" sz="2000" b="1" dirty="0">
                <a:solidFill>
                  <a:srgbClr val="002060"/>
                </a:solidFill>
              </a:rPr>
              <a:t>[ ] = { 12, -2, -5, 10, 7 } ;</a:t>
            </a:r>
          </a:p>
          <a:p>
            <a:pPr marL="0" indent="0">
              <a:buNone/>
            </a:pPr>
            <a:r>
              <a:rPr lang="en-US" sz="2000" b="1" dirty="0">
                <a:solidFill>
                  <a:srgbClr val="002060"/>
                </a:solidFill>
              </a:rPr>
              <a:t>    int </a:t>
            </a:r>
            <a:r>
              <a:rPr lang="en-US" sz="2000" b="1" dirty="0" err="1">
                <a:solidFill>
                  <a:srgbClr val="002060"/>
                </a:solidFill>
              </a:rPr>
              <a:t>i</a:t>
            </a:r>
            <a:r>
              <a:rPr lang="en-US" sz="2000" b="1" dirty="0">
                <a:solidFill>
                  <a:srgbClr val="002060"/>
                </a:solidFill>
              </a:rPr>
              <a:t>, j, temp, size = 5 ;</a:t>
            </a:r>
          </a:p>
          <a:p>
            <a:pPr marL="0" indent="0">
              <a:buNone/>
            </a:pPr>
            <a:r>
              <a:rPr lang="en-US" sz="2000" b="1" dirty="0">
                <a:solidFill>
                  <a:srgbClr val="002060"/>
                </a:solidFill>
              </a:rPr>
              <a:t>    for( </a:t>
            </a:r>
            <a:r>
              <a:rPr lang="en-US" sz="2000" b="1" dirty="0" err="1">
                <a:solidFill>
                  <a:srgbClr val="002060"/>
                </a:solidFill>
              </a:rPr>
              <a:t>i</a:t>
            </a:r>
            <a:r>
              <a:rPr lang="en-US" sz="2000" b="1" dirty="0">
                <a:solidFill>
                  <a:srgbClr val="002060"/>
                </a:solidFill>
              </a:rPr>
              <a:t> = 0 ; </a:t>
            </a:r>
            <a:r>
              <a:rPr lang="en-US" sz="2000" b="1" dirty="0" err="1">
                <a:solidFill>
                  <a:srgbClr val="002060"/>
                </a:solidFill>
              </a:rPr>
              <a:t>i</a:t>
            </a:r>
            <a:r>
              <a:rPr lang="en-US" sz="2000" b="1" dirty="0">
                <a:solidFill>
                  <a:srgbClr val="002060"/>
                </a:solidFill>
              </a:rPr>
              <a:t> &lt; size – 1 ; </a:t>
            </a:r>
            <a:r>
              <a:rPr lang="en-US" sz="2000" b="1" dirty="0" err="1">
                <a:solidFill>
                  <a:srgbClr val="002060"/>
                </a:solidFill>
              </a:rPr>
              <a:t>i</a:t>
            </a:r>
            <a:r>
              <a:rPr lang="en-US" sz="2000" b="1" dirty="0">
                <a:solidFill>
                  <a:srgbClr val="002060"/>
                </a:solidFill>
              </a:rPr>
              <a:t>++ )</a:t>
            </a:r>
          </a:p>
          <a:p>
            <a:pPr marL="0" indent="0">
              <a:buNone/>
            </a:pPr>
            <a:r>
              <a:rPr lang="en-US" sz="2000" b="1" dirty="0">
                <a:solidFill>
                  <a:srgbClr val="002060"/>
                </a:solidFill>
              </a:rPr>
              <a:t>    {</a:t>
            </a:r>
          </a:p>
          <a:p>
            <a:pPr marL="0" indent="0">
              <a:buNone/>
            </a:pPr>
            <a:r>
              <a:rPr lang="en-US" sz="2000" b="1" dirty="0">
                <a:solidFill>
                  <a:srgbClr val="002060"/>
                </a:solidFill>
              </a:rPr>
              <a:t>        for( j = 0 ; j &lt; size – 1 ; </a:t>
            </a:r>
            <a:r>
              <a:rPr lang="en-US" sz="2000" b="1" dirty="0" err="1">
                <a:solidFill>
                  <a:srgbClr val="002060"/>
                </a:solidFill>
              </a:rPr>
              <a:t>j++</a:t>
            </a:r>
            <a:r>
              <a:rPr lang="en-US" sz="2000" b="1" dirty="0">
                <a:solidFill>
                  <a:srgbClr val="002060"/>
                </a:solidFill>
              </a:rPr>
              <a:t> )</a:t>
            </a:r>
          </a:p>
          <a:p>
            <a:pPr marL="0" indent="0">
              <a:buNone/>
            </a:pPr>
            <a:r>
              <a:rPr lang="en-US" sz="2000" b="1" dirty="0">
                <a:solidFill>
                  <a:srgbClr val="002060"/>
                </a:solidFill>
              </a:rPr>
              <a:t>        {</a:t>
            </a:r>
          </a:p>
          <a:p>
            <a:pPr marL="0" indent="0">
              <a:buNone/>
            </a:pPr>
            <a:r>
              <a:rPr lang="en-US" sz="2000" b="1" dirty="0">
                <a:solidFill>
                  <a:srgbClr val="002060"/>
                </a:solidFill>
              </a:rPr>
              <a:t>            if( </a:t>
            </a:r>
            <a:r>
              <a:rPr lang="en-US" sz="2000" b="1" dirty="0" err="1">
                <a:solidFill>
                  <a:srgbClr val="002060"/>
                </a:solidFill>
              </a:rPr>
              <a:t>arr</a:t>
            </a:r>
            <a:r>
              <a:rPr lang="en-US" sz="2000" b="1" dirty="0">
                <a:solidFill>
                  <a:srgbClr val="002060"/>
                </a:solidFill>
              </a:rPr>
              <a:t>[j]  &gt;  </a:t>
            </a:r>
            <a:r>
              <a:rPr lang="en-US" sz="2000" b="1" dirty="0" err="1">
                <a:solidFill>
                  <a:srgbClr val="002060"/>
                </a:solidFill>
              </a:rPr>
              <a:t>arr</a:t>
            </a:r>
            <a:r>
              <a:rPr lang="en-US" sz="2000" b="1" dirty="0">
                <a:solidFill>
                  <a:srgbClr val="002060"/>
                </a:solidFill>
              </a:rPr>
              <a:t>[ j + 1])</a:t>
            </a:r>
          </a:p>
          <a:p>
            <a:pPr marL="0" indent="0">
              <a:buNone/>
            </a:pPr>
            <a:endParaRPr lang="en-US" sz="2000" b="1" dirty="0">
              <a:solidFill>
                <a:srgbClr val="002060"/>
              </a:solidFill>
            </a:endParaRPr>
          </a:p>
        </p:txBody>
      </p:sp>
      <p:sp>
        <p:nvSpPr>
          <p:cNvPr id="5" name="TextBox 4">
            <a:extLst>
              <a:ext uri="{FF2B5EF4-FFF2-40B4-BE49-F238E27FC236}">
                <a16:creationId xmlns:a16="http://schemas.microsoft.com/office/drawing/2014/main" id="{42BF2808-CF2B-8ADD-83B5-4ECC0A62DFCC}"/>
              </a:ext>
            </a:extLst>
          </p:cNvPr>
          <p:cNvSpPr txBox="1"/>
          <p:nvPr/>
        </p:nvSpPr>
        <p:spPr>
          <a:xfrm>
            <a:off x="6096000" y="1173977"/>
            <a:ext cx="5185063" cy="5016758"/>
          </a:xfrm>
          <a:prstGeom prst="rect">
            <a:avLst/>
          </a:prstGeom>
          <a:noFill/>
        </p:spPr>
        <p:txBody>
          <a:bodyPr wrap="square" rtlCol="0">
            <a:spAutoFit/>
          </a:bodyPr>
          <a:lstStyle/>
          <a:p>
            <a:pPr marL="0" indent="0">
              <a:buNone/>
            </a:pPr>
            <a:r>
              <a:rPr lang="en-US" sz="2000" b="1" dirty="0">
                <a:solidFill>
                  <a:srgbClr val="002060"/>
                </a:solidFill>
              </a:rPr>
              <a:t>   </a:t>
            </a:r>
          </a:p>
          <a:p>
            <a:pPr marL="0" indent="0">
              <a:buNone/>
            </a:pPr>
            <a:r>
              <a:rPr lang="en-US" sz="2000" b="1" dirty="0">
                <a:solidFill>
                  <a:srgbClr val="002060"/>
                </a:solidFill>
              </a:rPr>
              <a:t>   {</a:t>
            </a:r>
          </a:p>
          <a:p>
            <a:pPr marL="0" indent="0">
              <a:buNone/>
            </a:pPr>
            <a:r>
              <a:rPr lang="en-US" sz="2000" b="1" dirty="0">
                <a:solidFill>
                  <a:srgbClr val="002060"/>
                </a:solidFill>
              </a:rPr>
              <a:t>                temp = </a:t>
            </a:r>
            <a:r>
              <a:rPr lang="en-US" sz="2000" b="1" dirty="0" err="1">
                <a:solidFill>
                  <a:srgbClr val="002060"/>
                </a:solidFill>
              </a:rPr>
              <a:t>arr</a:t>
            </a:r>
            <a:r>
              <a:rPr lang="en-US" sz="2000" b="1" dirty="0">
                <a:solidFill>
                  <a:srgbClr val="002060"/>
                </a:solidFill>
              </a:rPr>
              <a:t>[j];</a:t>
            </a:r>
          </a:p>
          <a:p>
            <a:pPr marL="0" indent="0">
              <a:buNone/>
            </a:pPr>
            <a:r>
              <a:rPr lang="en-US" sz="2000" b="1" dirty="0">
                <a:solidFill>
                  <a:srgbClr val="002060"/>
                </a:solidFill>
              </a:rPr>
              <a:t>                </a:t>
            </a:r>
            <a:r>
              <a:rPr lang="en-US" sz="2000" b="1" dirty="0" err="1">
                <a:solidFill>
                  <a:srgbClr val="002060"/>
                </a:solidFill>
              </a:rPr>
              <a:t>arr</a:t>
            </a:r>
            <a:r>
              <a:rPr lang="en-US" sz="2000" b="1" dirty="0">
                <a:solidFill>
                  <a:srgbClr val="002060"/>
                </a:solidFill>
              </a:rPr>
              <a:t>[j] = </a:t>
            </a:r>
            <a:r>
              <a:rPr lang="en-US" sz="2000" b="1" dirty="0" err="1">
                <a:solidFill>
                  <a:srgbClr val="002060"/>
                </a:solidFill>
              </a:rPr>
              <a:t>arr</a:t>
            </a:r>
            <a:r>
              <a:rPr lang="en-US" sz="2000" b="1" dirty="0">
                <a:solidFill>
                  <a:srgbClr val="002060"/>
                </a:solidFill>
              </a:rPr>
              <a:t>[ j + 1];</a:t>
            </a:r>
          </a:p>
          <a:p>
            <a:pPr marL="0" indent="0">
              <a:buNone/>
            </a:pPr>
            <a:r>
              <a:rPr lang="en-US" sz="2000" b="1" dirty="0">
                <a:solidFill>
                  <a:srgbClr val="002060"/>
                </a:solidFill>
              </a:rPr>
              <a:t>                </a:t>
            </a:r>
            <a:r>
              <a:rPr lang="en-US" sz="2000" b="1" dirty="0" err="1">
                <a:solidFill>
                  <a:srgbClr val="002060"/>
                </a:solidFill>
              </a:rPr>
              <a:t>arr</a:t>
            </a:r>
            <a:r>
              <a:rPr lang="en-US" sz="2000" b="1" dirty="0">
                <a:solidFill>
                  <a:srgbClr val="002060"/>
                </a:solidFill>
              </a:rPr>
              <a:t>[ j + 1] = temp;</a:t>
            </a:r>
          </a:p>
          <a:p>
            <a:pPr marL="0" indent="0">
              <a:buNone/>
            </a:pPr>
            <a:r>
              <a:rPr lang="en-US" sz="2000" b="1" dirty="0">
                <a:solidFill>
                  <a:srgbClr val="002060"/>
                </a:solidFill>
              </a:rPr>
              <a:t>    }</a:t>
            </a:r>
          </a:p>
          <a:p>
            <a:pPr marL="0" indent="0">
              <a:buNone/>
            </a:pPr>
            <a:r>
              <a:rPr lang="en-US" sz="2000" b="1" dirty="0">
                <a:solidFill>
                  <a:srgbClr val="002060"/>
                </a:solidFill>
              </a:rPr>
              <a:t>}</a:t>
            </a:r>
          </a:p>
          <a:p>
            <a:pPr marL="0" indent="0">
              <a:buNone/>
            </a:pPr>
            <a:r>
              <a:rPr lang="en-US" sz="2000" b="1" dirty="0">
                <a:solidFill>
                  <a:srgbClr val="002060"/>
                </a:solidFill>
              </a:rPr>
              <a:t>    }</a:t>
            </a:r>
          </a:p>
          <a:p>
            <a:pPr marL="0" indent="0">
              <a:buNone/>
            </a:pPr>
            <a:r>
              <a:rPr lang="en-US" sz="2000" b="1" dirty="0" err="1">
                <a:solidFill>
                  <a:srgbClr val="002060"/>
                </a:solidFill>
              </a:rPr>
              <a:t>printf</a:t>
            </a:r>
            <a:r>
              <a:rPr lang="en-US" sz="2000" b="1" dirty="0">
                <a:solidFill>
                  <a:srgbClr val="002060"/>
                </a:solidFill>
              </a:rPr>
              <a:t>("\</a:t>
            </a:r>
            <a:r>
              <a:rPr lang="en-US" sz="2000" b="1" dirty="0" err="1">
                <a:solidFill>
                  <a:srgbClr val="002060"/>
                </a:solidFill>
              </a:rPr>
              <a:t>nAfter</a:t>
            </a:r>
            <a:r>
              <a:rPr lang="en-US" sz="2000" b="1" dirty="0">
                <a:solidFill>
                  <a:srgbClr val="002060"/>
                </a:solidFill>
              </a:rPr>
              <a:t> sorting:\n");</a:t>
            </a:r>
          </a:p>
          <a:p>
            <a:r>
              <a:rPr lang="en-US" sz="2000" b="1" dirty="0">
                <a:solidFill>
                  <a:srgbClr val="002060"/>
                </a:solidFill>
              </a:rPr>
              <a:t>    for( </a:t>
            </a:r>
            <a:r>
              <a:rPr lang="en-US" sz="2000" b="1" dirty="0" err="1">
                <a:solidFill>
                  <a:srgbClr val="002060"/>
                </a:solidFill>
              </a:rPr>
              <a:t>i</a:t>
            </a:r>
            <a:r>
              <a:rPr lang="en-US" sz="2000" b="1" dirty="0">
                <a:solidFill>
                  <a:srgbClr val="002060"/>
                </a:solidFill>
              </a:rPr>
              <a:t> = 0 ; </a:t>
            </a:r>
            <a:r>
              <a:rPr lang="en-US" sz="2000" b="1" dirty="0" err="1">
                <a:solidFill>
                  <a:srgbClr val="002060"/>
                </a:solidFill>
              </a:rPr>
              <a:t>i</a:t>
            </a:r>
            <a:r>
              <a:rPr lang="en-US" sz="2000" b="1" dirty="0">
                <a:solidFill>
                  <a:srgbClr val="002060"/>
                </a:solidFill>
              </a:rPr>
              <a:t> &lt; size ; </a:t>
            </a:r>
            <a:r>
              <a:rPr lang="en-US" sz="2000" b="1" dirty="0" err="1">
                <a:solidFill>
                  <a:srgbClr val="002060"/>
                </a:solidFill>
              </a:rPr>
              <a:t>i</a:t>
            </a:r>
            <a:r>
              <a:rPr lang="en-US" sz="2000" b="1" dirty="0">
                <a:solidFill>
                  <a:srgbClr val="002060"/>
                </a:solidFill>
              </a:rPr>
              <a:t>++ )</a:t>
            </a:r>
          </a:p>
          <a:p>
            <a:r>
              <a:rPr lang="en-US" sz="2000" b="1" dirty="0">
                <a:solidFill>
                  <a:srgbClr val="002060"/>
                </a:solidFill>
              </a:rPr>
              <a:t>    {</a:t>
            </a:r>
          </a:p>
          <a:p>
            <a:r>
              <a:rPr lang="en-US" sz="2000" b="1" dirty="0">
                <a:solidFill>
                  <a:srgbClr val="002060"/>
                </a:solidFill>
              </a:rPr>
              <a:t>        </a:t>
            </a:r>
            <a:r>
              <a:rPr lang="en-US" sz="2000" b="1" dirty="0" err="1">
                <a:solidFill>
                  <a:srgbClr val="002060"/>
                </a:solidFill>
              </a:rPr>
              <a:t>printf</a:t>
            </a:r>
            <a:r>
              <a:rPr lang="en-US" sz="2000" b="1" dirty="0">
                <a:solidFill>
                  <a:srgbClr val="002060"/>
                </a:solidFill>
              </a:rPr>
              <a:t>("%d ",</a:t>
            </a:r>
            <a:r>
              <a:rPr lang="en-US" sz="2000" b="1" dirty="0" err="1">
                <a:solidFill>
                  <a:srgbClr val="002060"/>
                </a:solidFill>
              </a:rPr>
              <a:t>arr</a:t>
            </a:r>
            <a:r>
              <a:rPr lang="en-US" sz="2000" b="1" dirty="0">
                <a:solidFill>
                  <a:srgbClr val="002060"/>
                </a:solidFill>
              </a:rPr>
              <a:t>[</a:t>
            </a:r>
            <a:r>
              <a:rPr lang="en-US" sz="2000" b="1" dirty="0" err="1">
                <a:solidFill>
                  <a:srgbClr val="002060"/>
                </a:solidFill>
              </a:rPr>
              <a:t>i</a:t>
            </a:r>
            <a:r>
              <a:rPr lang="en-US" sz="2000" b="1" dirty="0">
                <a:solidFill>
                  <a:srgbClr val="002060"/>
                </a:solidFill>
              </a:rPr>
              <a:t>]);</a:t>
            </a:r>
          </a:p>
          <a:p>
            <a:r>
              <a:rPr lang="en-US" sz="2000" b="1" dirty="0">
                <a:solidFill>
                  <a:srgbClr val="002060"/>
                </a:solidFill>
              </a:rPr>
              <a:t>    }</a:t>
            </a:r>
          </a:p>
          <a:p>
            <a:r>
              <a:rPr lang="en-US" sz="2000" b="1" dirty="0">
                <a:solidFill>
                  <a:srgbClr val="002060"/>
                </a:solidFill>
              </a:rPr>
              <a:t>    </a:t>
            </a:r>
            <a:r>
              <a:rPr lang="en-US" sz="2000" b="1" dirty="0" err="1">
                <a:solidFill>
                  <a:srgbClr val="002060"/>
                </a:solidFill>
              </a:rPr>
              <a:t>printf</a:t>
            </a:r>
            <a:r>
              <a:rPr lang="en-US" sz="2000" b="1" dirty="0">
                <a:solidFill>
                  <a:srgbClr val="002060"/>
                </a:solidFill>
              </a:rPr>
              <a:t>("\n");</a:t>
            </a:r>
          </a:p>
          <a:p>
            <a:r>
              <a:rPr lang="en-US" sz="2000" b="1" dirty="0">
                <a:solidFill>
                  <a:srgbClr val="002060"/>
                </a:solidFill>
              </a:rPr>
              <a:t>}</a:t>
            </a:r>
          </a:p>
          <a:p>
            <a:endParaRPr lang="en-US" sz="2000" b="1" dirty="0">
              <a:solidFill>
                <a:srgbClr val="002060"/>
              </a:solidFill>
            </a:endParaRPr>
          </a:p>
        </p:txBody>
      </p:sp>
    </p:spTree>
    <p:extLst>
      <p:ext uri="{BB962C8B-B14F-4D97-AF65-F5344CB8AC3E}">
        <p14:creationId xmlns:p14="http://schemas.microsoft.com/office/powerpoint/2010/main" val="26657986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BEA5599B-13D7-5415-9C70-89D8BCBDF1B4}"/>
                  </a:ext>
                </a:extLst>
              </p:cNvPr>
              <p:cNvSpPr>
                <a:spLocks noGrp="1"/>
              </p:cNvSpPr>
              <p:nvPr>
                <p:ph type="title"/>
              </p:nvPr>
            </p:nvSpPr>
            <p:spPr/>
            <p:txBody>
              <a:bodyPr>
                <a:normAutofit/>
              </a:bodyPr>
              <a:lstStyle/>
              <a:p>
                <a:r>
                  <a:rPr lang="en-US" sz="3600" b="1"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Discussion of Bubble Sort Complexity in Big Theta </a:t>
                </a:r>
                <a:r>
                  <a:rPr lang="en-US" sz="3600" b="1" dirty="0">
                    <a:solidFill>
                      <a:srgbClr val="FF0000"/>
                    </a:solidFill>
                  </a:rPr>
                  <a:t>(</a:t>
                </a:r>
                <a14:m>
                  <m:oMath xmlns:m="http://schemas.openxmlformats.org/officeDocument/2006/math">
                    <m:r>
                      <a:rPr lang="en-GB" sz="36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𝜽</m:t>
                    </m:r>
                  </m:oMath>
                </a14:m>
                <a:r>
                  <a:rPr lang="en-US" sz="3600" b="1" dirty="0">
                    <a:solidFill>
                      <a:srgbClr val="FF0000"/>
                    </a:solidFill>
                  </a:rPr>
                  <a:t>) </a:t>
                </a:r>
                <a:br>
                  <a:rPr lang="en-US" sz="36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br>
                <a:endParaRPr lang="en-US" sz="3600" dirty="0">
                  <a:solidFill>
                    <a:srgbClr val="FF0000"/>
                  </a:solidFill>
                </a:endParaRPr>
              </a:p>
            </p:txBody>
          </p:sp>
        </mc:Choice>
        <mc:Fallback xmlns="">
          <p:sp>
            <p:nvSpPr>
              <p:cNvPr id="2" name="Title 1">
                <a:extLst>
                  <a:ext uri="{FF2B5EF4-FFF2-40B4-BE49-F238E27FC236}">
                    <a16:creationId xmlns:a16="http://schemas.microsoft.com/office/drawing/2014/main" id="{BEA5599B-13D7-5415-9C70-89D8BCBDF1B4}"/>
                  </a:ext>
                </a:extLst>
              </p:cNvPr>
              <p:cNvSpPr>
                <a:spLocks noGrp="1" noRot="1" noChangeAspect="1" noMove="1" noResize="1" noEditPoints="1" noAdjustHandles="1" noChangeArrowheads="1" noChangeShapeType="1" noTextEdit="1"/>
              </p:cNvSpPr>
              <p:nvPr>
                <p:ph type="title"/>
              </p:nvPr>
            </p:nvSpPr>
            <p:spPr>
              <a:blipFill>
                <a:blip r:embed="rId2"/>
                <a:stretch>
                  <a:fillRect l="-1797" t="-184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A170E72-33B3-24F7-B553-20A28F9FAA23}"/>
                  </a:ext>
                </a:extLst>
              </p:cNvPr>
              <p:cNvSpPr>
                <a:spLocks noGrp="1"/>
              </p:cNvSpPr>
              <p:nvPr>
                <p:ph idx="1"/>
              </p:nvPr>
            </p:nvSpPr>
            <p:spPr>
              <a:xfrm>
                <a:off x="838200" y="1381991"/>
                <a:ext cx="10515600" cy="5257800"/>
              </a:xfrm>
            </p:spPr>
            <p:txBody>
              <a:bodyPr>
                <a:noAutofit/>
              </a:bodyPr>
              <a:lstStyle/>
              <a:p>
                <a:pPr marL="0" indent="0">
                  <a:buNone/>
                </a:pPr>
                <a:r>
                  <a:rPr lang="en-US" sz="2600" kern="1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Bubble Sort is a simple comparison-based sorting algorithm that works by repeatedly comparing adjacent elements in an array and swapping them if they are in the wrong order. Its time complexity varies depending on the state of the input array. Big Theta (</a:t>
                </a:r>
                <a14:m>
                  <m:oMath xmlns:m="http://schemas.openxmlformats.org/officeDocument/2006/math">
                    <m:r>
                      <a:rPr lang="en-GB" sz="26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𝜃</m:t>
                    </m:r>
                  </m:oMath>
                </a14:m>
                <a:r>
                  <a:rPr lang="en-US" sz="2600" kern="1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notation gives a precise bound for its time complexity, describing both the best and worst cases.</a:t>
                </a:r>
              </a:p>
              <a:p>
                <a:pPr marL="0" indent="0">
                  <a:buNone/>
                </a:pPr>
                <a:endParaRPr lang="en-US" sz="2600" b="1"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Aft>
                    <a:spcPts val="800"/>
                  </a:spcAft>
                </a:pPr>
                <a:r>
                  <a:rPr lang="en-US" sz="2600" b="1"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Best Case (</a:t>
                </a:r>
                <a14:m>
                  <m:oMath xmlns:m="http://schemas.openxmlformats.org/officeDocument/2006/math">
                    <m:r>
                      <a:rPr lang="en-GB" sz="26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𝜽</m:t>
                    </m:r>
                  </m:oMath>
                </a14:m>
                <a:r>
                  <a:rPr lang="en-US" sz="2600" b="1"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a:t>
                </a:r>
                <a:endParaRPr lang="en-US" sz="26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Aft>
                    <a:spcPts val="800"/>
                  </a:spcAft>
                  <a:buSzPts val="1000"/>
                  <a:buFont typeface="Symbol" panose="05050102010706020507" pitchFamily="18" charset="2"/>
                  <a:buChar char=""/>
                  <a:tabLst>
                    <a:tab pos="457200" algn="l"/>
                  </a:tabLst>
                </a:pPr>
                <a:r>
                  <a:rPr lang="en-US" sz="2600" b="1" kern="1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Scenario</a:t>
                </a:r>
                <a:r>
                  <a:rPr lang="en-US" sz="2600" kern="1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The array is already sorted.</a:t>
                </a:r>
              </a:p>
              <a:p>
                <a:pPr marL="342900" marR="0" lvl="0" indent="-342900">
                  <a:lnSpc>
                    <a:spcPct val="107000"/>
                  </a:lnSpc>
                  <a:spcAft>
                    <a:spcPts val="800"/>
                  </a:spcAft>
                  <a:buSzPts val="1000"/>
                  <a:buFont typeface="Symbol" panose="05050102010706020507" pitchFamily="18" charset="2"/>
                  <a:buChar char=""/>
                  <a:tabLst>
                    <a:tab pos="457200" algn="l"/>
                  </a:tabLst>
                </a:pPr>
                <a:r>
                  <a:rPr lang="en-US" sz="2600" b="1" kern="1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Complexity</a:t>
                </a:r>
                <a:r>
                  <a:rPr lang="en-US" sz="2600" kern="1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Since it only requires a single pass through the array, the best-case time complexity is </a:t>
                </a:r>
                <a14:m>
                  <m:oMath xmlns:m="http://schemas.openxmlformats.org/officeDocument/2006/math">
                    <m:r>
                      <a:rPr lang="en-GB" sz="26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𝜃</m:t>
                    </m:r>
                  </m:oMath>
                </a14:m>
                <a:r>
                  <a:rPr lang="en-US" sz="2600" kern="1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(n).</a:t>
                </a:r>
              </a:p>
              <a:p>
                <a:pPr marL="0" indent="0">
                  <a:buNone/>
                </a:pPr>
                <a:endParaRPr lang="en-US" sz="2600" dirty="0">
                  <a:solidFill>
                    <a:srgbClr val="002060"/>
                  </a:solidFill>
                </a:endParaRPr>
              </a:p>
            </p:txBody>
          </p:sp>
        </mc:Choice>
        <mc:Fallback>
          <p:sp>
            <p:nvSpPr>
              <p:cNvPr id="3" name="Content Placeholder 2">
                <a:extLst>
                  <a:ext uri="{FF2B5EF4-FFF2-40B4-BE49-F238E27FC236}">
                    <a16:creationId xmlns:a16="http://schemas.microsoft.com/office/drawing/2014/main" id="{7A170E72-33B3-24F7-B553-20A28F9FAA23}"/>
                  </a:ext>
                </a:extLst>
              </p:cNvPr>
              <p:cNvSpPr>
                <a:spLocks noGrp="1" noRot="1" noChangeAspect="1" noMove="1" noResize="1" noEditPoints="1" noAdjustHandles="1" noChangeArrowheads="1" noChangeShapeType="1" noTextEdit="1"/>
              </p:cNvSpPr>
              <p:nvPr>
                <p:ph idx="1"/>
              </p:nvPr>
            </p:nvSpPr>
            <p:spPr>
              <a:xfrm>
                <a:off x="838200" y="1381991"/>
                <a:ext cx="10515600" cy="5257800"/>
              </a:xfrm>
              <a:blipFill>
                <a:blip r:embed="rId3"/>
                <a:stretch>
                  <a:fillRect l="-1043" t="-1856"/>
                </a:stretch>
              </a:blipFill>
            </p:spPr>
            <p:txBody>
              <a:bodyPr/>
              <a:lstStyle/>
              <a:p>
                <a:r>
                  <a:rPr lang="en-US">
                    <a:noFill/>
                  </a:rPr>
                  <a:t> </a:t>
                </a:r>
              </a:p>
            </p:txBody>
          </p:sp>
        </mc:Fallback>
      </mc:AlternateContent>
    </p:spTree>
    <p:extLst>
      <p:ext uri="{BB962C8B-B14F-4D97-AF65-F5344CB8AC3E}">
        <p14:creationId xmlns:p14="http://schemas.microsoft.com/office/powerpoint/2010/main" val="923915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F48C65E-E3B6-FD20-9026-C657305548EF}"/>
                  </a:ext>
                </a:extLst>
              </p:cNvPr>
              <p:cNvSpPr txBox="1"/>
              <p:nvPr/>
            </p:nvSpPr>
            <p:spPr>
              <a:xfrm>
                <a:off x="621723" y="218208"/>
                <a:ext cx="10948554" cy="7019999"/>
              </a:xfrm>
              <a:prstGeom prst="rect">
                <a:avLst/>
              </a:prstGeom>
              <a:noFill/>
            </p:spPr>
            <p:txBody>
              <a:bodyPr wrap="square" rtlCol="0">
                <a:spAutoFit/>
              </a:bodyPr>
              <a:lstStyle/>
              <a:p>
                <a:pPr marL="0" marR="0">
                  <a:lnSpc>
                    <a:spcPct val="107000"/>
                  </a:lnSpc>
                  <a:spcAft>
                    <a:spcPts val="800"/>
                  </a:spcAft>
                </a:pPr>
                <a:r>
                  <a:rPr lang="en-US" sz="2400" b="1"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Worst Case (</a:t>
                </a:r>
                <a14:m>
                  <m:oMath xmlns:m="http://schemas.openxmlformats.org/officeDocument/2006/math">
                    <m:r>
                      <a:rPr lang="en-GB" sz="24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𝜽</m:t>
                    </m:r>
                  </m:oMath>
                </a14:m>
                <a:r>
                  <a:rPr lang="en-US" sz="2400" b="1"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(n²)) :</a:t>
                </a:r>
                <a:endParaRPr lang="en-US" sz="24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Aft>
                    <a:spcPts val="800"/>
                  </a:spcAft>
                  <a:buSzPts val="1000"/>
                  <a:buFont typeface="Symbol" panose="05050102010706020507" pitchFamily="18" charset="2"/>
                  <a:buChar char=""/>
                  <a:tabLst>
                    <a:tab pos="457200" algn="l"/>
                  </a:tabLst>
                </a:pPr>
                <a:r>
                  <a:rPr lang="en-US" sz="2400" b="1" kern="1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Scenario </a:t>
                </a:r>
                <a:r>
                  <a:rPr lang="en-US" sz="2400" kern="1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The array is sorted in reverse order.</a:t>
                </a:r>
              </a:p>
              <a:p>
                <a:pPr marL="342900" marR="0" lvl="0" indent="-342900">
                  <a:lnSpc>
                    <a:spcPct val="107000"/>
                  </a:lnSpc>
                  <a:spcAft>
                    <a:spcPts val="800"/>
                  </a:spcAft>
                  <a:buSzPts val="1000"/>
                  <a:buFont typeface="Symbol" panose="05050102010706020507" pitchFamily="18" charset="2"/>
                  <a:buChar char=""/>
                  <a:tabLst>
                    <a:tab pos="457200" algn="l"/>
                  </a:tabLst>
                </a:pPr>
                <a:r>
                  <a:rPr lang="en-US" sz="2400" b="1" kern="1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Complexity </a:t>
                </a:r>
                <a:r>
                  <a:rPr lang="en-US" sz="2400" kern="1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The total number of comparisons and swaps is proportional to the sum of the first n - 1 integers, resulting in </a:t>
                </a:r>
                <a14:m>
                  <m:oMath xmlns:m="http://schemas.openxmlformats.org/officeDocument/2006/math">
                    <m:r>
                      <m:rPr>
                        <m:sty m:val="p"/>
                      </m:rPr>
                      <a:rPr lang="en-GB" sz="2400" b="0" i="0"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θ</m:t>
                    </m:r>
                  </m:oMath>
                </a14:m>
                <a:r>
                  <a:rPr lang="en-US" sz="2400" kern="1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(n²) time complexity.</a:t>
                </a:r>
                <a:endParaRPr lang="en-US" sz="24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Aft>
                    <a:spcPts val="800"/>
                  </a:spcAft>
                </a:pPr>
                <a:r>
                  <a:rPr lang="en-US" sz="2400" b="1"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Average Case (</a:t>
                </a:r>
                <a14:m>
                  <m:oMath xmlns:m="http://schemas.openxmlformats.org/officeDocument/2006/math">
                    <m:r>
                      <a:rPr lang="en-GB" sz="24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𝜽</m:t>
                    </m:r>
                  </m:oMath>
                </a14:m>
                <a:r>
                  <a:rPr lang="en-US" sz="2400" b="1"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(n²)) :</a:t>
                </a:r>
                <a:endParaRPr lang="en-US" sz="24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Aft>
                    <a:spcPts val="800"/>
                  </a:spcAft>
                  <a:buSzPts val="1000"/>
                  <a:buFont typeface="Symbol" panose="05050102010706020507" pitchFamily="18" charset="2"/>
                  <a:buChar char=""/>
                  <a:tabLst>
                    <a:tab pos="457200" algn="l"/>
                  </a:tabLst>
                </a:pPr>
                <a:r>
                  <a:rPr lang="en-US" sz="2400" b="1" kern="1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Scenario </a:t>
                </a:r>
                <a:r>
                  <a:rPr lang="en-US" sz="2400" kern="1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The array is in a random order.</a:t>
                </a:r>
              </a:p>
              <a:p>
                <a:pPr marL="342900" marR="0" lvl="0" indent="-342900">
                  <a:lnSpc>
                    <a:spcPct val="107000"/>
                  </a:lnSpc>
                  <a:spcAft>
                    <a:spcPts val="800"/>
                  </a:spcAft>
                  <a:buSzPts val="1000"/>
                  <a:buFont typeface="Symbol" panose="05050102010706020507" pitchFamily="18" charset="2"/>
                  <a:buChar char=""/>
                  <a:tabLst>
                    <a:tab pos="457200" algn="l"/>
                  </a:tabLst>
                </a:pPr>
                <a:r>
                  <a:rPr lang="en-US" sz="2400" b="1" kern="1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Complexity </a:t>
                </a:r>
                <a:r>
                  <a:rPr lang="en-US" sz="2400" kern="1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Thus, the average-case time complexity is also </a:t>
                </a:r>
                <a14:m>
                  <m:oMath xmlns:m="http://schemas.openxmlformats.org/officeDocument/2006/math">
                    <m:r>
                      <a:rPr lang="en-GB" sz="24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𝜃</m:t>
                    </m:r>
                  </m:oMath>
                </a14:m>
                <a:r>
                  <a:rPr lang="en-US" sz="2400" kern="1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(n²).</a:t>
                </a:r>
              </a:p>
              <a:p>
                <a:pPr marL="0" marR="0">
                  <a:lnSpc>
                    <a:spcPct val="107000"/>
                  </a:lnSpc>
                  <a:spcAft>
                    <a:spcPts val="800"/>
                  </a:spcAft>
                </a:pPr>
                <a:r>
                  <a:rPr lang="en-US" sz="2400" b="1"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Summary :</a:t>
                </a:r>
                <a:endParaRPr lang="en-US" sz="24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Aft>
                    <a:spcPts val="800"/>
                  </a:spcAft>
                  <a:buSzPts val="1000"/>
                  <a:buFont typeface="Symbol" panose="05050102010706020507" pitchFamily="18" charset="2"/>
                  <a:buChar char=""/>
                  <a:tabLst>
                    <a:tab pos="457200" algn="l"/>
                  </a:tabLst>
                </a:pPr>
                <a:r>
                  <a:rPr lang="en-US" sz="2400" b="1" kern="1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Best Case </a:t>
                </a:r>
                <a:r>
                  <a:rPr lang="en-US" sz="2400" kern="1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a:t>
                </a:r>
                <a14:m>
                  <m:oMath xmlns:m="http://schemas.openxmlformats.org/officeDocument/2006/math">
                    <m:r>
                      <a:rPr lang="en-GB" sz="24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𝜃</m:t>
                    </m:r>
                  </m:oMath>
                </a14:m>
                <a:r>
                  <a:rPr lang="en-US" sz="2400" kern="1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(n) (already sorted array with early termination).</a:t>
                </a:r>
              </a:p>
              <a:p>
                <a:pPr marL="342900" marR="0" lvl="0" indent="-342900">
                  <a:lnSpc>
                    <a:spcPct val="107000"/>
                  </a:lnSpc>
                  <a:spcAft>
                    <a:spcPts val="800"/>
                  </a:spcAft>
                  <a:buSzPts val="1000"/>
                  <a:buFont typeface="Symbol" panose="05050102010706020507" pitchFamily="18" charset="2"/>
                  <a:buChar char=""/>
                  <a:tabLst>
                    <a:tab pos="457200" algn="l"/>
                  </a:tabLst>
                </a:pPr>
                <a:r>
                  <a:rPr lang="en-US" sz="2400" b="1" kern="1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Average and Worst Cases </a:t>
                </a:r>
                <a:r>
                  <a:rPr lang="en-US" sz="2400" kern="1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a:t>
                </a:r>
                <a14:m>
                  <m:oMath xmlns:m="http://schemas.openxmlformats.org/officeDocument/2006/math">
                    <m:r>
                      <a:rPr lang="en-GB" sz="24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𝜃</m:t>
                    </m:r>
                  </m:oMath>
                </a14:m>
                <a:r>
                  <a:rPr lang="en-US" sz="2400" kern="1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(n²) (when the array is randomly ordered or in reverse order).</a:t>
                </a:r>
              </a:p>
              <a:p>
                <a:pPr marL="0" marR="0">
                  <a:lnSpc>
                    <a:spcPct val="107000"/>
                  </a:lnSpc>
                  <a:spcAft>
                    <a:spcPts val="800"/>
                  </a:spcAft>
                </a:pPr>
                <a:r>
                  <a:rPr lang="en-US" sz="2400" kern="1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Bubble Sort has a quadratic time complexity in most cases, making it inefficient for large datasets. Despite its simplicity, it is generally not used for practical purposes on large inputs.</a:t>
                </a:r>
              </a:p>
              <a:p>
                <a:endParaRPr lang="en-US" sz="2400" dirty="0">
                  <a:solidFill>
                    <a:srgbClr val="002060"/>
                  </a:solidFill>
                </a:endParaRPr>
              </a:p>
            </p:txBody>
          </p:sp>
        </mc:Choice>
        <mc:Fallback xmlns="">
          <p:sp>
            <p:nvSpPr>
              <p:cNvPr id="2" name="TextBox 1">
                <a:extLst>
                  <a:ext uri="{FF2B5EF4-FFF2-40B4-BE49-F238E27FC236}">
                    <a16:creationId xmlns:a16="http://schemas.microsoft.com/office/drawing/2014/main" id="{EF48C65E-E3B6-FD20-9026-C657305548EF}"/>
                  </a:ext>
                </a:extLst>
              </p:cNvPr>
              <p:cNvSpPr txBox="1">
                <a:spLocks noRot="1" noChangeAspect="1" noMove="1" noResize="1" noEditPoints="1" noAdjustHandles="1" noChangeArrowheads="1" noChangeShapeType="1" noTextEdit="1"/>
              </p:cNvSpPr>
              <p:nvPr/>
            </p:nvSpPr>
            <p:spPr>
              <a:xfrm>
                <a:off x="621723" y="218208"/>
                <a:ext cx="10948554" cy="7019999"/>
              </a:xfrm>
              <a:prstGeom prst="rect">
                <a:avLst/>
              </a:prstGeom>
              <a:blipFill>
                <a:blip r:embed="rId2"/>
                <a:stretch>
                  <a:fillRect l="-891" t="-608" r="-1225"/>
                </a:stretch>
              </a:blipFill>
            </p:spPr>
            <p:txBody>
              <a:bodyPr/>
              <a:lstStyle/>
              <a:p>
                <a:r>
                  <a:rPr lang="en-US">
                    <a:noFill/>
                  </a:rPr>
                  <a:t> </a:t>
                </a:r>
              </a:p>
            </p:txBody>
          </p:sp>
        </mc:Fallback>
      </mc:AlternateContent>
    </p:spTree>
    <p:extLst>
      <p:ext uri="{BB962C8B-B14F-4D97-AF65-F5344CB8AC3E}">
        <p14:creationId xmlns:p14="http://schemas.microsoft.com/office/powerpoint/2010/main" val="26793096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B3FB3-7828-342E-91D3-F1482BA915BF}"/>
              </a:ext>
            </a:extLst>
          </p:cNvPr>
          <p:cNvSpPr>
            <a:spLocks noGrp="1"/>
          </p:cNvSpPr>
          <p:nvPr>
            <p:ph type="title"/>
          </p:nvPr>
        </p:nvSpPr>
        <p:spPr/>
        <p:txBody>
          <a:bodyPr/>
          <a:lstStyle/>
          <a:p>
            <a:r>
              <a:rPr lang="en-US" dirty="0">
                <a:solidFill>
                  <a:srgbClr val="FF0000"/>
                </a:solidFill>
              </a:rPr>
              <a:t>Conclusion</a:t>
            </a:r>
          </a:p>
        </p:txBody>
      </p:sp>
      <p:sp>
        <p:nvSpPr>
          <p:cNvPr id="3" name="Content Placeholder 2">
            <a:extLst>
              <a:ext uri="{FF2B5EF4-FFF2-40B4-BE49-F238E27FC236}">
                <a16:creationId xmlns:a16="http://schemas.microsoft.com/office/drawing/2014/main" id="{CEFB9321-908E-1CD0-FA68-829D4061C0CE}"/>
              </a:ext>
            </a:extLst>
          </p:cNvPr>
          <p:cNvSpPr>
            <a:spLocks noGrp="1"/>
          </p:cNvSpPr>
          <p:nvPr>
            <p:ph idx="1"/>
          </p:nvPr>
        </p:nvSpPr>
        <p:spPr/>
        <p:txBody>
          <a:bodyPr/>
          <a:lstStyle/>
          <a:p>
            <a:r>
              <a:rPr lang="en-GB" dirty="0">
                <a:solidFill>
                  <a:srgbClr val="002060"/>
                </a:solidFill>
              </a:rPr>
              <a:t>Big Theta notation is an essential tool in algorithm analysis because it gives a precise characterization of the time complexity of an algorithm. It helps developers and computer scientists make informed decisions about which algorithms to use based on their efficiency and scalability. By providing a clear understanding of how an algorithm will perform as the input size grows, Big Theta notation plays a critical role in the development of efficient software systems and in the field of computational complexity theory.</a:t>
            </a:r>
            <a:endParaRPr lang="en-US" dirty="0">
              <a:solidFill>
                <a:srgbClr val="002060"/>
              </a:solidFill>
            </a:endParaRPr>
          </a:p>
        </p:txBody>
      </p:sp>
    </p:spTree>
    <p:extLst>
      <p:ext uri="{BB962C8B-B14F-4D97-AF65-F5344CB8AC3E}">
        <p14:creationId xmlns:p14="http://schemas.microsoft.com/office/powerpoint/2010/main" val="10017547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250</TotalTime>
  <Words>912</Words>
  <Application>Microsoft Office PowerPoint</Application>
  <PresentationFormat>Widescreen</PresentationFormat>
  <Paragraphs>88</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Calibri</vt:lpstr>
      <vt:lpstr>Calibri Light</vt:lpstr>
      <vt:lpstr>Cambria Math</vt:lpstr>
      <vt:lpstr>Symbol</vt:lpstr>
      <vt:lpstr>Wingdings</vt:lpstr>
      <vt:lpstr>Office Theme</vt:lpstr>
      <vt:lpstr>  </vt:lpstr>
      <vt:lpstr>                       INTRODUCTION</vt:lpstr>
      <vt:lpstr>The Big Theta (θ) Notation</vt:lpstr>
      <vt:lpstr>PowerPoint Presentation</vt:lpstr>
      <vt:lpstr>Objective of big theta (θ) notation</vt:lpstr>
      <vt:lpstr>Bubble Sort</vt:lpstr>
      <vt:lpstr>Discussion of Bubble Sort Complexity in Big Theta (θ)  </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RAZU</dc:creator>
  <cp:lastModifiedBy>RAZU</cp:lastModifiedBy>
  <cp:revision>49</cp:revision>
  <dcterms:created xsi:type="dcterms:W3CDTF">2024-12-25T11:03:36Z</dcterms:created>
  <dcterms:modified xsi:type="dcterms:W3CDTF">2024-12-27T10:06:30Z</dcterms:modified>
</cp:coreProperties>
</file>