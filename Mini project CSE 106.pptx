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70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12192000" cy="6858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8" d="100"/>
          <a:sy n="78" d="100"/>
        </p:scale>
        <p:origin x="850" y="62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-3175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5760" y="0"/>
                </a:moveTo>
                <a:lnTo>
                  <a:pt x="0" y="0"/>
                </a:lnTo>
                <a:lnTo>
                  <a:pt x="0" y="3090"/>
                </a:lnTo>
                <a:lnTo>
                  <a:pt x="943" y="3090"/>
                </a:lnTo>
                <a:lnTo>
                  <a:pt x="1123" y="3270"/>
                </a:lnTo>
                <a:lnTo>
                  <a:pt x="1123" y="3270"/>
                </a:lnTo>
                <a:lnTo>
                  <a:pt x="1127" y="3272"/>
                </a:lnTo>
                <a:lnTo>
                  <a:pt x="1133" y="3275"/>
                </a:lnTo>
                <a:lnTo>
                  <a:pt x="1139" y="3278"/>
                </a:lnTo>
                <a:lnTo>
                  <a:pt x="1144" y="3278"/>
                </a:lnTo>
                <a:lnTo>
                  <a:pt x="1150" y="3278"/>
                </a:lnTo>
                <a:lnTo>
                  <a:pt x="1155" y="3275"/>
                </a:lnTo>
                <a:lnTo>
                  <a:pt x="1161" y="3272"/>
                </a:lnTo>
                <a:lnTo>
                  <a:pt x="1165" y="3270"/>
                </a:lnTo>
                <a:lnTo>
                  <a:pt x="1345" y="3090"/>
                </a:lnTo>
                <a:lnTo>
                  <a:pt x="5760" y="3090"/>
                </a:lnTo>
                <a:lnTo>
                  <a:pt x="5760" y="0"/>
                </a:lnTo>
                <a:close/>
              </a:path>
            </a:pathLst>
          </a:custGeom>
          <a:ln/>
          <a:effectLst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10001" y="1449147"/>
            <a:ext cx="10572000" cy="2971051"/>
          </a:xfrm>
        </p:spPr>
        <p:txBody>
          <a:bodyPr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10001" y="5280847"/>
            <a:ext cx="10572000" cy="434974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22-Jan-25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11151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8712" y="2222287"/>
            <a:ext cx="10554574" cy="36365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22-Jan-25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60680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7"/>
          <p:cNvSpPr/>
          <p:nvPr/>
        </p:nvSpPr>
        <p:spPr bwMode="auto">
          <a:xfrm>
            <a:off x="0" y="1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0" y="0"/>
                </a:moveTo>
                <a:lnTo>
                  <a:pt x="5760" y="0"/>
                </a:lnTo>
                <a:lnTo>
                  <a:pt x="5760" y="3090"/>
                </a:lnTo>
                <a:lnTo>
                  <a:pt x="4817" y="3090"/>
                </a:lnTo>
                <a:lnTo>
                  <a:pt x="4637" y="3270"/>
                </a:lnTo>
                <a:lnTo>
                  <a:pt x="4637" y="3270"/>
                </a:lnTo>
                <a:lnTo>
                  <a:pt x="4633" y="3272"/>
                </a:lnTo>
                <a:lnTo>
                  <a:pt x="4627" y="3275"/>
                </a:lnTo>
                <a:lnTo>
                  <a:pt x="4621" y="3278"/>
                </a:lnTo>
                <a:lnTo>
                  <a:pt x="4616" y="3278"/>
                </a:lnTo>
                <a:lnTo>
                  <a:pt x="4610" y="3278"/>
                </a:lnTo>
                <a:lnTo>
                  <a:pt x="4605" y="3275"/>
                </a:lnTo>
                <a:lnTo>
                  <a:pt x="4599" y="3272"/>
                </a:lnTo>
                <a:lnTo>
                  <a:pt x="4595" y="3270"/>
                </a:lnTo>
                <a:lnTo>
                  <a:pt x="4415" y="3090"/>
                </a:lnTo>
                <a:lnTo>
                  <a:pt x="0" y="309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2951396"/>
            <a:ext cx="10561418" cy="1468800"/>
          </a:xfrm>
        </p:spPr>
        <p:txBody>
          <a:bodyPr anchor="b"/>
          <a:lstStyle>
            <a:lvl1pPr algn="r">
              <a:defRPr sz="4800" b="1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000" y="5281201"/>
            <a:ext cx="10561418" cy="433955"/>
          </a:xfrm>
        </p:spPr>
        <p:txBody>
          <a:bodyPr anchor="t">
            <a:no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22-Jan-25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65532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8712" y="2222287"/>
            <a:ext cx="5185873" cy="3638763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7415" y="2222287"/>
            <a:ext cx="5194583" cy="3638764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22-Jan-25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51404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4728" y="2174875"/>
            <a:ext cx="5189857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14729" y="2751138"/>
            <a:ext cx="5189856" cy="3109913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7415" y="2174875"/>
            <a:ext cx="5194583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7415" y="2751138"/>
            <a:ext cx="5194583" cy="3109913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22-Jan-25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50936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22-Jan-25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73162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22-Jan-25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74363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1073151" y="446087"/>
            <a:ext cx="3547533" cy="1814651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3151" y="446088"/>
            <a:ext cx="3547533" cy="1618396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446088"/>
            <a:ext cx="6252633" cy="5414963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73151" y="2260738"/>
            <a:ext cx="3547533" cy="3600311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22-Jan-25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23293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4728" y="727522"/>
            <a:ext cx="4852988" cy="1617163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Picture Placeholder 11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6098117" y="0"/>
            <a:ext cx="6093883" cy="6858000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noFill/>
          <a:ln w="9525">
            <a:solidFill>
              <a:schemeClr val="tx2"/>
            </a:solidFill>
            <a:round/>
            <a:headEnd/>
            <a:tailEnd/>
          </a:ln>
          <a:effectLst/>
        </p:spPr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algn="ctr">
              <a:buFontTx/>
              <a:buNone/>
              <a:defRPr sz="14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4728" y="2344684"/>
            <a:ext cx="4852988" cy="3516365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3885810" y="6041362"/>
            <a:ext cx="976879" cy="365125"/>
          </a:xfrm>
        </p:spPr>
        <p:txBody>
          <a:bodyPr/>
          <a:lstStyle/>
          <a:p>
            <a:fld id="{1D8BD707-D9CF-40AE-B4C6-C98DA3205C09}" type="datetimeFigureOut">
              <a:rPr lang="en-US" smtClean="0"/>
              <a:t>22-Jan-25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90396" y="6041362"/>
            <a:ext cx="3295413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862689" y="5915888"/>
            <a:ext cx="1062155" cy="490599"/>
          </a:xfrm>
        </p:spPr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16176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800600"/>
            <a:ext cx="10561418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Picture Placeholder 14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0" y="0"/>
            <a:ext cx="12192000" cy="4800600"/>
          </a:xfrm>
          <a:custGeom>
            <a:avLst/>
            <a:gdLst/>
            <a:ahLst/>
            <a:cxnLst/>
            <a:rect l="0" t="0" r="r" b="b"/>
            <a:pathLst>
              <a:path w="5760" h="3289">
                <a:moveTo>
                  <a:pt x="5760" y="0"/>
                </a:moveTo>
                <a:lnTo>
                  <a:pt x="0" y="0"/>
                </a:lnTo>
                <a:lnTo>
                  <a:pt x="0" y="3100"/>
                </a:lnTo>
                <a:lnTo>
                  <a:pt x="943" y="3100"/>
                </a:lnTo>
                <a:lnTo>
                  <a:pt x="1123" y="3281"/>
                </a:lnTo>
                <a:lnTo>
                  <a:pt x="1123" y="3281"/>
                </a:lnTo>
                <a:lnTo>
                  <a:pt x="1127" y="3283"/>
                </a:lnTo>
                <a:lnTo>
                  <a:pt x="1133" y="3286"/>
                </a:lnTo>
                <a:lnTo>
                  <a:pt x="1139" y="3289"/>
                </a:lnTo>
                <a:lnTo>
                  <a:pt x="1144" y="3289"/>
                </a:lnTo>
                <a:lnTo>
                  <a:pt x="1150" y="3289"/>
                </a:lnTo>
                <a:lnTo>
                  <a:pt x="1155" y="3286"/>
                </a:lnTo>
                <a:lnTo>
                  <a:pt x="1161" y="3283"/>
                </a:lnTo>
                <a:lnTo>
                  <a:pt x="1165" y="3281"/>
                </a:lnTo>
                <a:lnTo>
                  <a:pt x="1345" y="3100"/>
                </a:lnTo>
                <a:lnTo>
                  <a:pt x="5760" y="3100"/>
                </a:lnTo>
                <a:lnTo>
                  <a:pt x="5760" y="0"/>
                </a:lnTo>
                <a:close/>
              </a:path>
            </a:pathLst>
          </a:custGeom>
          <a:noFill/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marL="0" indent="0" algn="ctr">
              <a:buFontTx/>
              <a:buNone/>
              <a:defRPr sz="16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0000" y="5367338"/>
            <a:ext cx="10561418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22-Jan-25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0890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>
            <a:spLocks noChangeAspect="1"/>
          </p:cNvSpPr>
          <p:nvPr/>
        </p:nvSpPr>
        <p:spPr bwMode="auto">
          <a:xfrm>
            <a:off x="631697" y="1081456"/>
            <a:ext cx="6332416" cy="3239188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0985" y="1238502"/>
            <a:ext cx="5893840" cy="2645912"/>
          </a:xfrm>
        </p:spPr>
        <p:txBody>
          <a:bodyPr anchor="b"/>
          <a:lstStyle>
            <a:lvl1pPr algn="l">
              <a:defRPr sz="4200" b="1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3190" y="4443680"/>
            <a:ext cx="5891636" cy="713241"/>
          </a:xfrm>
        </p:spPr>
        <p:txBody>
          <a:bodyPr anchor="t">
            <a:no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7574642" y="1081456"/>
            <a:ext cx="3810001" cy="4075465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22-Jan-25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118893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 6"/>
          <p:cNvSpPr>
            <a:spLocks noChangeAspect="1"/>
          </p:cNvSpPr>
          <p:nvPr/>
        </p:nvSpPr>
        <p:spPr bwMode="auto">
          <a:xfrm>
            <a:off x="1140884" y="2286585"/>
            <a:ext cx="4895115" cy="2503972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38" name="Title 1"/>
          <p:cNvSpPr>
            <a:spLocks noGrp="1"/>
          </p:cNvSpPr>
          <p:nvPr>
            <p:ph type="title"/>
          </p:nvPr>
        </p:nvSpPr>
        <p:spPr>
          <a:xfrm>
            <a:off x="1357089" y="2435957"/>
            <a:ext cx="4382521" cy="2007789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6156000" y="2286000"/>
            <a:ext cx="4880300" cy="2295525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22-Jan-25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883693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22-Jan-25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401333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7669651" y="446089"/>
            <a:ext cx="4522349" cy="5414962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183540" y="586171"/>
            <a:ext cx="2494791" cy="51347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0001" y="446089"/>
            <a:ext cx="6611540" cy="5414962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22-Jan-25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26985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effectLst>
            <a:outerShdw blurRad="50800" dir="14400000">
              <a:srgbClr val="000000">
                <a:alpha val="60000"/>
              </a:srgbClr>
            </a:outerShdw>
          </a:effectLst>
        </p:spPr>
        <p:txBody>
          <a:bodyPr vert="horz" lIns="91440" tIns="45720" rIns="91440" bIns="45720" rtlCol="0" anchor="b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000" y="2184401"/>
            <a:ext cx="10563285" cy="3674397"/>
          </a:xfrm>
          <a:prstGeom prst="rect">
            <a:avLst/>
          </a:prstGeom>
          <a:effectLst>
            <a:outerShdw blurRad="50800" dir="14400000">
              <a:srgbClr val="000000">
                <a:alpha val="40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1514" y="6041362"/>
            <a:ext cx="8644320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334626" y="6041362"/>
            <a:ext cx="1343706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1D8BD707-D9CF-40AE-B4C6-C98DA3205C09}" type="datetimeFigureOut">
              <a:rPr lang="en-US" smtClean="0"/>
              <a:t>22-Jan-25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78331" y="5915888"/>
            <a:ext cx="1062155" cy="490599"/>
          </a:xfrm>
          <a:prstGeom prst="rect">
            <a:avLst/>
          </a:prstGeom>
        </p:spPr>
        <p:txBody>
          <a:bodyPr vert="horz" lIns="91440" tIns="45720" rIns="91440" bIns="10800" rtlCol="0" anchor="b"/>
          <a:lstStyle>
            <a:lvl1pPr algn="r">
              <a:defRPr sz="2000">
                <a:solidFill>
                  <a:schemeClr val="accent1"/>
                </a:solidFill>
              </a:defRPr>
            </a:lvl1pPr>
          </a:lstStyle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684653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  <p:sldLayoutId id="2147483720" r:id="rId12"/>
    <p:sldLayoutId id="2147483721" r:id="rId13"/>
    <p:sldLayoutId id="2147483722" r:id="rId14"/>
  </p:sldLayoutIdLst>
  <p:txStyles>
    <p:titleStyle>
      <a:lvl1pPr algn="l" defTabSz="457200" rtl="0" eaLnBrk="1" latinLnBrk="0" hangingPunct="1">
        <a:spcBef>
          <a:spcPct val="0"/>
        </a:spcBef>
        <a:buNone/>
        <a:defRPr sz="4000" b="1" kern="1200">
          <a:solidFill>
            <a:srgbClr val="FEFEFE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4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36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12" Type="http://schemas.openxmlformats.org/officeDocument/2006/relationships/image" Target="../media/image25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11" Type="http://schemas.openxmlformats.org/officeDocument/2006/relationships/image" Target="../media/image24.png"/><Relationship Id="rId5" Type="http://schemas.openxmlformats.org/officeDocument/2006/relationships/image" Target="../media/image18.png"/><Relationship Id="rId10" Type="http://schemas.openxmlformats.org/officeDocument/2006/relationships/image" Target="../media/image23.png"/><Relationship Id="rId4" Type="http://schemas.openxmlformats.org/officeDocument/2006/relationships/image" Target="../media/image17.png"/><Relationship Id="rId9" Type="http://schemas.openxmlformats.org/officeDocument/2006/relationships/image" Target="../media/image22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7" Type="http://schemas.openxmlformats.org/officeDocument/2006/relationships/image" Target="../media/image39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9"/>
          <p:cNvSpPr txBox="1">
            <a:spLocks noGrp="1"/>
          </p:cNvSpPr>
          <p:nvPr>
            <p:ph type="title"/>
          </p:nvPr>
        </p:nvSpPr>
        <p:spPr>
          <a:xfrm>
            <a:off x="4352035" y="2558842"/>
            <a:ext cx="3496945" cy="75148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4800" dirty="0"/>
              <a:t>Mini Project</a:t>
            </a:r>
            <a:endParaRPr sz="4800" dirty="0"/>
          </a:p>
        </p:txBody>
      </p:sp>
      <p:sp>
        <p:nvSpPr>
          <p:cNvPr id="10" name="object 10"/>
          <p:cNvSpPr txBox="1"/>
          <p:nvPr/>
        </p:nvSpPr>
        <p:spPr>
          <a:xfrm>
            <a:off x="4152900" y="3657600"/>
            <a:ext cx="3886200" cy="2801088"/>
          </a:xfrm>
          <a:prstGeom prst="rect">
            <a:avLst/>
          </a:prstGeom>
        </p:spPr>
        <p:txBody>
          <a:bodyPr vert="horz" wrap="square" lIns="0" tIns="889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700"/>
              </a:spcBef>
            </a:pPr>
            <a:r>
              <a:rPr lang="en-GB" sz="2400" dirty="0">
                <a:latin typeface="Candara"/>
                <a:cs typeface="Candara"/>
              </a:rPr>
              <a:t>Group</a:t>
            </a:r>
            <a:r>
              <a:rPr lang="en-GB" sz="2400" spc="-25" dirty="0">
                <a:latin typeface="Candara"/>
                <a:cs typeface="Candara"/>
              </a:rPr>
              <a:t> </a:t>
            </a:r>
            <a:r>
              <a:rPr lang="en-GB" sz="2400" dirty="0">
                <a:latin typeface="Candara"/>
                <a:cs typeface="Candara"/>
              </a:rPr>
              <a:t>:</a:t>
            </a:r>
            <a:r>
              <a:rPr lang="en-GB" sz="2400" spc="-30" dirty="0">
                <a:latin typeface="Candara"/>
                <a:cs typeface="Candara"/>
              </a:rPr>
              <a:t> </a:t>
            </a:r>
            <a:r>
              <a:rPr lang="en-GB" sz="2400" dirty="0">
                <a:latin typeface="Candara"/>
                <a:cs typeface="Candara"/>
              </a:rPr>
              <a:t>07</a:t>
            </a:r>
            <a:r>
              <a:rPr lang="en-GB" sz="2400" spc="-25" dirty="0">
                <a:latin typeface="Candara"/>
                <a:cs typeface="Candara"/>
              </a:rPr>
              <a:t> </a:t>
            </a:r>
            <a:r>
              <a:rPr lang="en-GB" sz="2400" dirty="0">
                <a:latin typeface="Candara"/>
                <a:cs typeface="Candara"/>
              </a:rPr>
              <a:t>(Mini</a:t>
            </a:r>
            <a:r>
              <a:rPr lang="en-GB" sz="2400" spc="-35" dirty="0">
                <a:latin typeface="Candara"/>
                <a:cs typeface="Candara"/>
              </a:rPr>
              <a:t> </a:t>
            </a:r>
            <a:r>
              <a:rPr lang="en-GB" sz="2400" dirty="0">
                <a:latin typeface="Candara"/>
                <a:cs typeface="Candara"/>
              </a:rPr>
              <a:t>Project</a:t>
            </a:r>
            <a:r>
              <a:rPr lang="en-GB" sz="2400" spc="-10" dirty="0">
                <a:latin typeface="Candara"/>
                <a:cs typeface="Candara"/>
              </a:rPr>
              <a:t> </a:t>
            </a:r>
            <a:r>
              <a:rPr lang="en-GB" sz="2400" spc="-25" dirty="0">
                <a:latin typeface="Candara"/>
                <a:cs typeface="Candara"/>
              </a:rPr>
              <a:t>1)</a:t>
            </a:r>
            <a:endParaRPr lang="en-GB" sz="2400" dirty="0">
              <a:latin typeface="Candara"/>
              <a:cs typeface="Candara"/>
            </a:endParaRPr>
          </a:p>
          <a:p>
            <a:pPr marL="635" algn="ctr">
              <a:lnSpc>
                <a:spcPct val="100000"/>
              </a:lnSpc>
              <a:spcBef>
                <a:spcPts val="600"/>
              </a:spcBef>
            </a:pPr>
            <a:r>
              <a:rPr lang="en-GB" sz="2400" dirty="0">
                <a:latin typeface="Candara"/>
                <a:cs typeface="Candara"/>
              </a:rPr>
              <a:t>CSE</a:t>
            </a:r>
            <a:r>
              <a:rPr lang="en-GB" sz="2400" spc="-25" dirty="0">
                <a:latin typeface="Candara"/>
                <a:cs typeface="Candara"/>
              </a:rPr>
              <a:t> 106</a:t>
            </a:r>
            <a:endParaRPr lang="en-GB" sz="2400" dirty="0">
              <a:latin typeface="Candara"/>
              <a:cs typeface="Candara"/>
            </a:endParaRPr>
          </a:p>
          <a:p>
            <a:pPr marL="182880" marR="176530" algn="ctr">
              <a:lnSpc>
                <a:spcPct val="131200"/>
              </a:lnSpc>
            </a:pPr>
            <a:r>
              <a:rPr lang="en-GB" sz="2400" dirty="0">
                <a:latin typeface="Candara"/>
                <a:cs typeface="Candara"/>
              </a:rPr>
              <a:t>Discrete</a:t>
            </a:r>
            <a:r>
              <a:rPr lang="en-GB" sz="2400" spc="-60" dirty="0">
                <a:latin typeface="Candara"/>
                <a:cs typeface="Candara"/>
              </a:rPr>
              <a:t> </a:t>
            </a:r>
            <a:r>
              <a:rPr lang="en-GB" sz="2400" spc="-10" dirty="0">
                <a:latin typeface="Candara"/>
                <a:cs typeface="Candara"/>
              </a:rPr>
              <a:t>Mathematics </a:t>
            </a:r>
            <a:r>
              <a:rPr lang="en-GB" sz="2400" dirty="0">
                <a:latin typeface="Candara"/>
                <a:cs typeface="Candara"/>
              </a:rPr>
              <a:t>Section</a:t>
            </a:r>
            <a:r>
              <a:rPr lang="en-GB" sz="2400" spc="-15" dirty="0">
                <a:latin typeface="Candara"/>
                <a:cs typeface="Candara"/>
              </a:rPr>
              <a:t> </a:t>
            </a:r>
            <a:r>
              <a:rPr lang="en-GB" sz="2400" dirty="0">
                <a:latin typeface="Candara"/>
                <a:cs typeface="Candara"/>
              </a:rPr>
              <a:t>:</a:t>
            </a:r>
            <a:r>
              <a:rPr lang="en-GB" sz="2400" spc="-35" dirty="0">
                <a:latin typeface="Candara"/>
                <a:cs typeface="Candara"/>
              </a:rPr>
              <a:t> </a:t>
            </a:r>
            <a:r>
              <a:rPr lang="en-GB" sz="2400" spc="-25" dirty="0">
                <a:latin typeface="Candara"/>
                <a:cs typeface="Candara"/>
              </a:rPr>
              <a:t>06</a:t>
            </a:r>
          </a:p>
          <a:p>
            <a:pPr marL="182880" marR="176530" algn="ctr">
              <a:lnSpc>
                <a:spcPct val="131200"/>
              </a:lnSpc>
            </a:pPr>
            <a:r>
              <a:rPr lang="en-GB" sz="2400" spc="-25" dirty="0">
                <a:latin typeface="Candara"/>
                <a:cs typeface="Candara"/>
              </a:rPr>
              <a:t>Topic Name : Directed Graph</a:t>
            </a:r>
            <a:endParaRPr lang="en-GB" sz="2400" dirty="0">
              <a:latin typeface="Candara"/>
              <a:cs typeface="Candara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5EC2E11-4A31-DA41-D43F-C44264DCA10E}"/>
              </a:ext>
            </a:extLst>
          </p:cNvPr>
          <p:cNvSpPr/>
          <p:nvPr/>
        </p:nvSpPr>
        <p:spPr>
          <a:xfrm>
            <a:off x="0" y="-2458"/>
            <a:ext cx="12192000" cy="68580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bject 9">
            <a:extLst>
              <a:ext uri="{FF2B5EF4-FFF2-40B4-BE49-F238E27FC236}">
                <a16:creationId xmlns:a16="http://schemas.microsoft.com/office/drawing/2014/main" id="{73E18C16-135C-611F-E911-7C0866BEDD61}"/>
              </a:ext>
            </a:extLst>
          </p:cNvPr>
          <p:cNvSpPr txBox="1">
            <a:spLocks/>
          </p:cNvSpPr>
          <p:nvPr/>
        </p:nvSpPr>
        <p:spPr>
          <a:xfrm>
            <a:off x="4504435" y="2711242"/>
            <a:ext cx="3496945" cy="751488"/>
          </a:xfrm>
          <a:prstGeom prst="rect">
            <a:avLst/>
          </a:prstGeom>
          <a:effectLst>
            <a:outerShdw blurRad="50800" dir="14400000">
              <a:srgbClr val="000000">
                <a:alpha val="60000"/>
              </a:srgbClr>
            </a:outerShdw>
          </a:effectLst>
        </p:spPr>
        <p:txBody>
          <a:bodyPr vert="horz" wrap="square" lIns="0" tIns="12700" rIns="0" bIns="0" rtlCol="0" anchor="b">
            <a:sp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000" b="1" kern="1200">
                <a:solidFill>
                  <a:srgbClr val="FEFEFE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marL="12700">
              <a:spcBef>
                <a:spcPts val="100"/>
              </a:spcBef>
            </a:pPr>
            <a:r>
              <a:rPr lang="en-US" sz="4800" dirty="0">
                <a:solidFill>
                  <a:schemeClr val="bg1"/>
                </a:solidFill>
              </a:rPr>
              <a:t>Mini Project</a:t>
            </a:r>
          </a:p>
        </p:txBody>
      </p:sp>
      <p:sp>
        <p:nvSpPr>
          <p:cNvPr id="14" name="object 10">
            <a:extLst>
              <a:ext uri="{FF2B5EF4-FFF2-40B4-BE49-F238E27FC236}">
                <a16:creationId xmlns:a16="http://schemas.microsoft.com/office/drawing/2014/main" id="{B6680A8E-8DF3-D009-DCF1-FCAEAB301840}"/>
              </a:ext>
            </a:extLst>
          </p:cNvPr>
          <p:cNvSpPr txBox="1"/>
          <p:nvPr/>
        </p:nvSpPr>
        <p:spPr>
          <a:xfrm>
            <a:off x="3681157" y="3810000"/>
            <a:ext cx="5143500" cy="2330061"/>
          </a:xfrm>
          <a:prstGeom prst="rect">
            <a:avLst/>
          </a:prstGeom>
        </p:spPr>
        <p:txBody>
          <a:bodyPr vert="horz" wrap="square" lIns="0" tIns="889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700"/>
              </a:spcBef>
            </a:pPr>
            <a:r>
              <a:rPr lang="en-GB" sz="2400" b="1" dirty="0">
                <a:solidFill>
                  <a:schemeClr val="bg1"/>
                </a:solidFill>
                <a:latin typeface="Candara"/>
                <a:cs typeface="Candara"/>
              </a:rPr>
              <a:t>Group</a:t>
            </a:r>
            <a:r>
              <a:rPr lang="en-GB" sz="2400" b="1" spc="-25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400" b="1" dirty="0">
                <a:solidFill>
                  <a:schemeClr val="bg1"/>
                </a:solidFill>
                <a:latin typeface="Candara"/>
                <a:cs typeface="Candara"/>
              </a:rPr>
              <a:t>:</a:t>
            </a:r>
            <a:r>
              <a:rPr lang="en-GB" sz="2400" b="1" spc="-30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400" dirty="0">
                <a:solidFill>
                  <a:schemeClr val="bg1"/>
                </a:solidFill>
                <a:latin typeface="Candara"/>
                <a:cs typeface="Candara"/>
              </a:rPr>
              <a:t>07</a:t>
            </a:r>
            <a:r>
              <a:rPr lang="en-GB" sz="2400" spc="-25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400" dirty="0">
                <a:solidFill>
                  <a:schemeClr val="bg1"/>
                </a:solidFill>
                <a:latin typeface="Candara"/>
                <a:cs typeface="Candara"/>
              </a:rPr>
              <a:t>(Mini</a:t>
            </a:r>
            <a:r>
              <a:rPr lang="en-GB" sz="2400" spc="-35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400" dirty="0">
                <a:solidFill>
                  <a:schemeClr val="bg1"/>
                </a:solidFill>
                <a:latin typeface="Candara"/>
                <a:cs typeface="Candara"/>
              </a:rPr>
              <a:t>Project</a:t>
            </a:r>
            <a:r>
              <a:rPr lang="en-GB" sz="2400" spc="-10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400" spc="-25" dirty="0">
                <a:solidFill>
                  <a:schemeClr val="bg1"/>
                </a:solidFill>
                <a:latin typeface="Candara"/>
                <a:cs typeface="Candara"/>
              </a:rPr>
              <a:t>1)</a:t>
            </a:r>
          </a:p>
          <a:p>
            <a:pPr algn="ctr">
              <a:lnSpc>
                <a:spcPct val="100000"/>
              </a:lnSpc>
              <a:spcBef>
                <a:spcPts val="700"/>
              </a:spcBef>
            </a:pPr>
            <a:r>
              <a:rPr lang="en-GB" sz="2400" b="1" dirty="0">
                <a:solidFill>
                  <a:schemeClr val="bg1"/>
                </a:solidFill>
                <a:latin typeface="Candara"/>
                <a:cs typeface="Candara"/>
              </a:rPr>
              <a:t>Course Code: </a:t>
            </a:r>
            <a:r>
              <a:rPr lang="en-GB" sz="2400" dirty="0">
                <a:solidFill>
                  <a:schemeClr val="bg1"/>
                </a:solidFill>
                <a:latin typeface="Candara"/>
                <a:cs typeface="Candara"/>
              </a:rPr>
              <a:t>CSE</a:t>
            </a:r>
            <a:r>
              <a:rPr lang="en-GB" sz="2400" spc="-25" dirty="0">
                <a:solidFill>
                  <a:schemeClr val="bg1"/>
                </a:solidFill>
                <a:latin typeface="Candara"/>
                <a:cs typeface="Candara"/>
              </a:rPr>
              <a:t> 106</a:t>
            </a:r>
            <a:endParaRPr lang="en-GB" sz="2400" dirty="0">
              <a:solidFill>
                <a:schemeClr val="bg1"/>
              </a:solidFill>
              <a:latin typeface="Candara"/>
              <a:cs typeface="Candara"/>
            </a:endParaRPr>
          </a:p>
          <a:p>
            <a:pPr marL="182880" marR="176530" algn="ctr">
              <a:lnSpc>
                <a:spcPct val="131200"/>
              </a:lnSpc>
            </a:pPr>
            <a:r>
              <a:rPr lang="en-GB" sz="2400" b="1" dirty="0">
                <a:solidFill>
                  <a:schemeClr val="bg1"/>
                </a:solidFill>
                <a:latin typeface="Candara"/>
                <a:cs typeface="Candara"/>
              </a:rPr>
              <a:t>Course Title: </a:t>
            </a:r>
            <a:r>
              <a:rPr lang="en-GB" sz="2400" dirty="0">
                <a:solidFill>
                  <a:schemeClr val="bg1"/>
                </a:solidFill>
                <a:latin typeface="Candara"/>
                <a:cs typeface="Candara"/>
              </a:rPr>
              <a:t>Discrete</a:t>
            </a:r>
            <a:r>
              <a:rPr lang="en-GB" sz="2400" spc="-60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400" spc="-10" dirty="0">
                <a:solidFill>
                  <a:schemeClr val="bg1"/>
                </a:solidFill>
                <a:latin typeface="Candara"/>
                <a:cs typeface="Candara"/>
              </a:rPr>
              <a:t>Mathematics </a:t>
            </a:r>
            <a:r>
              <a:rPr lang="en-GB" sz="2400" b="1" dirty="0">
                <a:solidFill>
                  <a:schemeClr val="bg1"/>
                </a:solidFill>
                <a:latin typeface="Candara"/>
                <a:cs typeface="Candara"/>
              </a:rPr>
              <a:t>Section</a:t>
            </a:r>
            <a:r>
              <a:rPr lang="en-GB" sz="2400" b="1" spc="-15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400" b="1" dirty="0">
                <a:solidFill>
                  <a:schemeClr val="bg1"/>
                </a:solidFill>
                <a:latin typeface="Candara"/>
                <a:cs typeface="Candara"/>
              </a:rPr>
              <a:t>:</a:t>
            </a:r>
            <a:r>
              <a:rPr lang="en-GB" sz="2400" b="1" spc="-35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400" spc="-25" dirty="0">
                <a:solidFill>
                  <a:schemeClr val="bg1"/>
                </a:solidFill>
                <a:latin typeface="Candara"/>
                <a:cs typeface="Candara"/>
              </a:rPr>
              <a:t>06</a:t>
            </a:r>
          </a:p>
          <a:p>
            <a:pPr marL="182880" marR="176530" algn="ctr">
              <a:lnSpc>
                <a:spcPct val="131200"/>
              </a:lnSpc>
            </a:pPr>
            <a:r>
              <a:rPr lang="en-GB" sz="2400" b="1" spc="-25" dirty="0">
                <a:solidFill>
                  <a:schemeClr val="bg1"/>
                </a:solidFill>
                <a:latin typeface="Candara"/>
                <a:cs typeface="Candara"/>
              </a:rPr>
              <a:t>Topic Name : </a:t>
            </a:r>
            <a:r>
              <a:rPr lang="en-GB" sz="2400" spc="-25" dirty="0">
                <a:solidFill>
                  <a:schemeClr val="bg1"/>
                </a:solidFill>
                <a:latin typeface="Candara"/>
                <a:cs typeface="Candara"/>
              </a:rPr>
              <a:t>Directed Graph</a:t>
            </a:r>
            <a:endParaRPr lang="en-GB" sz="2400" dirty="0">
              <a:solidFill>
                <a:schemeClr val="bg1"/>
              </a:solidFill>
              <a:latin typeface="Candara"/>
              <a:cs typeface="Candara"/>
            </a:endParaRPr>
          </a:p>
        </p:txBody>
      </p:sp>
      <p:sp>
        <p:nvSpPr>
          <p:cNvPr id="16" name="Rectangle 2">
            <a:extLst>
              <a:ext uri="{FF2B5EF4-FFF2-40B4-BE49-F238E27FC236}">
                <a16:creationId xmlns:a16="http://schemas.microsoft.com/office/drawing/2014/main" id="{593B7653-98DB-C7C5-C584-F51A41DA79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pic>
        <p:nvPicPr>
          <p:cNvPr id="1025" name="Picture 1" descr="East West University">
            <a:extLst>
              <a:ext uri="{FF2B5EF4-FFF2-40B4-BE49-F238E27FC236}">
                <a16:creationId xmlns:a16="http://schemas.microsoft.com/office/drawing/2014/main" id="{1E19D2EB-EF86-CDD2-1E85-86C183B766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90700" y="553782"/>
            <a:ext cx="8610600" cy="13292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Rectangle 3">
            <a:extLst>
              <a:ext uri="{FF2B5EF4-FFF2-40B4-BE49-F238E27FC236}">
                <a16:creationId xmlns:a16="http://schemas.microsoft.com/office/drawing/2014/main" id="{8EA3C43C-111D-FAB5-AA21-30A6AE4DED8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508125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1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  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2041777" y="3429000"/>
            <a:ext cx="8163559" cy="0"/>
          </a:xfrm>
          <a:custGeom>
            <a:avLst/>
            <a:gdLst/>
            <a:ahLst/>
            <a:cxnLst/>
            <a:rect l="l" t="t" r="r" b="b"/>
            <a:pathLst>
              <a:path w="8163559">
                <a:moveTo>
                  <a:pt x="0" y="0"/>
                </a:moveTo>
                <a:lnTo>
                  <a:pt x="8163433" y="0"/>
                </a:lnTo>
              </a:path>
            </a:pathLst>
          </a:custGeom>
          <a:ln w="15875">
            <a:solidFill>
              <a:srgbClr val="83992A"/>
            </a:solidFill>
          </a:ln>
        </p:spPr>
        <p:txBody>
          <a:bodyPr wrap="square" lIns="0" tIns="0" rIns="0" bIns="0" rtlCol="0"/>
          <a:lstStyle/>
          <a:p>
            <a:pPr algn="ctr"/>
            <a:endParaRPr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4478845" y="998754"/>
            <a:ext cx="2832988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95"/>
              </a:spcBef>
            </a:pPr>
            <a:r>
              <a:rPr lang="en-US" sz="2800" dirty="0">
                <a:latin typeface="Times New Roman"/>
                <a:cs typeface="Times New Roman"/>
              </a:rPr>
              <a:t>SUBMITTED TO</a:t>
            </a:r>
            <a:endParaRPr sz="2800" dirty="0">
              <a:latin typeface="Times New Roman"/>
              <a:cs typeface="Times New Roman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427731" y="2084849"/>
            <a:ext cx="7121525" cy="134415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/>
            <a:r>
              <a:rPr lang="en-US" sz="2800" b="1" dirty="0"/>
              <a:t>Dr. Mohammad Salah Uddin</a:t>
            </a:r>
          </a:p>
          <a:p>
            <a:pPr algn="ctr"/>
            <a:r>
              <a:rPr lang="en-US" sz="2800" dirty="0">
                <a:latin typeface="Times New Roman"/>
                <a:cs typeface="Times New Roman"/>
              </a:rPr>
              <a:t>Associate Professor,</a:t>
            </a:r>
            <a:r>
              <a:rPr lang="en-US" sz="2800" spc="-75" dirty="0">
                <a:latin typeface="Times New Roman"/>
                <a:cs typeface="Times New Roman"/>
              </a:rPr>
              <a:t> </a:t>
            </a:r>
            <a:r>
              <a:rPr lang="en-US" sz="2800" dirty="0">
                <a:latin typeface="Times New Roman"/>
                <a:cs typeface="Times New Roman"/>
              </a:rPr>
              <a:t>CSE</a:t>
            </a:r>
            <a:r>
              <a:rPr lang="en-US" sz="2800" spc="-60" dirty="0">
                <a:latin typeface="Times New Roman"/>
                <a:cs typeface="Times New Roman"/>
              </a:rPr>
              <a:t> </a:t>
            </a:r>
            <a:r>
              <a:rPr lang="en-US" sz="2800" dirty="0">
                <a:latin typeface="Times New Roman"/>
                <a:cs typeface="Times New Roman"/>
              </a:rPr>
              <a:t>Department</a:t>
            </a:r>
          </a:p>
          <a:p>
            <a:pPr algn="ctr"/>
            <a:endParaRPr lang="en-US" sz="2800" b="1" dirty="0"/>
          </a:p>
        </p:txBody>
      </p:sp>
      <p:sp>
        <p:nvSpPr>
          <p:cNvPr id="5" name="object 5"/>
          <p:cNvSpPr txBox="1"/>
          <p:nvPr/>
        </p:nvSpPr>
        <p:spPr>
          <a:xfrm>
            <a:off x="3733800" y="3352800"/>
            <a:ext cx="4323079" cy="2797048"/>
          </a:xfrm>
          <a:prstGeom prst="rect">
            <a:avLst/>
          </a:prstGeom>
        </p:spPr>
        <p:txBody>
          <a:bodyPr vert="horz" wrap="square" lIns="0" tIns="221615" rIns="0" bIns="0" rtlCol="0">
            <a:spAutoFit/>
          </a:bodyPr>
          <a:lstStyle/>
          <a:p>
            <a:pPr marL="1905" algn="ctr">
              <a:lnSpc>
                <a:spcPct val="100000"/>
              </a:lnSpc>
              <a:spcBef>
                <a:spcPts val="1745"/>
              </a:spcBef>
            </a:pPr>
            <a:r>
              <a:rPr lang="en-US" sz="2800" dirty="0">
                <a:latin typeface="Candara"/>
                <a:cs typeface="Candara"/>
              </a:rPr>
              <a:t>SUBMITTED BY</a:t>
            </a:r>
          </a:p>
          <a:p>
            <a:pPr algn="ctr">
              <a:lnSpc>
                <a:spcPct val="100000"/>
              </a:lnSpc>
              <a:spcBef>
                <a:spcPts val="830"/>
              </a:spcBef>
            </a:pPr>
            <a:r>
              <a:rPr lang="en-US" sz="1600" dirty="0">
                <a:latin typeface="Arial Black"/>
                <a:cs typeface="Arial Black"/>
              </a:rPr>
              <a:t>Abdullah Al </a:t>
            </a:r>
            <a:r>
              <a:rPr lang="en-US" sz="1600" dirty="0" err="1">
                <a:latin typeface="Arial Black"/>
                <a:cs typeface="Arial Black"/>
              </a:rPr>
              <a:t>Sahaf</a:t>
            </a:r>
            <a:endParaRPr lang="en-US" sz="1600" dirty="0">
              <a:latin typeface="Arial Black"/>
              <a:cs typeface="Arial Black"/>
            </a:endParaRPr>
          </a:p>
          <a:p>
            <a:pPr marL="635" algn="ctr">
              <a:lnSpc>
                <a:spcPct val="100000"/>
              </a:lnSpc>
              <a:spcBef>
                <a:spcPts val="745"/>
              </a:spcBef>
            </a:pPr>
            <a:r>
              <a:rPr lang="en-US" sz="1600" dirty="0">
                <a:latin typeface="Arial Black"/>
                <a:cs typeface="Arial Black"/>
              </a:rPr>
              <a:t>ID:</a:t>
            </a:r>
            <a:r>
              <a:rPr lang="en-US" sz="1600" spc="70" dirty="0">
                <a:latin typeface="Arial Black"/>
                <a:cs typeface="Arial Black"/>
              </a:rPr>
              <a:t> </a:t>
            </a:r>
            <a:r>
              <a:rPr lang="en-US" sz="1600" spc="-10" dirty="0">
                <a:latin typeface="Arial Black"/>
                <a:cs typeface="Arial Black"/>
              </a:rPr>
              <a:t>2024-3-60-</a:t>
            </a:r>
            <a:r>
              <a:rPr lang="en-US" sz="1600" spc="-25" dirty="0">
                <a:latin typeface="Arial Black"/>
                <a:cs typeface="Arial Black"/>
              </a:rPr>
              <a:t>499</a:t>
            </a:r>
            <a:endParaRPr lang="en-US" sz="1600" dirty="0">
              <a:latin typeface="Arial Black"/>
              <a:cs typeface="Arial Black"/>
            </a:endParaRPr>
          </a:p>
          <a:p>
            <a:pPr marL="375285" marR="366395" algn="ctr">
              <a:lnSpc>
                <a:spcPct val="151700"/>
              </a:lnSpc>
            </a:pPr>
            <a:r>
              <a:rPr lang="en-US" sz="1600" dirty="0">
                <a:latin typeface="Arial Black"/>
                <a:cs typeface="Arial Black"/>
              </a:rPr>
              <a:t>Abdullah Al Shah Nawaz</a:t>
            </a:r>
          </a:p>
          <a:p>
            <a:pPr marL="375285" marR="366395" algn="ctr">
              <a:lnSpc>
                <a:spcPct val="151700"/>
              </a:lnSpc>
            </a:pPr>
            <a:r>
              <a:rPr lang="en-US" sz="1600" dirty="0">
                <a:latin typeface="Arial Black"/>
                <a:cs typeface="Arial Black"/>
              </a:rPr>
              <a:t>ID:</a:t>
            </a:r>
            <a:r>
              <a:rPr lang="en-US" sz="1600" spc="70" dirty="0">
                <a:latin typeface="Arial Black"/>
                <a:cs typeface="Arial Black"/>
              </a:rPr>
              <a:t> </a:t>
            </a:r>
            <a:r>
              <a:rPr lang="en-US" sz="1600" spc="-10" dirty="0">
                <a:latin typeface="Arial Black"/>
                <a:cs typeface="Arial Black"/>
              </a:rPr>
              <a:t>2024-3-60-</a:t>
            </a:r>
            <a:r>
              <a:rPr lang="en-US" sz="1600" spc="-25" dirty="0">
                <a:latin typeface="Arial Black"/>
                <a:cs typeface="Arial Black"/>
              </a:rPr>
              <a:t>502</a:t>
            </a:r>
            <a:endParaRPr lang="en-US" sz="1600" dirty="0">
              <a:latin typeface="Arial Black"/>
              <a:cs typeface="Arial Black"/>
            </a:endParaRPr>
          </a:p>
          <a:p>
            <a:pPr marL="513715" marR="504825" algn="ctr">
              <a:lnSpc>
                <a:spcPct val="151700"/>
              </a:lnSpc>
            </a:pPr>
            <a:r>
              <a:rPr lang="en-US" sz="1600" dirty="0">
                <a:latin typeface="Arial Black"/>
                <a:cs typeface="Arial Black"/>
              </a:rPr>
              <a:t>Md. Arifur Rahman Razu</a:t>
            </a:r>
            <a:endParaRPr lang="en-US" sz="1600" spc="-10" dirty="0">
              <a:latin typeface="Arial Black"/>
              <a:cs typeface="Arial Black"/>
            </a:endParaRPr>
          </a:p>
          <a:p>
            <a:pPr marL="513715" marR="504825" algn="ctr">
              <a:lnSpc>
                <a:spcPct val="151700"/>
              </a:lnSpc>
            </a:pPr>
            <a:r>
              <a:rPr lang="en-US" sz="1600" spc="-10" dirty="0">
                <a:latin typeface="Arial Black"/>
                <a:cs typeface="Arial Black"/>
              </a:rPr>
              <a:t>2024-3-60-</a:t>
            </a:r>
            <a:r>
              <a:rPr lang="en-US" sz="1600" spc="-25" dirty="0">
                <a:latin typeface="Arial Black"/>
                <a:cs typeface="Arial Black"/>
              </a:rPr>
              <a:t>503</a:t>
            </a:r>
            <a:endParaRPr lang="en-US" sz="1600" dirty="0">
              <a:latin typeface="Arial Black"/>
              <a:cs typeface="Arial Black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07720" y="812304"/>
            <a:ext cx="1895094" cy="511289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39495" y="860805"/>
            <a:ext cx="161417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latin typeface="Candara"/>
                <a:cs typeface="Candara"/>
              </a:rPr>
              <a:t>Directed</a:t>
            </a:r>
            <a:r>
              <a:rPr sz="1800" b="1" spc="-60" dirty="0">
                <a:latin typeface="Candara"/>
                <a:cs typeface="Candara"/>
              </a:rPr>
              <a:t> </a:t>
            </a:r>
            <a:r>
              <a:rPr sz="1800" b="1" dirty="0">
                <a:latin typeface="Candara"/>
                <a:cs typeface="Candara"/>
              </a:rPr>
              <a:t>Graph</a:t>
            </a:r>
            <a:r>
              <a:rPr sz="1800" b="1" spc="-40" dirty="0">
                <a:latin typeface="Candara"/>
                <a:cs typeface="Candara"/>
              </a:rPr>
              <a:t> </a:t>
            </a:r>
            <a:r>
              <a:rPr sz="1800" b="1" spc="-50" dirty="0">
                <a:latin typeface="Candara"/>
                <a:cs typeface="Candara"/>
              </a:rPr>
              <a:t>:</a:t>
            </a:r>
            <a:endParaRPr sz="1800" dirty="0">
              <a:latin typeface="Candara"/>
              <a:cs typeface="Candara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939495" y="1409446"/>
            <a:ext cx="716915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Candara"/>
                <a:cs typeface="Candara"/>
              </a:rPr>
              <a:t>A</a:t>
            </a:r>
            <a:r>
              <a:rPr sz="1800" spc="-15" dirty="0">
                <a:latin typeface="Candara"/>
                <a:cs typeface="Candara"/>
              </a:rPr>
              <a:t> </a:t>
            </a:r>
            <a:r>
              <a:rPr sz="1800" dirty="0">
                <a:latin typeface="Candara"/>
                <a:cs typeface="Candara"/>
              </a:rPr>
              <a:t>directed</a:t>
            </a:r>
            <a:r>
              <a:rPr sz="1800" spc="-45" dirty="0">
                <a:latin typeface="Candara"/>
                <a:cs typeface="Candara"/>
              </a:rPr>
              <a:t> </a:t>
            </a:r>
            <a:r>
              <a:rPr sz="1800" dirty="0">
                <a:latin typeface="Candara"/>
                <a:cs typeface="Candara"/>
              </a:rPr>
              <a:t>graph is</a:t>
            </a:r>
            <a:r>
              <a:rPr sz="1800" spc="-30" dirty="0">
                <a:latin typeface="Candara"/>
                <a:cs typeface="Candara"/>
              </a:rPr>
              <a:t> </a:t>
            </a:r>
            <a:r>
              <a:rPr sz="1800" dirty="0">
                <a:latin typeface="Candara"/>
                <a:cs typeface="Candara"/>
              </a:rPr>
              <a:t>defined</a:t>
            </a:r>
            <a:r>
              <a:rPr sz="1800" spc="-40" dirty="0">
                <a:latin typeface="Candara"/>
                <a:cs typeface="Candara"/>
              </a:rPr>
              <a:t> </a:t>
            </a:r>
            <a:r>
              <a:rPr sz="1800" dirty="0">
                <a:latin typeface="Candara"/>
                <a:cs typeface="Candara"/>
              </a:rPr>
              <a:t>by</a:t>
            </a:r>
            <a:r>
              <a:rPr sz="1800" spc="-15" dirty="0">
                <a:latin typeface="Candara"/>
                <a:cs typeface="Candara"/>
              </a:rPr>
              <a:t> </a:t>
            </a:r>
            <a:r>
              <a:rPr sz="1800" dirty="0">
                <a:latin typeface="Candara"/>
                <a:cs typeface="Candara"/>
              </a:rPr>
              <a:t>a</a:t>
            </a:r>
            <a:r>
              <a:rPr sz="1800" spc="-20" dirty="0">
                <a:latin typeface="Candara"/>
                <a:cs typeface="Candara"/>
              </a:rPr>
              <a:t> </a:t>
            </a:r>
            <a:r>
              <a:rPr sz="1800" dirty="0">
                <a:latin typeface="Candara"/>
                <a:cs typeface="Candara"/>
              </a:rPr>
              <a:t>set</a:t>
            </a:r>
            <a:r>
              <a:rPr sz="1800" spc="-15" dirty="0">
                <a:latin typeface="Candara"/>
                <a:cs typeface="Candara"/>
              </a:rPr>
              <a:t> </a:t>
            </a:r>
            <a:r>
              <a:rPr sz="1800" dirty="0">
                <a:latin typeface="Candara"/>
                <a:cs typeface="Candara"/>
              </a:rPr>
              <a:t>of</a:t>
            </a:r>
            <a:r>
              <a:rPr sz="1800" spc="-15" dirty="0">
                <a:latin typeface="Candara"/>
                <a:cs typeface="Candara"/>
              </a:rPr>
              <a:t> </a:t>
            </a:r>
            <a:r>
              <a:rPr sz="1800" dirty="0">
                <a:latin typeface="Candara"/>
                <a:cs typeface="Candara"/>
              </a:rPr>
              <a:t>vertices</a:t>
            </a:r>
            <a:r>
              <a:rPr sz="1800" spc="-35" dirty="0">
                <a:latin typeface="Candara"/>
                <a:cs typeface="Candara"/>
              </a:rPr>
              <a:t> </a:t>
            </a:r>
            <a:r>
              <a:rPr sz="1800" dirty="0">
                <a:latin typeface="Candara"/>
                <a:cs typeface="Candara"/>
              </a:rPr>
              <a:t>and</a:t>
            </a:r>
            <a:r>
              <a:rPr sz="1800" spc="-15" dirty="0">
                <a:latin typeface="Candara"/>
                <a:cs typeface="Candara"/>
              </a:rPr>
              <a:t> </a:t>
            </a:r>
            <a:r>
              <a:rPr sz="1800" dirty="0">
                <a:latin typeface="Candara"/>
                <a:cs typeface="Candara"/>
              </a:rPr>
              <a:t>a</a:t>
            </a:r>
            <a:r>
              <a:rPr sz="1800" spc="-15" dirty="0">
                <a:latin typeface="Candara"/>
                <a:cs typeface="Candara"/>
              </a:rPr>
              <a:t> </a:t>
            </a:r>
            <a:r>
              <a:rPr sz="1800" dirty="0">
                <a:latin typeface="Candara"/>
                <a:cs typeface="Candara"/>
              </a:rPr>
              <a:t>set</a:t>
            </a:r>
            <a:r>
              <a:rPr sz="1800" spc="-15" dirty="0">
                <a:latin typeface="Candara"/>
                <a:cs typeface="Candara"/>
              </a:rPr>
              <a:t> </a:t>
            </a:r>
            <a:r>
              <a:rPr sz="1800" dirty="0">
                <a:latin typeface="Candara"/>
                <a:cs typeface="Candara"/>
              </a:rPr>
              <a:t>of</a:t>
            </a:r>
            <a:r>
              <a:rPr sz="1800" spc="-20" dirty="0">
                <a:latin typeface="Candara"/>
                <a:cs typeface="Candara"/>
              </a:rPr>
              <a:t> </a:t>
            </a:r>
            <a:r>
              <a:rPr sz="1800" dirty="0">
                <a:latin typeface="Candara"/>
                <a:cs typeface="Candara"/>
              </a:rPr>
              <a:t>directed</a:t>
            </a:r>
            <a:r>
              <a:rPr sz="1800" spc="-45" dirty="0">
                <a:latin typeface="Candara"/>
                <a:cs typeface="Candara"/>
              </a:rPr>
              <a:t> </a:t>
            </a:r>
            <a:r>
              <a:rPr sz="1800" spc="-10" dirty="0">
                <a:latin typeface="Candara"/>
                <a:cs typeface="Candara"/>
              </a:rPr>
              <a:t>edges.</a:t>
            </a:r>
            <a:endParaRPr sz="1800">
              <a:latin typeface="Candara"/>
              <a:cs typeface="Candara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2034539" y="1879092"/>
            <a:ext cx="5451349" cy="2638044"/>
            <a:chOff x="2034539" y="1879092"/>
            <a:chExt cx="5451349" cy="2638044"/>
          </a:xfrm>
        </p:grpSpPr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932175" y="2025396"/>
              <a:ext cx="841248" cy="521207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4244339" y="2787396"/>
              <a:ext cx="842772" cy="521207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6643116" y="1879092"/>
              <a:ext cx="842772" cy="519684"/>
            </a:xfrm>
            <a:prstGeom prst="rect">
              <a:avLst/>
            </a:prstGeom>
          </p:spPr>
        </p:pic>
        <p:pic>
          <p:nvPicPr>
            <p:cNvPr id="9" name="object 9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6068568" y="3523488"/>
              <a:ext cx="842772" cy="519684"/>
            </a:xfrm>
            <a:prstGeom prst="rect">
              <a:avLst/>
            </a:prstGeom>
          </p:spPr>
        </p:pic>
        <p:pic>
          <p:nvPicPr>
            <p:cNvPr id="10" name="object 10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3541775" y="3997452"/>
              <a:ext cx="841248" cy="519684"/>
            </a:xfrm>
            <a:prstGeom prst="rect">
              <a:avLst/>
            </a:prstGeom>
          </p:spPr>
        </p:pic>
        <p:pic>
          <p:nvPicPr>
            <p:cNvPr id="11" name="object 11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034539" y="3003804"/>
              <a:ext cx="842772" cy="519684"/>
            </a:xfrm>
            <a:prstGeom prst="rect">
              <a:avLst/>
            </a:prstGeom>
          </p:spPr>
        </p:pic>
        <p:pic>
          <p:nvPicPr>
            <p:cNvPr id="12" name="object 12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2449067" y="2404872"/>
              <a:ext cx="694969" cy="763524"/>
            </a:xfrm>
            <a:prstGeom prst="rect">
              <a:avLst/>
            </a:prstGeom>
          </p:spPr>
        </p:pic>
        <p:sp>
          <p:nvSpPr>
            <p:cNvPr id="13" name="object 13"/>
            <p:cNvSpPr/>
            <p:nvPr/>
          </p:nvSpPr>
          <p:spPr>
            <a:xfrm>
              <a:off x="2591561" y="2458720"/>
              <a:ext cx="478790" cy="546100"/>
            </a:xfrm>
            <a:custGeom>
              <a:avLst/>
              <a:gdLst/>
              <a:ahLst/>
              <a:cxnLst/>
              <a:rect l="l" t="t" r="r" b="b"/>
              <a:pathLst>
                <a:path w="478789" h="546100">
                  <a:moveTo>
                    <a:pt x="31876" y="422020"/>
                  </a:moveTo>
                  <a:lnTo>
                    <a:pt x="0" y="545845"/>
                  </a:lnTo>
                  <a:lnTo>
                    <a:pt x="118110" y="497077"/>
                  </a:lnTo>
                  <a:lnTo>
                    <a:pt x="105853" y="486409"/>
                  </a:lnTo>
                  <a:lnTo>
                    <a:pt x="76835" y="486409"/>
                  </a:lnTo>
                  <a:lnTo>
                    <a:pt x="48132" y="461390"/>
                  </a:lnTo>
                  <a:lnTo>
                    <a:pt x="60622" y="447041"/>
                  </a:lnTo>
                  <a:lnTo>
                    <a:pt x="31876" y="422020"/>
                  </a:lnTo>
                  <a:close/>
                </a:path>
                <a:path w="478789" h="546100">
                  <a:moveTo>
                    <a:pt x="60622" y="447041"/>
                  </a:moveTo>
                  <a:lnTo>
                    <a:pt x="48132" y="461390"/>
                  </a:lnTo>
                  <a:lnTo>
                    <a:pt x="76835" y="486409"/>
                  </a:lnTo>
                  <a:lnTo>
                    <a:pt x="89340" y="472037"/>
                  </a:lnTo>
                  <a:lnTo>
                    <a:pt x="60622" y="447041"/>
                  </a:lnTo>
                  <a:close/>
                </a:path>
                <a:path w="478789" h="546100">
                  <a:moveTo>
                    <a:pt x="89340" y="472037"/>
                  </a:moveTo>
                  <a:lnTo>
                    <a:pt x="76835" y="486409"/>
                  </a:lnTo>
                  <a:lnTo>
                    <a:pt x="105853" y="486409"/>
                  </a:lnTo>
                  <a:lnTo>
                    <a:pt x="89340" y="472037"/>
                  </a:lnTo>
                  <a:close/>
                </a:path>
                <a:path w="478789" h="546100">
                  <a:moveTo>
                    <a:pt x="449706" y="0"/>
                  </a:moveTo>
                  <a:lnTo>
                    <a:pt x="60622" y="447041"/>
                  </a:lnTo>
                  <a:lnTo>
                    <a:pt x="89340" y="472037"/>
                  </a:lnTo>
                  <a:lnTo>
                    <a:pt x="478408" y="24891"/>
                  </a:lnTo>
                  <a:lnTo>
                    <a:pt x="449706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4" name="object 14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2714243" y="3380219"/>
              <a:ext cx="1016520" cy="899172"/>
            </a:xfrm>
            <a:prstGeom prst="rect">
              <a:avLst/>
            </a:prstGeom>
          </p:spPr>
        </p:pic>
        <p:sp>
          <p:nvSpPr>
            <p:cNvPr id="15" name="object 15"/>
            <p:cNvSpPr/>
            <p:nvPr/>
          </p:nvSpPr>
          <p:spPr>
            <a:xfrm>
              <a:off x="2742310" y="3433572"/>
              <a:ext cx="799465" cy="682625"/>
            </a:xfrm>
            <a:custGeom>
              <a:avLst/>
              <a:gdLst/>
              <a:ahLst/>
              <a:cxnLst/>
              <a:rect l="l" t="t" r="r" b="b"/>
              <a:pathLst>
                <a:path w="799464" h="682625">
                  <a:moveTo>
                    <a:pt x="699649" y="622842"/>
                  </a:moveTo>
                  <a:lnTo>
                    <a:pt x="675004" y="651890"/>
                  </a:lnTo>
                  <a:lnTo>
                    <a:pt x="799084" y="682244"/>
                  </a:lnTo>
                  <a:lnTo>
                    <a:pt x="778963" y="635126"/>
                  </a:lnTo>
                  <a:lnTo>
                    <a:pt x="714121" y="635126"/>
                  </a:lnTo>
                  <a:lnTo>
                    <a:pt x="699649" y="622842"/>
                  </a:lnTo>
                  <a:close/>
                </a:path>
                <a:path w="799464" h="682625">
                  <a:moveTo>
                    <a:pt x="724297" y="593790"/>
                  </a:moveTo>
                  <a:lnTo>
                    <a:pt x="699649" y="622842"/>
                  </a:lnTo>
                  <a:lnTo>
                    <a:pt x="714121" y="635126"/>
                  </a:lnTo>
                  <a:lnTo>
                    <a:pt x="738886" y="606170"/>
                  </a:lnTo>
                  <a:lnTo>
                    <a:pt x="724297" y="593790"/>
                  </a:lnTo>
                  <a:close/>
                </a:path>
                <a:path w="799464" h="682625">
                  <a:moveTo>
                    <a:pt x="748918" y="564769"/>
                  </a:moveTo>
                  <a:lnTo>
                    <a:pt x="724297" y="593790"/>
                  </a:lnTo>
                  <a:lnTo>
                    <a:pt x="738886" y="606170"/>
                  </a:lnTo>
                  <a:lnTo>
                    <a:pt x="714121" y="635126"/>
                  </a:lnTo>
                  <a:lnTo>
                    <a:pt x="778963" y="635126"/>
                  </a:lnTo>
                  <a:lnTo>
                    <a:pt x="748918" y="564769"/>
                  </a:lnTo>
                  <a:close/>
                </a:path>
                <a:path w="799464" h="682625">
                  <a:moveTo>
                    <a:pt x="24637" y="0"/>
                  </a:moveTo>
                  <a:lnTo>
                    <a:pt x="0" y="28955"/>
                  </a:lnTo>
                  <a:lnTo>
                    <a:pt x="699649" y="622842"/>
                  </a:lnTo>
                  <a:lnTo>
                    <a:pt x="724297" y="593790"/>
                  </a:lnTo>
                  <a:lnTo>
                    <a:pt x="24637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6" name="object 16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4351019" y="3686581"/>
              <a:ext cx="1933955" cy="638530"/>
            </a:xfrm>
            <a:prstGeom prst="rect">
              <a:avLst/>
            </a:prstGeom>
          </p:spPr>
        </p:pic>
        <p:sp>
          <p:nvSpPr>
            <p:cNvPr id="17" name="object 17"/>
            <p:cNvSpPr/>
            <p:nvPr/>
          </p:nvSpPr>
          <p:spPr>
            <a:xfrm>
              <a:off x="4379467" y="3825494"/>
              <a:ext cx="1717039" cy="450850"/>
            </a:xfrm>
            <a:custGeom>
              <a:avLst/>
              <a:gdLst/>
              <a:ahLst/>
              <a:cxnLst/>
              <a:rect l="l" t="t" r="r" b="b"/>
              <a:pathLst>
                <a:path w="1717039" h="450850">
                  <a:moveTo>
                    <a:pt x="1600931" y="37132"/>
                  </a:moveTo>
                  <a:lnTo>
                    <a:pt x="0" y="413511"/>
                  </a:lnTo>
                  <a:lnTo>
                    <a:pt x="8636" y="450595"/>
                  </a:lnTo>
                  <a:lnTo>
                    <a:pt x="1609653" y="74225"/>
                  </a:lnTo>
                  <a:lnTo>
                    <a:pt x="1600931" y="37132"/>
                  </a:lnTo>
                  <a:close/>
                </a:path>
                <a:path w="1717039" h="450850">
                  <a:moveTo>
                    <a:pt x="1712568" y="32765"/>
                  </a:moveTo>
                  <a:lnTo>
                    <a:pt x="1619504" y="32765"/>
                  </a:lnTo>
                  <a:lnTo>
                    <a:pt x="1628267" y="69849"/>
                  </a:lnTo>
                  <a:lnTo>
                    <a:pt x="1609653" y="74225"/>
                  </a:lnTo>
                  <a:lnTo>
                    <a:pt x="1618361" y="111251"/>
                  </a:lnTo>
                  <a:lnTo>
                    <a:pt x="1712568" y="32765"/>
                  </a:lnTo>
                  <a:close/>
                </a:path>
                <a:path w="1717039" h="450850">
                  <a:moveTo>
                    <a:pt x="1619504" y="32765"/>
                  </a:moveTo>
                  <a:lnTo>
                    <a:pt x="1600931" y="37132"/>
                  </a:lnTo>
                  <a:lnTo>
                    <a:pt x="1609653" y="74225"/>
                  </a:lnTo>
                  <a:lnTo>
                    <a:pt x="1628267" y="69849"/>
                  </a:lnTo>
                  <a:lnTo>
                    <a:pt x="1619504" y="32765"/>
                  </a:lnTo>
                  <a:close/>
                </a:path>
                <a:path w="1717039" h="450850">
                  <a:moveTo>
                    <a:pt x="1592199" y="0"/>
                  </a:moveTo>
                  <a:lnTo>
                    <a:pt x="1600931" y="37132"/>
                  </a:lnTo>
                  <a:lnTo>
                    <a:pt x="1619504" y="32765"/>
                  </a:lnTo>
                  <a:lnTo>
                    <a:pt x="1712568" y="32765"/>
                  </a:lnTo>
                  <a:lnTo>
                    <a:pt x="1716532" y="29463"/>
                  </a:lnTo>
                  <a:lnTo>
                    <a:pt x="1592199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8" name="object 18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6742175" y="2231136"/>
              <a:ext cx="512102" cy="1421891"/>
            </a:xfrm>
            <a:prstGeom prst="rect">
              <a:avLst/>
            </a:prstGeom>
          </p:spPr>
        </p:pic>
        <p:sp>
          <p:nvSpPr>
            <p:cNvPr id="19" name="object 19"/>
            <p:cNvSpPr/>
            <p:nvPr/>
          </p:nvSpPr>
          <p:spPr>
            <a:xfrm>
              <a:off x="6770116" y="2399538"/>
              <a:ext cx="324485" cy="1205230"/>
            </a:xfrm>
            <a:custGeom>
              <a:avLst/>
              <a:gdLst/>
              <a:ahLst/>
              <a:cxnLst/>
              <a:rect l="l" t="t" r="r" b="b"/>
              <a:pathLst>
                <a:path w="324484" h="1205229">
                  <a:moveTo>
                    <a:pt x="250238" y="107104"/>
                  </a:moveTo>
                  <a:lnTo>
                    <a:pt x="0" y="1196466"/>
                  </a:lnTo>
                  <a:lnTo>
                    <a:pt x="37083" y="1205102"/>
                  </a:lnTo>
                  <a:lnTo>
                    <a:pt x="287343" y="115651"/>
                  </a:lnTo>
                  <a:lnTo>
                    <a:pt x="250238" y="107104"/>
                  </a:lnTo>
                  <a:close/>
                </a:path>
                <a:path w="324484" h="1205229">
                  <a:moveTo>
                    <a:pt x="315836" y="88519"/>
                  </a:moveTo>
                  <a:lnTo>
                    <a:pt x="254507" y="88519"/>
                  </a:lnTo>
                  <a:lnTo>
                    <a:pt x="291591" y="97154"/>
                  </a:lnTo>
                  <a:lnTo>
                    <a:pt x="287343" y="115651"/>
                  </a:lnTo>
                  <a:lnTo>
                    <a:pt x="324484" y="124206"/>
                  </a:lnTo>
                  <a:lnTo>
                    <a:pt x="315836" y="88519"/>
                  </a:lnTo>
                  <a:close/>
                </a:path>
                <a:path w="324484" h="1205229">
                  <a:moveTo>
                    <a:pt x="254507" y="88519"/>
                  </a:moveTo>
                  <a:lnTo>
                    <a:pt x="250238" y="107104"/>
                  </a:lnTo>
                  <a:lnTo>
                    <a:pt x="287343" y="115651"/>
                  </a:lnTo>
                  <a:lnTo>
                    <a:pt x="291591" y="97154"/>
                  </a:lnTo>
                  <a:lnTo>
                    <a:pt x="254507" y="88519"/>
                  </a:lnTo>
                  <a:close/>
                </a:path>
                <a:path w="324484" h="1205229">
                  <a:moveTo>
                    <a:pt x="294385" y="0"/>
                  </a:moveTo>
                  <a:lnTo>
                    <a:pt x="213105" y="98551"/>
                  </a:lnTo>
                  <a:lnTo>
                    <a:pt x="250238" y="107104"/>
                  </a:lnTo>
                  <a:lnTo>
                    <a:pt x="254507" y="88519"/>
                  </a:lnTo>
                  <a:lnTo>
                    <a:pt x="315836" y="88519"/>
                  </a:lnTo>
                  <a:lnTo>
                    <a:pt x="294385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0" name="object 20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4945379" y="2068055"/>
              <a:ext cx="1780031" cy="1018044"/>
            </a:xfrm>
            <a:prstGeom prst="rect">
              <a:avLst/>
            </a:prstGeom>
          </p:spPr>
        </p:pic>
        <p:sp>
          <p:nvSpPr>
            <p:cNvPr id="21" name="object 21"/>
            <p:cNvSpPr/>
            <p:nvPr/>
          </p:nvSpPr>
          <p:spPr>
            <a:xfrm>
              <a:off x="5087873" y="2121916"/>
              <a:ext cx="1564005" cy="801370"/>
            </a:xfrm>
            <a:custGeom>
              <a:avLst/>
              <a:gdLst/>
              <a:ahLst/>
              <a:cxnLst/>
              <a:rect l="l" t="t" r="r" b="b"/>
              <a:pathLst>
                <a:path w="1564004" h="801369">
                  <a:moveTo>
                    <a:pt x="76326" y="698500"/>
                  </a:moveTo>
                  <a:lnTo>
                    <a:pt x="0" y="800988"/>
                  </a:lnTo>
                  <a:lnTo>
                    <a:pt x="127762" y="800608"/>
                  </a:lnTo>
                  <a:lnTo>
                    <a:pt x="114903" y="775081"/>
                  </a:lnTo>
                  <a:lnTo>
                    <a:pt x="93599" y="775081"/>
                  </a:lnTo>
                  <a:lnTo>
                    <a:pt x="76453" y="741172"/>
                  </a:lnTo>
                  <a:lnTo>
                    <a:pt x="93495" y="732582"/>
                  </a:lnTo>
                  <a:lnTo>
                    <a:pt x="76326" y="698500"/>
                  </a:lnTo>
                  <a:close/>
                </a:path>
                <a:path w="1564004" h="801369">
                  <a:moveTo>
                    <a:pt x="93495" y="732582"/>
                  </a:moveTo>
                  <a:lnTo>
                    <a:pt x="76453" y="741172"/>
                  </a:lnTo>
                  <a:lnTo>
                    <a:pt x="93599" y="775081"/>
                  </a:lnTo>
                  <a:lnTo>
                    <a:pt x="110589" y="766518"/>
                  </a:lnTo>
                  <a:lnTo>
                    <a:pt x="93495" y="732582"/>
                  </a:lnTo>
                  <a:close/>
                </a:path>
                <a:path w="1564004" h="801369">
                  <a:moveTo>
                    <a:pt x="110589" y="766518"/>
                  </a:moveTo>
                  <a:lnTo>
                    <a:pt x="93599" y="775081"/>
                  </a:lnTo>
                  <a:lnTo>
                    <a:pt x="114903" y="775081"/>
                  </a:lnTo>
                  <a:lnTo>
                    <a:pt x="110589" y="766518"/>
                  </a:lnTo>
                  <a:close/>
                </a:path>
                <a:path w="1564004" h="801369">
                  <a:moveTo>
                    <a:pt x="1546859" y="0"/>
                  </a:moveTo>
                  <a:lnTo>
                    <a:pt x="93495" y="732582"/>
                  </a:lnTo>
                  <a:lnTo>
                    <a:pt x="110589" y="766518"/>
                  </a:lnTo>
                  <a:lnTo>
                    <a:pt x="1564004" y="34036"/>
                  </a:lnTo>
                  <a:lnTo>
                    <a:pt x="1546859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2" name="object 22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3631691" y="2231123"/>
              <a:ext cx="822985" cy="698004"/>
            </a:xfrm>
            <a:prstGeom prst="rect">
              <a:avLst/>
            </a:prstGeom>
          </p:spPr>
        </p:pic>
        <p:sp>
          <p:nvSpPr>
            <p:cNvPr id="23" name="object 23"/>
            <p:cNvSpPr/>
            <p:nvPr/>
          </p:nvSpPr>
          <p:spPr>
            <a:xfrm>
              <a:off x="3774185" y="2399538"/>
              <a:ext cx="605790" cy="480695"/>
            </a:xfrm>
            <a:custGeom>
              <a:avLst/>
              <a:gdLst/>
              <a:ahLst/>
              <a:cxnLst/>
              <a:rect l="l" t="t" r="r" b="b"/>
              <a:pathLst>
                <a:path w="605789" h="480694">
                  <a:moveTo>
                    <a:pt x="101695" y="55538"/>
                  </a:moveTo>
                  <a:lnTo>
                    <a:pt x="78200" y="85510"/>
                  </a:lnTo>
                  <a:lnTo>
                    <a:pt x="582294" y="480695"/>
                  </a:lnTo>
                  <a:lnTo>
                    <a:pt x="605789" y="450723"/>
                  </a:lnTo>
                  <a:lnTo>
                    <a:pt x="101695" y="55538"/>
                  </a:lnTo>
                  <a:close/>
                </a:path>
                <a:path w="605789" h="480694">
                  <a:moveTo>
                    <a:pt x="0" y="0"/>
                  </a:moveTo>
                  <a:lnTo>
                    <a:pt x="54737" y="115442"/>
                  </a:lnTo>
                  <a:lnTo>
                    <a:pt x="78200" y="85510"/>
                  </a:lnTo>
                  <a:lnTo>
                    <a:pt x="63246" y="73787"/>
                  </a:lnTo>
                  <a:lnTo>
                    <a:pt x="86740" y="43814"/>
                  </a:lnTo>
                  <a:lnTo>
                    <a:pt x="110886" y="43814"/>
                  </a:lnTo>
                  <a:lnTo>
                    <a:pt x="125222" y="25526"/>
                  </a:lnTo>
                  <a:lnTo>
                    <a:pt x="0" y="0"/>
                  </a:lnTo>
                  <a:close/>
                </a:path>
                <a:path w="605789" h="480694">
                  <a:moveTo>
                    <a:pt x="86740" y="43814"/>
                  </a:moveTo>
                  <a:lnTo>
                    <a:pt x="63246" y="73787"/>
                  </a:lnTo>
                  <a:lnTo>
                    <a:pt x="78200" y="85510"/>
                  </a:lnTo>
                  <a:lnTo>
                    <a:pt x="101695" y="55538"/>
                  </a:lnTo>
                  <a:lnTo>
                    <a:pt x="86740" y="43814"/>
                  </a:lnTo>
                  <a:close/>
                </a:path>
                <a:path w="605789" h="480694">
                  <a:moveTo>
                    <a:pt x="110886" y="43814"/>
                  </a:moveTo>
                  <a:lnTo>
                    <a:pt x="86740" y="43814"/>
                  </a:lnTo>
                  <a:lnTo>
                    <a:pt x="101695" y="55538"/>
                  </a:lnTo>
                  <a:lnTo>
                    <a:pt x="110886" y="4381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4" name="object 24"/>
          <p:cNvSpPr txBox="1"/>
          <p:nvPr/>
        </p:nvSpPr>
        <p:spPr>
          <a:xfrm>
            <a:off x="3235198" y="2105355"/>
            <a:ext cx="231775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ndara"/>
                <a:cs typeface="Candara"/>
              </a:rPr>
              <a:t>V1</a:t>
            </a:r>
            <a:endParaRPr sz="1800">
              <a:latin typeface="Candara"/>
              <a:cs typeface="Candara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2302255" y="3096259"/>
            <a:ext cx="25781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ndara"/>
                <a:cs typeface="Candara"/>
              </a:rPr>
              <a:t>V2</a:t>
            </a:r>
            <a:endParaRPr sz="1800">
              <a:latin typeface="Candara"/>
              <a:cs typeface="Candara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3836670" y="4091381"/>
            <a:ext cx="262890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ndara"/>
                <a:cs typeface="Candara"/>
              </a:rPr>
              <a:t>V3</a:t>
            </a:r>
            <a:endParaRPr sz="1800">
              <a:latin typeface="Candara"/>
              <a:cs typeface="Candara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6351523" y="3608958"/>
            <a:ext cx="27368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ndara"/>
                <a:cs typeface="Candara"/>
              </a:rPr>
              <a:t>V4</a:t>
            </a:r>
            <a:endParaRPr sz="1800">
              <a:latin typeface="Candara"/>
              <a:cs typeface="Candara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6918452" y="1963928"/>
            <a:ext cx="26416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ndara"/>
                <a:cs typeface="Candara"/>
              </a:rPr>
              <a:t>V5</a:t>
            </a:r>
            <a:endParaRPr sz="1800">
              <a:latin typeface="Candara"/>
              <a:cs typeface="Candara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4535804" y="2897885"/>
            <a:ext cx="27813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ndara"/>
                <a:cs typeface="Candara"/>
              </a:rPr>
              <a:t>V6</a:t>
            </a:r>
            <a:endParaRPr sz="1800">
              <a:latin typeface="Candara"/>
              <a:cs typeface="Candara"/>
            </a:endParaRPr>
          </a:p>
        </p:txBody>
      </p:sp>
      <p:sp>
        <p:nvSpPr>
          <p:cNvPr id="30" name="object 30"/>
          <p:cNvSpPr txBox="1"/>
          <p:nvPr/>
        </p:nvSpPr>
        <p:spPr>
          <a:xfrm>
            <a:off x="2559176" y="2448305"/>
            <a:ext cx="224154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ndara"/>
                <a:cs typeface="Candara"/>
              </a:rPr>
              <a:t>E1</a:t>
            </a:r>
            <a:endParaRPr sz="1800">
              <a:latin typeface="Candara"/>
              <a:cs typeface="Candara"/>
            </a:endParaRPr>
          </a:p>
        </p:txBody>
      </p:sp>
      <p:sp>
        <p:nvSpPr>
          <p:cNvPr id="31" name="object 31"/>
          <p:cNvSpPr txBox="1"/>
          <p:nvPr/>
        </p:nvSpPr>
        <p:spPr>
          <a:xfrm>
            <a:off x="2738120" y="3617214"/>
            <a:ext cx="25019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ndara"/>
                <a:cs typeface="Candara"/>
              </a:rPr>
              <a:t>E2</a:t>
            </a:r>
            <a:endParaRPr sz="1800">
              <a:latin typeface="Candara"/>
              <a:cs typeface="Candara"/>
            </a:endParaRPr>
          </a:p>
        </p:txBody>
      </p:sp>
      <p:sp>
        <p:nvSpPr>
          <p:cNvPr id="32" name="object 32"/>
          <p:cNvSpPr txBox="1"/>
          <p:nvPr/>
        </p:nvSpPr>
        <p:spPr>
          <a:xfrm>
            <a:off x="5249926" y="4072890"/>
            <a:ext cx="25527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ndara"/>
                <a:cs typeface="Candara"/>
              </a:rPr>
              <a:t>E3</a:t>
            </a:r>
            <a:endParaRPr sz="1800">
              <a:latin typeface="Candara"/>
              <a:cs typeface="Candara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7045197" y="2880486"/>
            <a:ext cx="2660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ndara"/>
                <a:cs typeface="Candara"/>
              </a:rPr>
              <a:t>E4</a:t>
            </a:r>
            <a:endParaRPr sz="1800">
              <a:latin typeface="Candara"/>
              <a:cs typeface="Candara"/>
            </a:endParaRPr>
          </a:p>
        </p:txBody>
      </p:sp>
      <p:sp>
        <p:nvSpPr>
          <p:cNvPr id="34" name="object 34"/>
          <p:cNvSpPr txBox="1"/>
          <p:nvPr/>
        </p:nvSpPr>
        <p:spPr>
          <a:xfrm>
            <a:off x="5944615" y="2455290"/>
            <a:ext cx="25654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ndara"/>
                <a:cs typeface="Candara"/>
              </a:rPr>
              <a:t>E5</a:t>
            </a:r>
            <a:endParaRPr sz="1800">
              <a:latin typeface="Candara"/>
              <a:cs typeface="Candara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4133850" y="2366009"/>
            <a:ext cx="27051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ndara"/>
                <a:cs typeface="Candara"/>
              </a:rPr>
              <a:t>E6</a:t>
            </a:r>
            <a:endParaRPr sz="1800">
              <a:latin typeface="Candara"/>
              <a:cs typeface="Candara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110227" y="608075"/>
            <a:ext cx="4010405" cy="1006601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4380103" y="712165"/>
            <a:ext cx="3441700" cy="5746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600" b="1" dirty="0">
                <a:latin typeface="Candara"/>
                <a:cs typeface="Candara"/>
              </a:rPr>
              <a:t>Presenting</a:t>
            </a:r>
            <a:r>
              <a:rPr sz="3600" b="1" spc="-105" dirty="0">
                <a:latin typeface="Candara"/>
                <a:cs typeface="Candara"/>
              </a:rPr>
              <a:t> </a:t>
            </a:r>
            <a:r>
              <a:rPr sz="3600" b="1" spc="-10" dirty="0">
                <a:latin typeface="Candara"/>
                <a:cs typeface="Candara"/>
              </a:rPr>
              <a:t>Graph</a:t>
            </a:r>
            <a:endParaRPr sz="3600">
              <a:latin typeface="Candara"/>
              <a:cs typeface="Candara"/>
            </a:endParaRP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375403" y="1354836"/>
            <a:ext cx="3387852" cy="806196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5485003" y="1404874"/>
            <a:ext cx="1070610" cy="5137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3200" spc="-10" dirty="0">
                <a:solidFill>
                  <a:srgbClr val="FFFFFF"/>
                </a:solidFill>
                <a:latin typeface="Candara"/>
                <a:cs typeface="Candara"/>
              </a:rPr>
              <a:t>Graph</a:t>
            </a:r>
            <a:endParaRPr sz="3200">
              <a:latin typeface="Candara"/>
              <a:cs typeface="Candara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1117217" y="2112402"/>
            <a:ext cx="9996423" cy="1361440"/>
            <a:chOff x="824483" y="2107679"/>
            <a:chExt cx="10543540" cy="1361440"/>
          </a:xfrm>
        </p:grpSpPr>
        <p:pic>
          <p:nvPicPr>
            <p:cNvPr id="7" name="object 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926836" y="2107679"/>
              <a:ext cx="332257" cy="469404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6012180" y="2161793"/>
              <a:ext cx="114300" cy="250951"/>
            </a:xfrm>
            <a:prstGeom prst="rect">
              <a:avLst/>
            </a:prstGeom>
          </p:spPr>
        </p:pic>
        <p:pic>
          <p:nvPicPr>
            <p:cNvPr id="9" name="object 9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773936" y="2339289"/>
              <a:ext cx="8799575" cy="140258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1802130" y="2411729"/>
              <a:ext cx="8677910" cy="0"/>
            </a:xfrm>
            <a:custGeom>
              <a:avLst/>
              <a:gdLst/>
              <a:ahLst/>
              <a:cxnLst/>
              <a:rect l="l" t="t" r="r" b="b"/>
              <a:pathLst>
                <a:path w="8677910">
                  <a:moveTo>
                    <a:pt x="0" y="0"/>
                  </a:moveTo>
                  <a:lnTo>
                    <a:pt x="8677783" y="0"/>
                  </a:lnTo>
                </a:path>
              </a:pathLst>
            </a:custGeom>
            <a:ln w="381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1" name="object 11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659636" y="2357602"/>
              <a:ext cx="332257" cy="486181"/>
            </a:xfrm>
            <a:prstGeom prst="rect">
              <a:avLst/>
            </a:prstGeom>
          </p:spPr>
        </p:pic>
        <p:sp>
          <p:nvSpPr>
            <p:cNvPr id="12" name="object 12"/>
            <p:cNvSpPr/>
            <p:nvPr/>
          </p:nvSpPr>
          <p:spPr>
            <a:xfrm>
              <a:off x="1744980" y="2411729"/>
              <a:ext cx="114300" cy="269240"/>
            </a:xfrm>
            <a:custGeom>
              <a:avLst/>
              <a:gdLst/>
              <a:ahLst/>
              <a:cxnLst/>
              <a:rect l="l" t="t" r="r" b="b"/>
              <a:pathLst>
                <a:path w="114300" h="269239">
                  <a:moveTo>
                    <a:pt x="38100" y="154686"/>
                  </a:moveTo>
                  <a:lnTo>
                    <a:pt x="0" y="154686"/>
                  </a:lnTo>
                  <a:lnTo>
                    <a:pt x="57150" y="268986"/>
                  </a:lnTo>
                  <a:lnTo>
                    <a:pt x="104775" y="173736"/>
                  </a:lnTo>
                  <a:lnTo>
                    <a:pt x="38100" y="173736"/>
                  </a:lnTo>
                  <a:lnTo>
                    <a:pt x="38100" y="154686"/>
                  </a:lnTo>
                  <a:close/>
                </a:path>
                <a:path w="114300" h="269239">
                  <a:moveTo>
                    <a:pt x="76200" y="0"/>
                  </a:moveTo>
                  <a:lnTo>
                    <a:pt x="38100" y="0"/>
                  </a:lnTo>
                  <a:lnTo>
                    <a:pt x="38100" y="173736"/>
                  </a:lnTo>
                  <a:lnTo>
                    <a:pt x="76200" y="173736"/>
                  </a:lnTo>
                  <a:lnTo>
                    <a:pt x="76200" y="0"/>
                  </a:lnTo>
                  <a:close/>
                </a:path>
                <a:path w="114300" h="269239">
                  <a:moveTo>
                    <a:pt x="114300" y="154686"/>
                  </a:moveTo>
                  <a:lnTo>
                    <a:pt x="76200" y="154686"/>
                  </a:lnTo>
                  <a:lnTo>
                    <a:pt x="76200" y="173736"/>
                  </a:lnTo>
                  <a:lnTo>
                    <a:pt x="104775" y="173736"/>
                  </a:lnTo>
                  <a:lnTo>
                    <a:pt x="114300" y="15468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3" name="object 13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0311383" y="2357602"/>
              <a:ext cx="332257" cy="486181"/>
            </a:xfrm>
            <a:prstGeom prst="rect">
              <a:avLst/>
            </a:prstGeom>
          </p:spPr>
        </p:pic>
        <p:sp>
          <p:nvSpPr>
            <p:cNvPr id="14" name="object 14"/>
            <p:cNvSpPr/>
            <p:nvPr/>
          </p:nvSpPr>
          <p:spPr>
            <a:xfrm>
              <a:off x="10396727" y="2411729"/>
              <a:ext cx="114300" cy="269240"/>
            </a:xfrm>
            <a:custGeom>
              <a:avLst/>
              <a:gdLst/>
              <a:ahLst/>
              <a:cxnLst/>
              <a:rect l="l" t="t" r="r" b="b"/>
              <a:pathLst>
                <a:path w="114300" h="269239">
                  <a:moveTo>
                    <a:pt x="38100" y="154686"/>
                  </a:moveTo>
                  <a:lnTo>
                    <a:pt x="0" y="154686"/>
                  </a:lnTo>
                  <a:lnTo>
                    <a:pt x="57150" y="268986"/>
                  </a:lnTo>
                  <a:lnTo>
                    <a:pt x="104775" y="173736"/>
                  </a:lnTo>
                  <a:lnTo>
                    <a:pt x="38100" y="173736"/>
                  </a:lnTo>
                  <a:lnTo>
                    <a:pt x="38100" y="154686"/>
                  </a:lnTo>
                  <a:close/>
                </a:path>
                <a:path w="114300" h="269239">
                  <a:moveTo>
                    <a:pt x="76200" y="0"/>
                  </a:moveTo>
                  <a:lnTo>
                    <a:pt x="38100" y="0"/>
                  </a:lnTo>
                  <a:lnTo>
                    <a:pt x="38100" y="173736"/>
                  </a:lnTo>
                  <a:lnTo>
                    <a:pt x="76200" y="173736"/>
                  </a:lnTo>
                  <a:lnTo>
                    <a:pt x="76200" y="0"/>
                  </a:lnTo>
                  <a:close/>
                </a:path>
                <a:path w="114300" h="269239">
                  <a:moveTo>
                    <a:pt x="114300" y="154686"/>
                  </a:moveTo>
                  <a:lnTo>
                    <a:pt x="76200" y="154686"/>
                  </a:lnTo>
                  <a:lnTo>
                    <a:pt x="76200" y="173736"/>
                  </a:lnTo>
                  <a:lnTo>
                    <a:pt x="104775" y="173736"/>
                  </a:lnTo>
                  <a:lnTo>
                    <a:pt x="114300" y="15468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5" name="object 15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824483" y="2702051"/>
              <a:ext cx="2734055" cy="766572"/>
            </a:xfrm>
            <a:prstGeom prst="rect">
              <a:avLst/>
            </a:prstGeom>
          </p:spPr>
        </p:pic>
        <p:pic>
          <p:nvPicPr>
            <p:cNvPr id="16" name="object 16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8633460" y="2702051"/>
              <a:ext cx="2734055" cy="766572"/>
            </a:xfrm>
            <a:prstGeom prst="rect">
              <a:avLst/>
            </a:prstGeom>
          </p:spPr>
        </p:pic>
      </p:grpSp>
      <p:sp>
        <p:nvSpPr>
          <p:cNvPr id="17" name="object 17"/>
          <p:cNvSpPr txBox="1"/>
          <p:nvPr/>
        </p:nvSpPr>
        <p:spPr>
          <a:xfrm>
            <a:off x="8633459" y="2702051"/>
            <a:ext cx="2734310" cy="767080"/>
          </a:xfrm>
          <a:prstGeom prst="rect">
            <a:avLst/>
          </a:prstGeom>
        </p:spPr>
        <p:txBody>
          <a:bodyPr vert="horz" wrap="square" lIns="0" tIns="231140" rIns="0" bIns="0" rtlCol="0">
            <a:spAutoFit/>
          </a:bodyPr>
          <a:lstStyle/>
          <a:p>
            <a:pPr marL="532130">
              <a:lnSpc>
                <a:spcPct val="100000"/>
              </a:lnSpc>
              <a:spcBef>
                <a:spcPts val="1820"/>
              </a:spcBef>
            </a:pPr>
            <a:r>
              <a:rPr sz="1800" dirty="0">
                <a:solidFill>
                  <a:srgbClr val="FFFFFF"/>
                </a:solidFill>
                <a:latin typeface="Candara"/>
                <a:cs typeface="Candara"/>
              </a:rPr>
              <a:t>Adjacency</a:t>
            </a:r>
            <a:r>
              <a:rPr sz="1800" spc="-35" dirty="0">
                <a:solidFill>
                  <a:srgbClr val="FFFFFF"/>
                </a:solidFill>
                <a:latin typeface="Candara"/>
                <a:cs typeface="Candara"/>
              </a:rPr>
              <a:t> </a:t>
            </a:r>
            <a:r>
              <a:rPr sz="1800" spc="-10" dirty="0">
                <a:solidFill>
                  <a:srgbClr val="FFFFFF"/>
                </a:solidFill>
                <a:latin typeface="Candara"/>
                <a:cs typeface="Candara"/>
              </a:rPr>
              <a:t>Matrix</a:t>
            </a:r>
            <a:endParaRPr sz="1800" dirty="0">
              <a:latin typeface="Candara"/>
              <a:cs typeface="Candara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824483" y="2702051"/>
            <a:ext cx="2734310" cy="522579"/>
          </a:xfrm>
          <a:prstGeom prst="rect">
            <a:avLst/>
          </a:prstGeom>
        </p:spPr>
        <p:txBody>
          <a:bodyPr vert="horz" wrap="square" lIns="0" tIns="212725" rIns="0" bIns="0" rtlCol="0">
            <a:spAutoFit/>
          </a:bodyPr>
          <a:lstStyle/>
          <a:p>
            <a:pPr marL="558165">
              <a:lnSpc>
                <a:spcPct val="100000"/>
              </a:lnSpc>
              <a:spcBef>
                <a:spcPts val="1675"/>
              </a:spcBef>
            </a:pPr>
            <a:r>
              <a:rPr lang="en-US" sz="2000" dirty="0">
                <a:solidFill>
                  <a:srgbClr val="FFFFFF"/>
                </a:solidFill>
                <a:latin typeface="Candara"/>
                <a:cs typeface="Candara"/>
              </a:rPr>
              <a:t>      </a:t>
            </a:r>
            <a:r>
              <a:rPr sz="2000" dirty="0">
                <a:solidFill>
                  <a:srgbClr val="FFFFFF"/>
                </a:solidFill>
                <a:latin typeface="Candara"/>
                <a:cs typeface="Candara"/>
              </a:rPr>
              <a:t>Adjacency</a:t>
            </a:r>
            <a:r>
              <a:rPr sz="2000" spc="-20" dirty="0">
                <a:solidFill>
                  <a:srgbClr val="FFFFFF"/>
                </a:solidFill>
                <a:latin typeface="Candara"/>
                <a:cs typeface="Candara"/>
              </a:rPr>
              <a:t> List</a:t>
            </a:r>
            <a:endParaRPr sz="2000" dirty="0">
              <a:latin typeface="Candara"/>
              <a:cs typeface="Candara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725423" y="3828288"/>
            <a:ext cx="2695575" cy="1774825"/>
            <a:chOff x="725423" y="3828288"/>
            <a:chExt cx="2695575" cy="1774825"/>
          </a:xfrm>
        </p:grpSpPr>
        <p:pic>
          <p:nvPicPr>
            <p:cNvPr id="20" name="object 20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725423" y="3828288"/>
              <a:ext cx="2300478" cy="677418"/>
            </a:xfrm>
            <a:prstGeom prst="rect">
              <a:avLst/>
            </a:prstGeom>
          </p:spPr>
        </p:pic>
        <p:pic>
          <p:nvPicPr>
            <p:cNvPr id="21" name="object 21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908303" y="4224486"/>
              <a:ext cx="1934718" cy="40300"/>
            </a:xfrm>
            <a:prstGeom prst="rect">
              <a:avLst/>
            </a:prstGeom>
          </p:spPr>
        </p:pic>
        <p:pic>
          <p:nvPicPr>
            <p:cNvPr id="22" name="object 22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725423" y="4925568"/>
              <a:ext cx="2695193" cy="677418"/>
            </a:xfrm>
            <a:prstGeom prst="rect">
              <a:avLst/>
            </a:prstGeom>
          </p:spPr>
        </p:pic>
        <p:pic>
          <p:nvPicPr>
            <p:cNvPr id="23" name="object 23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908303" y="5321766"/>
              <a:ext cx="2329434" cy="40300"/>
            </a:xfrm>
            <a:prstGeom prst="rect">
              <a:avLst/>
            </a:prstGeom>
          </p:spPr>
        </p:pic>
      </p:grpSp>
      <p:sp>
        <p:nvSpPr>
          <p:cNvPr id="24" name="object 24"/>
          <p:cNvSpPr txBox="1"/>
          <p:nvPr/>
        </p:nvSpPr>
        <p:spPr>
          <a:xfrm>
            <a:off x="903528" y="3895725"/>
            <a:ext cx="10193655" cy="1854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1029335">
              <a:lnSpc>
                <a:spcPct val="100000"/>
              </a:lnSpc>
              <a:spcBef>
                <a:spcPts val="100"/>
              </a:spcBef>
            </a:pPr>
            <a:r>
              <a:rPr sz="2400" u="sng" dirty="0">
                <a:uFill>
                  <a:solidFill>
                    <a:srgbClr val="000000"/>
                  </a:solidFill>
                </a:uFill>
                <a:latin typeface="Candara"/>
                <a:cs typeface="Candara"/>
              </a:rPr>
              <a:t>Adjacency</a:t>
            </a:r>
            <a:r>
              <a:rPr sz="2400" u="sng" spc="-10" dirty="0">
                <a:uFill>
                  <a:solidFill>
                    <a:srgbClr val="000000"/>
                  </a:solidFill>
                </a:uFill>
                <a:latin typeface="Candara"/>
                <a:cs typeface="Candara"/>
              </a:rPr>
              <a:t> </a:t>
            </a:r>
            <a:r>
              <a:rPr sz="2400" u="sng" dirty="0">
                <a:uFill>
                  <a:solidFill>
                    <a:srgbClr val="000000"/>
                  </a:solidFill>
                </a:uFill>
                <a:latin typeface="Candara"/>
                <a:cs typeface="Candara"/>
              </a:rPr>
              <a:t>List</a:t>
            </a:r>
            <a:r>
              <a:rPr sz="2400" u="sng" spc="-30" dirty="0">
                <a:uFill>
                  <a:solidFill>
                    <a:srgbClr val="000000"/>
                  </a:solidFill>
                </a:uFill>
                <a:latin typeface="Candara"/>
                <a:cs typeface="Candara"/>
              </a:rPr>
              <a:t> </a:t>
            </a:r>
            <a:r>
              <a:rPr sz="2400" dirty="0">
                <a:latin typeface="Candara"/>
                <a:cs typeface="Candara"/>
              </a:rPr>
              <a:t>:</a:t>
            </a:r>
            <a:r>
              <a:rPr sz="2400" spc="-20" dirty="0">
                <a:latin typeface="Candara"/>
                <a:cs typeface="Candara"/>
              </a:rPr>
              <a:t> </a:t>
            </a:r>
            <a:r>
              <a:rPr sz="2400" dirty="0">
                <a:latin typeface="Candara"/>
                <a:cs typeface="Candara"/>
              </a:rPr>
              <a:t>A</a:t>
            </a:r>
            <a:r>
              <a:rPr sz="2400" spc="-25" dirty="0">
                <a:latin typeface="Candara"/>
                <a:cs typeface="Candara"/>
              </a:rPr>
              <a:t> </a:t>
            </a:r>
            <a:r>
              <a:rPr sz="2400" dirty="0">
                <a:latin typeface="Candara"/>
                <a:cs typeface="Candara"/>
              </a:rPr>
              <a:t>adjacency</a:t>
            </a:r>
            <a:r>
              <a:rPr sz="2400" spc="-15" dirty="0">
                <a:latin typeface="Candara"/>
                <a:cs typeface="Candara"/>
              </a:rPr>
              <a:t> </a:t>
            </a:r>
            <a:r>
              <a:rPr sz="2400" dirty="0">
                <a:latin typeface="Candara"/>
                <a:cs typeface="Candara"/>
              </a:rPr>
              <a:t>list</a:t>
            </a:r>
            <a:r>
              <a:rPr sz="2400" spc="-20" dirty="0">
                <a:latin typeface="Candara"/>
                <a:cs typeface="Candara"/>
              </a:rPr>
              <a:t> </a:t>
            </a:r>
            <a:r>
              <a:rPr sz="2400" dirty="0">
                <a:latin typeface="Candara"/>
                <a:cs typeface="Candara"/>
              </a:rPr>
              <a:t>is</a:t>
            </a:r>
            <a:r>
              <a:rPr sz="2400" spc="-25" dirty="0">
                <a:latin typeface="Candara"/>
                <a:cs typeface="Candara"/>
              </a:rPr>
              <a:t> </a:t>
            </a:r>
            <a:r>
              <a:rPr sz="2400" dirty="0">
                <a:latin typeface="Candara"/>
                <a:cs typeface="Candara"/>
              </a:rPr>
              <a:t>a</a:t>
            </a:r>
            <a:r>
              <a:rPr sz="2400" spc="-30" dirty="0">
                <a:latin typeface="Candara"/>
                <a:cs typeface="Candara"/>
              </a:rPr>
              <a:t> </a:t>
            </a:r>
            <a:r>
              <a:rPr sz="2400" dirty="0">
                <a:latin typeface="Candara"/>
                <a:cs typeface="Candara"/>
              </a:rPr>
              <a:t>way</a:t>
            </a:r>
            <a:r>
              <a:rPr sz="2400" spc="-25" dirty="0">
                <a:latin typeface="Candara"/>
                <a:cs typeface="Candara"/>
              </a:rPr>
              <a:t> </a:t>
            </a:r>
            <a:r>
              <a:rPr sz="2400" dirty="0">
                <a:latin typeface="Candara"/>
                <a:cs typeface="Candara"/>
              </a:rPr>
              <a:t>of</a:t>
            </a:r>
            <a:r>
              <a:rPr sz="2400" spc="-20" dirty="0">
                <a:latin typeface="Candara"/>
                <a:cs typeface="Candara"/>
              </a:rPr>
              <a:t> </a:t>
            </a:r>
            <a:r>
              <a:rPr sz="2400" spc="-10" dirty="0">
                <a:latin typeface="Candara"/>
                <a:cs typeface="Candara"/>
              </a:rPr>
              <a:t>representing</a:t>
            </a:r>
            <a:r>
              <a:rPr sz="2400" spc="-25" dirty="0">
                <a:latin typeface="Candara"/>
                <a:cs typeface="Candara"/>
              </a:rPr>
              <a:t> </a:t>
            </a:r>
            <a:r>
              <a:rPr sz="2400" dirty="0">
                <a:latin typeface="Candara"/>
                <a:cs typeface="Candara"/>
              </a:rPr>
              <a:t>a</a:t>
            </a:r>
            <a:r>
              <a:rPr sz="2400" spc="-20" dirty="0">
                <a:latin typeface="Candara"/>
                <a:cs typeface="Candara"/>
              </a:rPr>
              <a:t> </a:t>
            </a:r>
            <a:r>
              <a:rPr sz="2400" dirty="0">
                <a:latin typeface="Candara"/>
                <a:cs typeface="Candara"/>
              </a:rPr>
              <a:t>graph</a:t>
            </a:r>
            <a:r>
              <a:rPr sz="2400" spc="-30" dirty="0">
                <a:latin typeface="Candara"/>
                <a:cs typeface="Candara"/>
              </a:rPr>
              <a:t> </a:t>
            </a:r>
            <a:r>
              <a:rPr sz="2400" dirty="0">
                <a:latin typeface="Candara"/>
                <a:cs typeface="Candara"/>
              </a:rPr>
              <a:t>using</a:t>
            </a:r>
            <a:r>
              <a:rPr sz="2400" spc="-25" dirty="0">
                <a:latin typeface="Candara"/>
                <a:cs typeface="Candara"/>
              </a:rPr>
              <a:t> </a:t>
            </a:r>
            <a:r>
              <a:rPr sz="2400" spc="-50" dirty="0">
                <a:latin typeface="Candara"/>
                <a:cs typeface="Candara"/>
              </a:rPr>
              <a:t>a </a:t>
            </a:r>
            <a:r>
              <a:rPr sz="2400" dirty="0">
                <a:latin typeface="Candara"/>
                <a:cs typeface="Candara"/>
              </a:rPr>
              <a:t>collection</a:t>
            </a:r>
            <a:r>
              <a:rPr sz="2400" spc="-30" dirty="0">
                <a:latin typeface="Candara"/>
                <a:cs typeface="Candara"/>
              </a:rPr>
              <a:t> </a:t>
            </a:r>
            <a:r>
              <a:rPr sz="2400" dirty="0">
                <a:latin typeface="Candara"/>
                <a:cs typeface="Candara"/>
              </a:rPr>
              <a:t>of</a:t>
            </a:r>
            <a:r>
              <a:rPr sz="2400" spc="-25" dirty="0">
                <a:latin typeface="Candara"/>
                <a:cs typeface="Candara"/>
              </a:rPr>
              <a:t> </a:t>
            </a:r>
            <a:r>
              <a:rPr sz="2400" dirty="0">
                <a:latin typeface="Candara"/>
                <a:cs typeface="Candara"/>
              </a:rPr>
              <a:t>lists</a:t>
            </a:r>
            <a:r>
              <a:rPr sz="2400" spc="-60" dirty="0">
                <a:latin typeface="Candara"/>
                <a:cs typeface="Candara"/>
              </a:rPr>
              <a:t> </a:t>
            </a:r>
            <a:r>
              <a:rPr sz="2400" dirty="0">
                <a:latin typeface="Candara"/>
                <a:cs typeface="Candara"/>
              </a:rPr>
              <a:t>or</a:t>
            </a:r>
            <a:r>
              <a:rPr sz="2400" spc="-20" dirty="0">
                <a:latin typeface="Candara"/>
                <a:cs typeface="Candara"/>
              </a:rPr>
              <a:t> </a:t>
            </a:r>
            <a:r>
              <a:rPr sz="2400" spc="-10" dirty="0">
                <a:latin typeface="Candara"/>
                <a:cs typeface="Candara"/>
              </a:rPr>
              <a:t>array.</a:t>
            </a:r>
            <a:endParaRPr sz="2400" dirty="0">
              <a:latin typeface="Candara"/>
              <a:cs typeface="Candara"/>
            </a:endParaRPr>
          </a:p>
          <a:p>
            <a:pPr marL="12700" marR="5080">
              <a:lnSpc>
                <a:spcPct val="100000"/>
              </a:lnSpc>
              <a:spcBef>
                <a:spcPts val="2880"/>
              </a:spcBef>
            </a:pPr>
            <a:r>
              <a:rPr sz="2400" u="sng" dirty="0">
                <a:uFill>
                  <a:solidFill>
                    <a:srgbClr val="000000"/>
                  </a:solidFill>
                </a:uFill>
                <a:latin typeface="Candara"/>
                <a:cs typeface="Candara"/>
              </a:rPr>
              <a:t>Adjacency</a:t>
            </a:r>
            <a:r>
              <a:rPr sz="2400" u="sng" spc="-15" dirty="0">
                <a:uFill>
                  <a:solidFill>
                    <a:srgbClr val="000000"/>
                  </a:solidFill>
                </a:uFill>
                <a:latin typeface="Candara"/>
                <a:cs typeface="Candara"/>
              </a:rPr>
              <a:t> </a:t>
            </a:r>
            <a:r>
              <a:rPr sz="2400" u="sng" dirty="0">
                <a:uFill>
                  <a:solidFill>
                    <a:srgbClr val="000000"/>
                  </a:solidFill>
                </a:uFill>
                <a:latin typeface="Candara"/>
                <a:cs typeface="Candara"/>
              </a:rPr>
              <a:t>Matrix</a:t>
            </a:r>
            <a:r>
              <a:rPr sz="2400" u="sng" spc="-30" dirty="0">
                <a:uFill>
                  <a:solidFill>
                    <a:srgbClr val="000000"/>
                  </a:solidFill>
                </a:uFill>
                <a:latin typeface="Candara"/>
                <a:cs typeface="Candara"/>
              </a:rPr>
              <a:t> </a:t>
            </a:r>
            <a:r>
              <a:rPr sz="2400" dirty="0">
                <a:latin typeface="Candara"/>
                <a:cs typeface="Candara"/>
              </a:rPr>
              <a:t>:</a:t>
            </a:r>
            <a:r>
              <a:rPr sz="2400" spc="-25" dirty="0">
                <a:latin typeface="Candara"/>
                <a:cs typeface="Candara"/>
              </a:rPr>
              <a:t> </a:t>
            </a:r>
            <a:r>
              <a:rPr sz="2400" dirty="0">
                <a:latin typeface="Candara"/>
                <a:cs typeface="Candara"/>
              </a:rPr>
              <a:t>An</a:t>
            </a:r>
            <a:r>
              <a:rPr sz="2400" spc="-25" dirty="0">
                <a:latin typeface="Candara"/>
                <a:cs typeface="Candara"/>
              </a:rPr>
              <a:t> </a:t>
            </a:r>
            <a:r>
              <a:rPr sz="2400" dirty="0">
                <a:latin typeface="Candara"/>
                <a:cs typeface="Candara"/>
              </a:rPr>
              <a:t>adjacency</a:t>
            </a:r>
            <a:r>
              <a:rPr sz="2400" spc="-15" dirty="0">
                <a:latin typeface="Candara"/>
                <a:cs typeface="Candara"/>
              </a:rPr>
              <a:t> </a:t>
            </a:r>
            <a:r>
              <a:rPr sz="2400" dirty="0">
                <a:latin typeface="Candara"/>
                <a:cs typeface="Candara"/>
              </a:rPr>
              <a:t>matrix</a:t>
            </a:r>
            <a:r>
              <a:rPr sz="2400" spc="-25" dirty="0">
                <a:latin typeface="Candara"/>
                <a:cs typeface="Candara"/>
              </a:rPr>
              <a:t> </a:t>
            </a:r>
            <a:r>
              <a:rPr sz="2400" dirty="0">
                <a:latin typeface="Candara"/>
                <a:cs typeface="Candara"/>
              </a:rPr>
              <a:t>is</a:t>
            </a:r>
            <a:r>
              <a:rPr sz="2400" spc="-25" dirty="0">
                <a:latin typeface="Candara"/>
                <a:cs typeface="Candara"/>
              </a:rPr>
              <a:t> </a:t>
            </a:r>
            <a:r>
              <a:rPr sz="2400" dirty="0">
                <a:latin typeface="Candara"/>
                <a:cs typeface="Candara"/>
              </a:rPr>
              <a:t>a</a:t>
            </a:r>
            <a:r>
              <a:rPr sz="2400" spc="-35" dirty="0">
                <a:latin typeface="Candara"/>
                <a:cs typeface="Candara"/>
              </a:rPr>
              <a:t> </a:t>
            </a:r>
            <a:r>
              <a:rPr sz="2400" dirty="0">
                <a:latin typeface="Candara"/>
                <a:cs typeface="Candara"/>
              </a:rPr>
              <a:t>way</a:t>
            </a:r>
            <a:r>
              <a:rPr sz="2400" spc="-30" dirty="0">
                <a:latin typeface="Candara"/>
                <a:cs typeface="Candara"/>
              </a:rPr>
              <a:t> </a:t>
            </a:r>
            <a:r>
              <a:rPr sz="2400" dirty="0">
                <a:latin typeface="Candara"/>
                <a:cs typeface="Candara"/>
              </a:rPr>
              <a:t>of</a:t>
            </a:r>
            <a:r>
              <a:rPr sz="2400" spc="-25" dirty="0">
                <a:latin typeface="Candara"/>
                <a:cs typeface="Candara"/>
              </a:rPr>
              <a:t> </a:t>
            </a:r>
            <a:r>
              <a:rPr sz="2400" spc="-10" dirty="0">
                <a:latin typeface="Candara"/>
                <a:cs typeface="Candara"/>
              </a:rPr>
              <a:t>representing</a:t>
            </a:r>
            <a:r>
              <a:rPr sz="2400" spc="-25" dirty="0">
                <a:latin typeface="Candara"/>
                <a:cs typeface="Candara"/>
              </a:rPr>
              <a:t> </a:t>
            </a:r>
            <a:r>
              <a:rPr sz="2400" dirty="0">
                <a:latin typeface="Candara"/>
                <a:cs typeface="Candara"/>
              </a:rPr>
              <a:t>a</a:t>
            </a:r>
            <a:r>
              <a:rPr sz="2400" spc="-20" dirty="0">
                <a:latin typeface="Candara"/>
                <a:cs typeface="Candara"/>
              </a:rPr>
              <a:t> </a:t>
            </a:r>
            <a:r>
              <a:rPr sz="2400" dirty="0">
                <a:latin typeface="Candara"/>
                <a:cs typeface="Candara"/>
              </a:rPr>
              <a:t>graph</a:t>
            </a:r>
            <a:r>
              <a:rPr sz="2400" spc="-35" dirty="0">
                <a:latin typeface="Candara"/>
                <a:cs typeface="Candara"/>
              </a:rPr>
              <a:t> </a:t>
            </a:r>
            <a:r>
              <a:rPr sz="2400" dirty="0">
                <a:latin typeface="Candara"/>
                <a:cs typeface="Candara"/>
              </a:rPr>
              <a:t>using</a:t>
            </a:r>
            <a:r>
              <a:rPr sz="2400" spc="-30" dirty="0">
                <a:latin typeface="Candara"/>
                <a:cs typeface="Candara"/>
              </a:rPr>
              <a:t> </a:t>
            </a:r>
            <a:r>
              <a:rPr sz="2400" spc="-50" dirty="0">
                <a:latin typeface="Candara"/>
                <a:cs typeface="Candara"/>
              </a:rPr>
              <a:t>a </a:t>
            </a:r>
            <a:r>
              <a:rPr sz="2400" dirty="0">
                <a:latin typeface="Candara"/>
                <a:cs typeface="Candara"/>
              </a:rPr>
              <a:t>2D</a:t>
            </a:r>
            <a:r>
              <a:rPr sz="2400" spc="5" dirty="0">
                <a:latin typeface="Candara"/>
                <a:cs typeface="Candara"/>
              </a:rPr>
              <a:t> </a:t>
            </a:r>
            <a:r>
              <a:rPr sz="2400" spc="-10" dirty="0">
                <a:latin typeface="Candara"/>
                <a:cs typeface="Candara"/>
              </a:rPr>
              <a:t>array.</a:t>
            </a:r>
            <a:endParaRPr sz="2400" dirty="0">
              <a:latin typeface="Candara"/>
              <a:cs typeface="Candara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769112" y="707847"/>
            <a:ext cx="923290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Candara"/>
                <a:cs typeface="Candara"/>
              </a:rPr>
              <a:t>Outputs</a:t>
            </a:r>
            <a:r>
              <a:rPr sz="1800" spc="-20" dirty="0">
                <a:latin typeface="Candara"/>
                <a:cs typeface="Candara"/>
              </a:rPr>
              <a:t> </a:t>
            </a:r>
            <a:r>
              <a:rPr sz="1800" spc="-50" dirty="0">
                <a:latin typeface="Candara"/>
                <a:cs typeface="Candara"/>
              </a:rPr>
              <a:t>:</a:t>
            </a:r>
            <a:endParaRPr sz="1800">
              <a:latin typeface="Candara"/>
              <a:cs typeface="Candara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923544" y="1220724"/>
            <a:ext cx="9630410" cy="4916805"/>
            <a:chOff x="923544" y="1220724"/>
            <a:chExt cx="9630410" cy="4916805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923544" y="1220724"/>
              <a:ext cx="4206239" cy="1450848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345935" y="1220724"/>
              <a:ext cx="4207764" cy="1505712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943356" y="2996184"/>
              <a:ext cx="4213860" cy="1525524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6345935" y="2996184"/>
              <a:ext cx="4047744" cy="1545336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3624072" y="4613147"/>
              <a:ext cx="3933444" cy="1524000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03148" y="1188732"/>
            <a:ext cx="3222498" cy="511289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934923" y="1237234"/>
            <a:ext cx="10052685" cy="41414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latin typeface="Candara"/>
                <a:cs typeface="Candara"/>
              </a:rPr>
              <a:t>Theoretical</a:t>
            </a:r>
            <a:r>
              <a:rPr sz="1800" b="1" spc="-30" dirty="0">
                <a:latin typeface="Candara"/>
                <a:cs typeface="Candara"/>
              </a:rPr>
              <a:t> </a:t>
            </a:r>
            <a:r>
              <a:rPr sz="1800" b="1" dirty="0">
                <a:latin typeface="Candara"/>
                <a:cs typeface="Candara"/>
              </a:rPr>
              <a:t>Time</a:t>
            </a:r>
            <a:r>
              <a:rPr sz="1800" b="1" spc="-10" dirty="0">
                <a:latin typeface="Candara"/>
                <a:cs typeface="Candara"/>
              </a:rPr>
              <a:t> Complexity</a:t>
            </a:r>
            <a:r>
              <a:rPr sz="1800" b="1" spc="-25" dirty="0">
                <a:latin typeface="Candara"/>
                <a:cs typeface="Candara"/>
              </a:rPr>
              <a:t> </a:t>
            </a:r>
            <a:r>
              <a:rPr sz="1800" b="1" spc="-50" dirty="0">
                <a:latin typeface="Candara"/>
                <a:cs typeface="Candara"/>
              </a:rPr>
              <a:t>:</a:t>
            </a:r>
            <a:endParaRPr sz="1800" dirty="0">
              <a:latin typeface="Candara"/>
              <a:cs typeface="Candara"/>
            </a:endParaRPr>
          </a:p>
          <a:p>
            <a:pPr marL="12700">
              <a:lnSpc>
                <a:spcPct val="100000"/>
              </a:lnSpc>
              <a:spcBef>
                <a:spcPts val="2160"/>
              </a:spcBef>
            </a:pPr>
            <a:r>
              <a:rPr sz="1800" dirty="0">
                <a:latin typeface="Candara"/>
                <a:cs typeface="Candara"/>
              </a:rPr>
              <a:t>Time</a:t>
            </a:r>
            <a:r>
              <a:rPr sz="1800" spc="-25" dirty="0">
                <a:latin typeface="Candara"/>
                <a:cs typeface="Candara"/>
              </a:rPr>
              <a:t> </a:t>
            </a:r>
            <a:r>
              <a:rPr sz="1800" dirty="0">
                <a:latin typeface="Candara"/>
                <a:cs typeface="Candara"/>
              </a:rPr>
              <a:t>complexity</a:t>
            </a:r>
            <a:r>
              <a:rPr sz="1800" spc="-35" dirty="0">
                <a:latin typeface="Candara"/>
                <a:cs typeface="Candara"/>
              </a:rPr>
              <a:t> </a:t>
            </a:r>
            <a:r>
              <a:rPr sz="1800" dirty="0">
                <a:latin typeface="Candara"/>
                <a:cs typeface="Candara"/>
              </a:rPr>
              <a:t>represents</a:t>
            </a:r>
            <a:r>
              <a:rPr sz="1800" spc="-15" dirty="0">
                <a:latin typeface="Candara"/>
                <a:cs typeface="Candara"/>
              </a:rPr>
              <a:t> </a:t>
            </a:r>
            <a:r>
              <a:rPr sz="1800" dirty="0">
                <a:latin typeface="Candara"/>
                <a:cs typeface="Candara"/>
              </a:rPr>
              <a:t>how</a:t>
            </a:r>
            <a:r>
              <a:rPr sz="1800" spc="-45" dirty="0">
                <a:latin typeface="Candara"/>
                <a:cs typeface="Candara"/>
              </a:rPr>
              <a:t> </a:t>
            </a:r>
            <a:r>
              <a:rPr sz="1800" dirty="0">
                <a:latin typeface="Candara"/>
                <a:cs typeface="Candara"/>
              </a:rPr>
              <a:t>the</a:t>
            </a:r>
            <a:r>
              <a:rPr sz="1800" spc="-25" dirty="0">
                <a:latin typeface="Candara"/>
                <a:cs typeface="Candara"/>
              </a:rPr>
              <a:t> </a:t>
            </a:r>
            <a:r>
              <a:rPr sz="1800" dirty="0">
                <a:latin typeface="Candara"/>
                <a:cs typeface="Candara"/>
              </a:rPr>
              <a:t>computational</a:t>
            </a:r>
            <a:r>
              <a:rPr sz="1800" spc="-45" dirty="0">
                <a:latin typeface="Candara"/>
                <a:cs typeface="Candara"/>
              </a:rPr>
              <a:t> </a:t>
            </a:r>
            <a:r>
              <a:rPr sz="1800" dirty="0">
                <a:latin typeface="Candara"/>
                <a:cs typeface="Candara"/>
              </a:rPr>
              <a:t>time</a:t>
            </a:r>
            <a:r>
              <a:rPr sz="1800" spc="-20" dirty="0">
                <a:latin typeface="Candara"/>
                <a:cs typeface="Candara"/>
              </a:rPr>
              <a:t> </a:t>
            </a:r>
            <a:r>
              <a:rPr sz="1800" dirty="0">
                <a:latin typeface="Candara"/>
                <a:cs typeface="Candara"/>
              </a:rPr>
              <a:t>of</a:t>
            </a:r>
            <a:r>
              <a:rPr sz="1800" spc="-45" dirty="0">
                <a:latin typeface="Candara"/>
                <a:cs typeface="Candara"/>
              </a:rPr>
              <a:t> </a:t>
            </a:r>
            <a:r>
              <a:rPr sz="1800" dirty="0">
                <a:latin typeface="Candara"/>
                <a:cs typeface="Candara"/>
              </a:rPr>
              <a:t>a</a:t>
            </a:r>
            <a:r>
              <a:rPr sz="1800" spc="-15" dirty="0">
                <a:latin typeface="Candara"/>
                <a:cs typeface="Candara"/>
              </a:rPr>
              <a:t> </a:t>
            </a:r>
            <a:r>
              <a:rPr sz="1800" dirty="0">
                <a:latin typeface="Candara"/>
                <a:cs typeface="Candara"/>
              </a:rPr>
              <a:t>program</a:t>
            </a:r>
            <a:r>
              <a:rPr sz="1800" spc="-25" dirty="0">
                <a:latin typeface="Candara"/>
                <a:cs typeface="Candara"/>
              </a:rPr>
              <a:t> </a:t>
            </a:r>
            <a:r>
              <a:rPr sz="1800" dirty="0">
                <a:latin typeface="Candara"/>
                <a:cs typeface="Candara"/>
              </a:rPr>
              <a:t>increases</a:t>
            </a:r>
            <a:r>
              <a:rPr sz="1800" spc="-40" dirty="0">
                <a:latin typeface="Candara"/>
                <a:cs typeface="Candara"/>
              </a:rPr>
              <a:t> </a:t>
            </a:r>
            <a:r>
              <a:rPr sz="1800" dirty="0">
                <a:latin typeface="Candara"/>
                <a:cs typeface="Candara"/>
              </a:rPr>
              <a:t>as</a:t>
            </a:r>
            <a:r>
              <a:rPr sz="1800" spc="-20" dirty="0">
                <a:latin typeface="Candara"/>
                <a:cs typeface="Candara"/>
              </a:rPr>
              <a:t> </a:t>
            </a:r>
            <a:r>
              <a:rPr sz="1800" dirty="0">
                <a:latin typeface="Candara"/>
                <a:cs typeface="Candara"/>
              </a:rPr>
              <a:t>the</a:t>
            </a:r>
            <a:r>
              <a:rPr sz="1800" spc="-35" dirty="0">
                <a:latin typeface="Candara"/>
                <a:cs typeface="Candara"/>
              </a:rPr>
              <a:t> </a:t>
            </a:r>
            <a:r>
              <a:rPr sz="1800" dirty="0">
                <a:latin typeface="Candara"/>
                <a:cs typeface="Candara"/>
              </a:rPr>
              <a:t>input</a:t>
            </a:r>
            <a:r>
              <a:rPr sz="1800" spc="-20" dirty="0">
                <a:latin typeface="Candara"/>
                <a:cs typeface="Candara"/>
              </a:rPr>
              <a:t> </a:t>
            </a:r>
            <a:r>
              <a:rPr sz="1800" dirty="0">
                <a:latin typeface="Candara"/>
                <a:cs typeface="Candara"/>
              </a:rPr>
              <a:t>size</a:t>
            </a:r>
            <a:r>
              <a:rPr sz="1800" spc="-35" dirty="0">
                <a:latin typeface="Candara"/>
                <a:cs typeface="Candara"/>
              </a:rPr>
              <a:t> </a:t>
            </a:r>
            <a:r>
              <a:rPr sz="1800" spc="-10" dirty="0">
                <a:latin typeface="Candara"/>
                <a:cs typeface="Candara"/>
              </a:rPr>
              <a:t>grows.</a:t>
            </a:r>
            <a:endParaRPr sz="1800" dirty="0">
              <a:latin typeface="Candara"/>
              <a:cs typeface="Candara"/>
            </a:endParaRPr>
          </a:p>
          <a:p>
            <a:pPr marL="12700">
              <a:lnSpc>
                <a:spcPct val="100000"/>
              </a:lnSpc>
              <a:spcBef>
                <a:spcPts val="2160"/>
              </a:spcBef>
            </a:pPr>
            <a:r>
              <a:rPr sz="1800" dirty="0">
                <a:latin typeface="Candara"/>
                <a:cs typeface="Candara"/>
              </a:rPr>
              <a:t>We</a:t>
            </a:r>
            <a:r>
              <a:rPr sz="1800" spc="-40" dirty="0">
                <a:latin typeface="Candara"/>
                <a:cs typeface="Candara"/>
              </a:rPr>
              <a:t> </a:t>
            </a:r>
            <a:r>
              <a:rPr sz="1800" dirty="0">
                <a:latin typeface="Candara"/>
                <a:cs typeface="Candara"/>
              </a:rPr>
              <a:t>use</a:t>
            </a:r>
            <a:r>
              <a:rPr sz="1800" spc="-40" dirty="0">
                <a:latin typeface="Candara"/>
                <a:cs typeface="Candara"/>
              </a:rPr>
              <a:t> </a:t>
            </a:r>
            <a:r>
              <a:rPr sz="1800" dirty="0">
                <a:latin typeface="Candara"/>
                <a:cs typeface="Candara"/>
              </a:rPr>
              <a:t>an</a:t>
            </a:r>
            <a:r>
              <a:rPr sz="1800" spc="-25" dirty="0">
                <a:latin typeface="Candara"/>
                <a:cs typeface="Candara"/>
              </a:rPr>
              <a:t> </a:t>
            </a:r>
            <a:r>
              <a:rPr sz="1800" b="1" dirty="0">
                <a:latin typeface="Candara"/>
                <a:cs typeface="Candara"/>
              </a:rPr>
              <a:t>n</a:t>
            </a:r>
            <a:r>
              <a:rPr sz="1800" b="1" spc="-30" dirty="0">
                <a:latin typeface="Candara"/>
                <a:cs typeface="Candara"/>
              </a:rPr>
              <a:t> </a:t>
            </a:r>
            <a:r>
              <a:rPr sz="1800" b="1" dirty="0">
                <a:latin typeface="Candara"/>
                <a:cs typeface="Candara"/>
              </a:rPr>
              <a:t>×</a:t>
            </a:r>
            <a:r>
              <a:rPr sz="1800" b="1" spc="-40" dirty="0">
                <a:latin typeface="Candara"/>
                <a:cs typeface="Candara"/>
              </a:rPr>
              <a:t> </a:t>
            </a:r>
            <a:r>
              <a:rPr sz="1800" b="1" dirty="0">
                <a:latin typeface="Candara"/>
                <a:cs typeface="Candara"/>
              </a:rPr>
              <a:t>n</a:t>
            </a:r>
            <a:r>
              <a:rPr sz="1800" b="1" spc="-45" dirty="0">
                <a:latin typeface="Candara"/>
                <a:cs typeface="Candara"/>
              </a:rPr>
              <a:t> </a:t>
            </a:r>
            <a:r>
              <a:rPr sz="1800" dirty="0">
                <a:latin typeface="Candara"/>
                <a:cs typeface="Candara"/>
              </a:rPr>
              <a:t>adjacency</a:t>
            </a:r>
            <a:r>
              <a:rPr sz="1800" spc="-40" dirty="0">
                <a:latin typeface="Candara"/>
                <a:cs typeface="Candara"/>
              </a:rPr>
              <a:t> </a:t>
            </a:r>
            <a:r>
              <a:rPr sz="1800" dirty="0">
                <a:latin typeface="Candara"/>
                <a:cs typeface="Candara"/>
              </a:rPr>
              <a:t>matrix</a:t>
            </a:r>
            <a:r>
              <a:rPr sz="1800" spc="-35" dirty="0">
                <a:latin typeface="Candara"/>
                <a:cs typeface="Candara"/>
              </a:rPr>
              <a:t> </a:t>
            </a:r>
            <a:r>
              <a:rPr sz="1800" dirty="0">
                <a:latin typeface="Candara"/>
                <a:cs typeface="Candara"/>
              </a:rPr>
              <a:t>to</a:t>
            </a:r>
            <a:r>
              <a:rPr sz="1800" spc="-45" dirty="0">
                <a:latin typeface="Candara"/>
                <a:cs typeface="Candara"/>
              </a:rPr>
              <a:t> </a:t>
            </a:r>
            <a:r>
              <a:rPr sz="1800" dirty="0">
                <a:latin typeface="Candara"/>
                <a:cs typeface="Candara"/>
              </a:rPr>
              <a:t>represent</a:t>
            </a:r>
            <a:r>
              <a:rPr sz="1800" spc="-30" dirty="0">
                <a:latin typeface="Candara"/>
                <a:cs typeface="Candara"/>
              </a:rPr>
              <a:t> </a:t>
            </a:r>
            <a:r>
              <a:rPr sz="1800" dirty="0">
                <a:latin typeface="Candara"/>
                <a:cs typeface="Candara"/>
              </a:rPr>
              <a:t>the</a:t>
            </a:r>
            <a:r>
              <a:rPr sz="1800" spc="-30" dirty="0">
                <a:latin typeface="Candara"/>
                <a:cs typeface="Candara"/>
              </a:rPr>
              <a:t> </a:t>
            </a:r>
            <a:r>
              <a:rPr sz="1800" spc="-10" dirty="0">
                <a:latin typeface="Candara"/>
                <a:cs typeface="Candara"/>
              </a:rPr>
              <a:t>graph.</a:t>
            </a:r>
            <a:endParaRPr sz="1800" dirty="0">
              <a:latin typeface="Candara"/>
              <a:cs typeface="Candara"/>
            </a:endParaRPr>
          </a:p>
          <a:p>
            <a:pPr marL="12700">
              <a:lnSpc>
                <a:spcPct val="100000"/>
              </a:lnSpc>
              <a:spcBef>
                <a:spcPts val="2160"/>
              </a:spcBef>
            </a:pPr>
            <a:r>
              <a:rPr sz="1800" spc="-20" dirty="0">
                <a:latin typeface="Candara"/>
                <a:cs typeface="Candara"/>
              </a:rPr>
              <a:t>To</a:t>
            </a:r>
            <a:r>
              <a:rPr sz="1800" spc="-30" dirty="0">
                <a:latin typeface="Candara"/>
                <a:cs typeface="Candara"/>
              </a:rPr>
              <a:t> </a:t>
            </a:r>
            <a:r>
              <a:rPr sz="1800" dirty="0">
                <a:latin typeface="Candara"/>
                <a:cs typeface="Candara"/>
              </a:rPr>
              <a:t>generate</a:t>
            </a:r>
            <a:r>
              <a:rPr sz="1800" spc="-25" dirty="0">
                <a:latin typeface="Candara"/>
                <a:cs typeface="Candara"/>
              </a:rPr>
              <a:t> </a:t>
            </a:r>
            <a:r>
              <a:rPr sz="1800" dirty="0">
                <a:latin typeface="Candara"/>
                <a:cs typeface="Candara"/>
              </a:rPr>
              <a:t>the</a:t>
            </a:r>
            <a:r>
              <a:rPr sz="1800" spc="-25" dirty="0">
                <a:latin typeface="Candara"/>
                <a:cs typeface="Candara"/>
              </a:rPr>
              <a:t> </a:t>
            </a:r>
            <a:r>
              <a:rPr sz="1800" dirty="0">
                <a:latin typeface="Candara"/>
                <a:cs typeface="Candara"/>
              </a:rPr>
              <a:t>graph,</a:t>
            </a:r>
            <a:r>
              <a:rPr sz="1800" spc="-25" dirty="0">
                <a:latin typeface="Candara"/>
                <a:cs typeface="Candara"/>
              </a:rPr>
              <a:t> </a:t>
            </a:r>
            <a:r>
              <a:rPr sz="1800" dirty="0">
                <a:latin typeface="Candara"/>
                <a:cs typeface="Candara"/>
              </a:rPr>
              <a:t>we</a:t>
            </a:r>
            <a:r>
              <a:rPr sz="1800" spc="-25" dirty="0">
                <a:latin typeface="Candara"/>
                <a:cs typeface="Candara"/>
              </a:rPr>
              <a:t> </a:t>
            </a:r>
            <a:r>
              <a:rPr sz="1800" dirty="0">
                <a:latin typeface="Candara"/>
                <a:cs typeface="Candara"/>
              </a:rPr>
              <a:t>fill</a:t>
            </a:r>
            <a:r>
              <a:rPr sz="1800" spc="-45" dirty="0">
                <a:latin typeface="Candara"/>
                <a:cs typeface="Candara"/>
              </a:rPr>
              <a:t> </a:t>
            </a:r>
            <a:r>
              <a:rPr sz="1800" dirty="0">
                <a:latin typeface="Candara"/>
                <a:cs typeface="Candara"/>
              </a:rPr>
              <a:t>an</a:t>
            </a:r>
            <a:r>
              <a:rPr sz="1800" spc="-20" dirty="0">
                <a:latin typeface="Candara"/>
                <a:cs typeface="Candara"/>
              </a:rPr>
              <a:t> </a:t>
            </a:r>
            <a:r>
              <a:rPr sz="1800" b="1" dirty="0">
                <a:latin typeface="Candara"/>
                <a:cs typeface="Candara"/>
              </a:rPr>
              <a:t>n</a:t>
            </a:r>
            <a:r>
              <a:rPr sz="1800" b="1" spc="-30" dirty="0">
                <a:latin typeface="Candara"/>
                <a:cs typeface="Candara"/>
              </a:rPr>
              <a:t> </a:t>
            </a:r>
            <a:r>
              <a:rPr sz="1800" b="1" dirty="0">
                <a:latin typeface="Candara"/>
                <a:cs typeface="Candara"/>
              </a:rPr>
              <a:t>×</a:t>
            </a:r>
            <a:r>
              <a:rPr sz="1800" b="1" spc="-30" dirty="0">
                <a:latin typeface="Candara"/>
                <a:cs typeface="Candara"/>
              </a:rPr>
              <a:t> </a:t>
            </a:r>
            <a:r>
              <a:rPr sz="1800" b="1" dirty="0">
                <a:latin typeface="Candara"/>
                <a:cs typeface="Candara"/>
              </a:rPr>
              <a:t>n</a:t>
            </a:r>
            <a:r>
              <a:rPr sz="1800" b="1" spc="-30" dirty="0">
                <a:latin typeface="Candara"/>
                <a:cs typeface="Candara"/>
              </a:rPr>
              <a:t> </a:t>
            </a:r>
            <a:r>
              <a:rPr sz="1800" dirty="0">
                <a:latin typeface="Candara"/>
                <a:cs typeface="Candara"/>
              </a:rPr>
              <a:t>matrix,</a:t>
            </a:r>
            <a:r>
              <a:rPr sz="1800" spc="-45" dirty="0">
                <a:latin typeface="Candara"/>
                <a:cs typeface="Candara"/>
              </a:rPr>
              <a:t> </a:t>
            </a:r>
            <a:r>
              <a:rPr sz="1800" dirty="0">
                <a:latin typeface="Candara"/>
                <a:cs typeface="Candara"/>
              </a:rPr>
              <a:t>which</a:t>
            </a:r>
            <a:r>
              <a:rPr sz="1800" spc="-35" dirty="0">
                <a:latin typeface="Candara"/>
                <a:cs typeface="Candara"/>
              </a:rPr>
              <a:t> </a:t>
            </a:r>
            <a:r>
              <a:rPr sz="1800" dirty="0">
                <a:latin typeface="Candara"/>
                <a:cs typeface="Candara"/>
              </a:rPr>
              <a:t>requires</a:t>
            </a:r>
            <a:r>
              <a:rPr sz="1800" spc="-35" dirty="0">
                <a:latin typeface="Candara"/>
                <a:cs typeface="Candara"/>
              </a:rPr>
              <a:t> </a:t>
            </a:r>
            <a:r>
              <a:rPr sz="1800" b="1" dirty="0">
                <a:latin typeface="Candara"/>
                <a:cs typeface="Candara"/>
              </a:rPr>
              <a:t>O(n^2)</a:t>
            </a:r>
            <a:r>
              <a:rPr sz="1800" b="1" spc="-40" dirty="0">
                <a:latin typeface="Candara"/>
                <a:cs typeface="Candara"/>
              </a:rPr>
              <a:t> </a:t>
            </a:r>
            <a:r>
              <a:rPr sz="1800" spc="-10" dirty="0">
                <a:latin typeface="Candara"/>
                <a:cs typeface="Candara"/>
              </a:rPr>
              <a:t>operations.</a:t>
            </a:r>
            <a:endParaRPr sz="1800" dirty="0">
              <a:latin typeface="Candara"/>
              <a:cs typeface="Candara"/>
            </a:endParaRPr>
          </a:p>
          <a:p>
            <a:pPr marL="12700" marR="312420">
              <a:lnSpc>
                <a:spcPct val="200000"/>
              </a:lnSpc>
              <a:spcBef>
                <a:spcPts val="5"/>
              </a:spcBef>
            </a:pPr>
            <a:r>
              <a:rPr sz="1800" dirty="0">
                <a:latin typeface="Candara"/>
                <a:cs typeface="Candara"/>
              </a:rPr>
              <a:t>For</a:t>
            </a:r>
            <a:r>
              <a:rPr sz="1800" spc="-35" dirty="0">
                <a:latin typeface="Candara"/>
                <a:cs typeface="Candara"/>
              </a:rPr>
              <a:t> </a:t>
            </a:r>
            <a:r>
              <a:rPr sz="1800" dirty="0">
                <a:latin typeface="Candara"/>
                <a:cs typeface="Candara"/>
              </a:rPr>
              <a:t>each</a:t>
            </a:r>
            <a:r>
              <a:rPr sz="1800" spc="-30" dirty="0">
                <a:latin typeface="Candara"/>
                <a:cs typeface="Candara"/>
              </a:rPr>
              <a:t> </a:t>
            </a:r>
            <a:r>
              <a:rPr sz="1800" dirty="0">
                <a:latin typeface="Candara"/>
                <a:cs typeface="Candara"/>
              </a:rPr>
              <a:t>of</a:t>
            </a:r>
            <a:r>
              <a:rPr sz="1800" spc="-25" dirty="0">
                <a:latin typeface="Candara"/>
                <a:cs typeface="Candara"/>
              </a:rPr>
              <a:t> </a:t>
            </a:r>
            <a:r>
              <a:rPr sz="1800" dirty="0">
                <a:latin typeface="Candara"/>
                <a:cs typeface="Candara"/>
              </a:rPr>
              <a:t>the</a:t>
            </a:r>
            <a:r>
              <a:rPr sz="1800" spc="-30" dirty="0">
                <a:latin typeface="Candara"/>
                <a:cs typeface="Candara"/>
              </a:rPr>
              <a:t> </a:t>
            </a:r>
            <a:r>
              <a:rPr sz="1800" dirty="0">
                <a:latin typeface="Candara"/>
                <a:cs typeface="Candara"/>
              </a:rPr>
              <a:t>n</a:t>
            </a:r>
            <a:r>
              <a:rPr sz="1800" spc="-25" dirty="0">
                <a:latin typeface="Candara"/>
                <a:cs typeface="Candara"/>
              </a:rPr>
              <a:t> </a:t>
            </a:r>
            <a:r>
              <a:rPr sz="1800" dirty="0">
                <a:latin typeface="Candara"/>
                <a:cs typeface="Candara"/>
              </a:rPr>
              <a:t>vertices,</a:t>
            </a:r>
            <a:r>
              <a:rPr sz="1800" spc="-30" dirty="0">
                <a:latin typeface="Candara"/>
                <a:cs typeface="Candara"/>
              </a:rPr>
              <a:t> </a:t>
            </a:r>
            <a:r>
              <a:rPr sz="1800" dirty="0">
                <a:latin typeface="Candara"/>
                <a:cs typeface="Candara"/>
              </a:rPr>
              <a:t>we</a:t>
            </a:r>
            <a:r>
              <a:rPr sz="1800" spc="-25" dirty="0">
                <a:latin typeface="Candara"/>
                <a:cs typeface="Candara"/>
              </a:rPr>
              <a:t> </a:t>
            </a:r>
            <a:r>
              <a:rPr sz="1800" dirty="0">
                <a:latin typeface="Candara"/>
                <a:cs typeface="Candara"/>
              </a:rPr>
              <a:t>perform</a:t>
            </a:r>
            <a:r>
              <a:rPr sz="1800" spc="-20" dirty="0">
                <a:latin typeface="Candara"/>
                <a:cs typeface="Candara"/>
              </a:rPr>
              <a:t> </a:t>
            </a:r>
            <a:r>
              <a:rPr sz="1800" b="1" dirty="0">
                <a:latin typeface="Candara"/>
                <a:cs typeface="Candara"/>
              </a:rPr>
              <a:t>O(n^2)</a:t>
            </a:r>
            <a:r>
              <a:rPr sz="1800" b="1" spc="-20" dirty="0">
                <a:latin typeface="Candara"/>
                <a:cs typeface="Candara"/>
              </a:rPr>
              <a:t> </a:t>
            </a:r>
            <a:r>
              <a:rPr sz="1800" dirty="0">
                <a:latin typeface="Candara"/>
                <a:cs typeface="Candara"/>
              </a:rPr>
              <a:t>operations</a:t>
            </a:r>
            <a:r>
              <a:rPr sz="1800" spc="-50" dirty="0">
                <a:latin typeface="Candara"/>
                <a:cs typeface="Candara"/>
              </a:rPr>
              <a:t> </a:t>
            </a:r>
            <a:r>
              <a:rPr sz="1800" dirty="0">
                <a:latin typeface="Candara"/>
                <a:cs typeface="Candara"/>
              </a:rPr>
              <a:t>to</a:t>
            </a:r>
            <a:r>
              <a:rPr sz="1800" spc="-20" dirty="0">
                <a:latin typeface="Candara"/>
                <a:cs typeface="Candara"/>
              </a:rPr>
              <a:t> </a:t>
            </a:r>
            <a:r>
              <a:rPr sz="1800" dirty="0">
                <a:latin typeface="Candara"/>
                <a:cs typeface="Candara"/>
              </a:rPr>
              <a:t>calculate</a:t>
            </a:r>
            <a:r>
              <a:rPr sz="1800" spc="-20" dirty="0">
                <a:latin typeface="Candara"/>
                <a:cs typeface="Candara"/>
              </a:rPr>
              <a:t> </a:t>
            </a:r>
            <a:r>
              <a:rPr sz="1800" dirty="0">
                <a:latin typeface="Candara"/>
                <a:cs typeface="Candara"/>
              </a:rPr>
              <a:t>both</a:t>
            </a:r>
            <a:r>
              <a:rPr sz="1800" spc="-30" dirty="0">
                <a:latin typeface="Candara"/>
                <a:cs typeface="Candara"/>
              </a:rPr>
              <a:t> </a:t>
            </a:r>
            <a:r>
              <a:rPr sz="1800" dirty="0">
                <a:latin typeface="Candara"/>
                <a:cs typeface="Candara"/>
              </a:rPr>
              <a:t>in-degree</a:t>
            </a:r>
            <a:r>
              <a:rPr sz="1800" spc="-30" dirty="0">
                <a:latin typeface="Candara"/>
                <a:cs typeface="Candara"/>
              </a:rPr>
              <a:t> </a:t>
            </a:r>
            <a:r>
              <a:rPr sz="1800" dirty="0">
                <a:latin typeface="Candara"/>
                <a:cs typeface="Candara"/>
              </a:rPr>
              <a:t>and</a:t>
            </a:r>
            <a:r>
              <a:rPr sz="1800" spc="-35" dirty="0">
                <a:latin typeface="Candara"/>
                <a:cs typeface="Candara"/>
              </a:rPr>
              <a:t> </a:t>
            </a:r>
            <a:r>
              <a:rPr sz="1800" dirty="0">
                <a:latin typeface="Candara"/>
                <a:cs typeface="Candara"/>
              </a:rPr>
              <a:t>out-</a:t>
            </a:r>
            <a:r>
              <a:rPr sz="1800" spc="-10" dirty="0">
                <a:latin typeface="Candara"/>
                <a:cs typeface="Candara"/>
              </a:rPr>
              <a:t>degree. </a:t>
            </a:r>
            <a:r>
              <a:rPr sz="1800" spc="-20" dirty="0">
                <a:latin typeface="Candara"/>
                <a:cs typeface="Candara"/>
              </a:rPr>
              <a:t>Total</a:t>
            </a:r>
            <a:r>
              <a:rPr sz="1800" spc="-35" dirty="0">
                <a:latin typeface="Candara"/>
                <a:cs typeface="Candara"/>
              </a:rPr>
              <a:t> </a:t>
            </a:r>
            <a:r>
              <a:rPr sz="1800" dirty="0">
                <a:latin typeface="Candara"/>
                <a:cs typeface="Candara"/>
              </a:rPr>
              <a:t>operations</a:t>
            </a:r>
            <a:r>
              <a:rPr sz="1800" spc="-35" dirty="0">
                <a:latin typeface="Candara"/>
                <a:cs typeface="Candara"/>
              </a:rPr>
              <a:t> </a:t>
            </a:r>
            <a:r>
              <a:rPr sz="1800" dirty="0">
                <a:latin typeface="Candara"/>
                <a:cs typeface="Candara"/>
              </a:rPr>
              <a:t>=</a:t>
            </a:r>
            <a:r>
              <a:rPr sz="1800" spc="-25" dirty="0">
                <a:latin typeface="Candara"/>
                <a:cs typeface="Candara"/>
              </a:rPr>
              <a:t> </a:t>
            </a:r>
            <a:r>
              <a:rPr sz="1800" dirty="0">
                <a:latin typeface="Candara"/>
                <a:cs typeface="Candara"/>
              </a:rPr>
              <a:t>O(n)</a:t>
            </a:r>
            <a:r>
              <a:rPr sz="1800" spc="-10" dirty="0">
                <a:latin typeface="Candara"/>
                <a:cs typeface="Candara"/>
              </a:rPr>
              <a:t> </a:t>
            </a:r>
            <a:r>
              <a:rPr sz="1800" b="1" dirty="0">
                <a:latin typeface="Candara"/>
                <a:cs typeface="Candara"/>
              </a:rPr>
              <a:t>×</a:t>
            </a:r>
            <a:r>
              <a:rPr sz="1800" b="1" spc="-15" dirty="0">
                <a:latin typeface="Candara"/>
                <a:cs typeface="Candara"/>
              </a:rPr>
              <a:t> </a:t>
            </a:r>
            <a:r>
              <a:rPr sz="1800" b="1" spc="-20" dirty="0">
                <a:latin typeface="Candara"/>
                <a:cs typeface="Candara"/>
              </a:rPr>
              <a:t>O(n)</a:t>
            </a:r>
            <a:endParaRPr sz="1800" dirty="0">
              <a:latin typeface="Candara"/>
              <a:cs typeface="Candara"/>
            </a:endParaRPr>
          </a:p>
          <a:p>
            <a:pPr marL="1637030">
              <a:lnSpc>
                <a:spcPct val="100000"/>
              </a:lnSpc>
            </a:pPr>
            <a:r>
              <a:rPr sz="1800" dirty="0">
                <a:latin typeface="Candara"/>
                <a:cs typeface="Candara"/>
              </a:rPr>
              <a:t>=</a:t>
            </a:r>
            <a:r>
              <a:rPr sz="1800" spc="-15" dirty="0">
                <a:latin typeface="Candara"/>
                <a:cs typeface="Candara"/>
              </a:rPr>
              <a:t> </a:t>
            </a:r>
            <a:r>
              <a:rPr sz="1800" spc="-10" dirty="0">
                <a:latin typeface="Candara"/>
                <a:cs typeface="Candara"/>
              </a:rPr>
              <a:t>O(n^2)</a:t>
            </a:r>
            <a:endParaRPr sz="1800" dirty="0">
              <a:latin typeface="Candara"/>
              <a:cs typeface="Candara"/>
            </a:endParaRPr>
          </a:p>
          <a:p>
            <a:pPr marL="12700">
              <a:lnSpc>
                <a:spcPct val="100000"/>
              </a:lnSpc>
              <a:spcBef>
                <a:spcPts val="2160"/>
              </a:spcBef>
            </a:pPr>
            <a:r>
              <a:rPr sz="1800" spc="-20" dirty="0">
                <a:latin typeface="Candara"/>
                <a:cs typeface="Candara"/>
              </a:rPr>
              <a:t>Total</a:t>
            </a:r>
            <a:r>
              <a:rPr sz="1800" spc="-45" dirty="0">
                <a:latin typeface="Candara"/>
                <a:cs typeface="Candara"/>
              </a:rPr>
              <a:t> </a:t>
            </a:r>
            <a:r>
              <a:rPr sz="1800" dirty="0">
                <a:latin typeface="Candara"/>
                <a:cs typeface="Candara"/>
              </a:rPr>
              <a:t>time</a:t>
            </a:r>
            <a:r>
              <a:rPr sz="1800" spc="-25" dirty="0">
                <a:latin typeface="Candara"/>
                <a:cs typeface="Candara"/>
              </a:rPr>
              <a:t> </a:t>
            </a:r>
            <a:r>
              <a:rPr sz="1800" dirty="0">
                <a:latin typeface="Candara"/>
                <a:cs typeface="Candara"/>
              </a:rPr>
              <a:t>complexity</a:t>
            </a:r>
            <a:r>
              <a:rPr sz="1800" spc="-50" dirty="0">
                <a:latin typeface="Candara"/>
                <a:cs typeface="Candara"/>
              </a:rPr>
              <a:t> </a:t>
            </a:r>
            <a:r>
              <a:rPr sz="1800" dirty="0">
                <a:latin typeface="Candara"/>
                <a:cs typeface="Candara"/>
              </a:rPr>
              <a:t>=</a:t>
            </a:r>
            <a:r>
              <a:rPr sz="1800" spc="-20" dirty="0">
                <a:latin typeface="Candara"/>
                <a:cs typeface="Candara"/>
              </a:rPr>
              <a:t> </a:t>
            </a:r>
            <a:r>
              <a:rPr sz="1800" dirty="0">
                <a:latin typeface="Candara"/>
                <a:cs typeface="Candara"/>
              </a:rPr>
              <a:t>O(n^2)</a:t>
            </a:r>
            <a:r>
              <a:rPr sz="1800" spc="-20" dirty="0">
                <a:latin typeface="Candara"/>
                <a:cs typeface="Candara"/>
              </a:rPr>
              <a:t> </a:t>
            </a:r>
            <a:r>
              <a:rPr sz="1800" dirty="0">
                <a:latin typeface="Candara"/>
                <a:cs typeface="Candara"/>
              </a:rPr>
              <a:t>+</a:t>
            </a:r>
            <a:r>
              <a:rPr sz="1800" spc="-35" dirty="0">
                <a:latin typeface="Candara"/>
                <a:cs typeface="Candara"/>
              </a:rPr>
              <a:t> </a:t>
            </a:r>
            <a:r>
              <a:rPr sz="1800" spc="-10" dirty="0">
                <a:latin typeface="Candara"/>
                <a:cs typeface="Candara"/>
              </a:rPr>
              <a:t>O(n^2)</a:t>
            </a:r>
            <a:endParaRPr sz="1800" dirty="0">
              <a:latin typeface="Candara"/>
              <a:cs typeface="Candara"/>
            </a:endParaRPr>
          </a:p>
          <a:p>
            <a:pPr marL="2129790">
              <a:lnSpc>
                <a:spcPct val="100000"/>
              </a:lnSpc>
            </a:pPr>
            <a:r>
              <a:rPr sz="1800" dirty="0">
                <a:latin typeface="Candara"/>
                <a:cs typeface="Candara"/>
              </a:rPr>
              <a:t>=</a:t>
            </a:r>
            <a:r>
              <a:rPr sz="1800" spc="-15" dirty="0">
                <a:latin typeface="Candara"/>
                <a:cs typeface="Candara"/>
              </a:rPr>
              <a:t> </a:t>
            </a:r>
            <a:r>
              <a:rPr sz="1800" spc="-10" dirty="0">
                <a:latin typeface="Candara"/>
                <a:cs typeface="Candara"/>
              </a:rPr>
              <a:t>O(n^2)</a:t>
            </a:r>
            <a:endParaRPr sz="1800" dirty="0">
              <a:latin typeface="Candara"/>
              <a:cs typeface="Candara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72BBEC2-0E68-4266-5AE3-8FB09268478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CBE70B1-F794-1A50-7CFB-796863EEB051}"/>
              </a:ext>
            </a:extLst>
          </p:cNvPr>
          <p:cNvSpPr txBox="1"/>
          <p:nvPr/>
        </p:nvSpPr>
        <p:spPr>
          <a:xfrm>
            <a:off x="1143000" y="838200"/>
            <a:ext cx="9601200" cy="52219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GB" sz="2000" b="1" dirty="0">
                <a:solidFill>
                  <a:schemeClr val="bg1"/>
                </a:solidFill>
                <a:latin typeface="Candara"/>
                <a:cs typeface="Candara"/>
              </a:rPr>
              <a:t>Theoretical</a:t>
            </a:r>
            <a:r>
              <a:rPr lang="en-GB" sz="2000" b="1" spc="-30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b="1" dirty="0">
                <a:solidFill>
                  <a:schemeClr val="bg1"/>
                </a:solidFill>
                <a:latin typeface="Candara"/>
                <a:cs typeface="Candara"/>
              </a:rPr>
              <a:t>Time</a:t>
            </a:r>
            <a:r>
              <a:rPr lang="en-GB" sz="2000" b="1" spc="-10" dirty="0">
                <a:solidFill>
                  <a:schemeClr val="bg1"/>
                </a:solidFill>
                <a:latin typeface="Candara"/>
                <a:cs typeface="Candara"/>
              </a:rPr>
              <a:t> Complexity</a:t>
            </a:r>
            <a:r>
              <a:rPr lang="en-GB" sz="2000" b="1" spc="-25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b="1" spc="-50" dirty="0">
                <a:solidFill>
                  <a:schemeClr val="bg1"/>
                </a:solidFill>
                <a:latin typeface="Candara"/>
                <a:cs typeface="Candara"/>
              </a:rPr>
              <a:t>:</a:t>
            </a:r>
            <a:endParaRPr lang="en-GB" sz="2000" dirty="0">
              <a:solidFill>
                <a:schemeClr val="bg1"/>
              </a:solidFill>
              <a:latin typeface="Candara"/>
              <a:cs typeface="Candara"/>
            </a:endParaRPr>
          </a:p>
          <a:p>
            <a:pPr marL="12700">
              <a:lnSpc>
                <a:spcPct val="100000"/>
              </a:lnSpc>
              <a:spcBef>
                <a:spcPts val="2160"/>
              </a:spcBef>
            </a:pP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Time</a:t>
            </a:r>
            <a:r>
              <a:rPr lang="en-GB" sz="2000" spc="-25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complexity</a:t>
            </a:r>
            <a:r>
              <a:rPr lang="en-GB" sz="2000" spc="-35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represents</a:t>
            </a:r>
            <a:r>
              <a:rPr lang="en-GB" sz="2000" spc="-15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how</a:t>
            </a:r>
            <a:r>
              <a:rPr lang="en-GB" sz="2000" spc="-45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the</a:t>
            </a:r>
            <a:r>
              <a:rPr lang="en-GB" sz="2000" spc="-25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computational</a:t>
            </a:r>
            <a:r>
              <a:rPr lang="en-GB" sz="2000" spc="-45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time</a:t>
            </a:r>
            <a:r>
              <a:rPr lang="en-GB" sz="2000" spc="-20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of</a:t>
            </a:r>
            <a:r>
              <a:rPr lang="en-GB" sz="2000" spc="-45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a</a:t>
            </a:r>
            <a:r>
              <a:rPr lang="en-GB" sz="2000" spc="-15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program</a:t>
            </a:r>
            <a:r>
              <a:rPr lang="en-GB" sz="2000" spc="-25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increases</a:t>
            </a:r>
            <a:r>
              <a:rPr lang="en-GB" sz="2000" spc="-40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as</a:t>
            </a:r>
            <a:r>
              <a:rPr lang="en-GB" sz="2000" spc="-20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the</a:t>
            </a:r>
            <a:r>
              <a:rPr lang="en-GB" sz="2000" spc="-35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input</a:t>
            </a:r>
            <a:r>
              <a:rPr lang="en-GB" sz="2000" spc="-20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size</a:t>
            </a:r>
            <a:r>
              <a:rPr lang="en-GB" sz="2000" spc="-35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spc="-10" dirty="0">
                <a:solidFill>
                  <a:schemeClr val="bg1"/>
                </a:solidFill>
                <a:latin typeface="Candara"/>
                <a:cs typeface="Candara"/>
              </a:rPr>
              <a:t>grows.</a:t>
            </a:r>
            <a:endParaRPr lang="en-GB" sz="2000" dirty="0">
              <a:solidFill>
                <a:schemeClr val="bg1"/>
              </a:solidFill>
              <a:latin typeface="Candara"/>
              <a:cs typeface="Candara"/>
            </a:endParaRPr>
          </a:p>
          <a:p>
            <a:pPr marL="12700">
              <a:lnSpc>
                <a:spcPct val="100000"/>
              </a:lnSpc>
              <a:spcBef>
                <a:spcPts val="2160"/>
              </a:spcBef>
            </a:pP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We</a:t>
            </a:r>
            <a:r>
              <a:rPr lang="en-GB" sz="2000" spc="-40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use</a:t>
            </a:r>
            <a:r>
              <a:rPr lang="en-GB" sz="2000" spc="-40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an</a:t>
            </a:r>
            <a:r>
              <a:rPr lang="en-GB" sz="2000" spc="-25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b="1" dirty="0">
                <a:solidFill>
                  <a:schemeClr val="bg1"/>
                </a:solidFill>
                <a:latin typeface="Candara"/>
                <a:cs typeface="Candara"/>
              </a:rPr>
              <a:t>n</a:t>
            </a:r>
            <a:r>
              <a:rPr lang="en-GB" sz="2000" b="1" spc="-30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b="1" dirty="0">
                <a:solidFill>
                  <a:schemeClr val="bg1"/>
                </a:solidFill>
                <a:latin typeface="Candara"/>
                <a:cs typeface="Candara"/>
              </a:rPr>
              <a:t>×</a:t>
            </a:r>
            <a:r>
              <a:rPr lang="en-GB" sz="2000" b="1" spc="-40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b="1" dirty="0">
                <a:solidFill>
                  <a:schemeClr val="bg1"/>
                </a:solidFill>
                <a:latin typeface="Candara"/>
                <a:cs typeface="Candara"/>
              </a:rPr>
              <a:t>n</a:t>
            </a:r>
            <a:r>
              <a:rPr lang="en-GB" sz="2000" b="1" spc="-45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adjacency</a:t>
            </a:r>
            <a:r>
              <a:rPr lang="en-GB" sz="2000" spc="-40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matrix</a:t>
            </a:r>
            <a:r>
              <a:rPr lang="en-GB" sz="2000" spc="-35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to</a:t>
            </a:r>
            <a:r>
              <a:rPr lang="en-GB" sz="2000" spc="-45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represent</a:t>
            </a:r>
            <a:r>
              <a:rPr lang="en-GB" sz="2000" spc="-30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the</a:t>
            </a:r>
            <a:r>
              <a:rPr lang="en-GB" sz="2000" spc="-30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spc="-10" dirty="0">
                <a:solidFill>
                  <a:schemeClr val="bg1"/>
                </a:solidFill>
                <a:latin typeface="Candara"/>
                <a:cs typeface="Candara"/>
              </a:rPr>
              <a:t>graph.</a:t>
            </a:r>
            <a:endParaRPr lang="en-GB" sz="2000" dirty="0">
              <a:solidFill>
                <a:schemeClr val="bg1"/>
              </a:solidFill>
              <a:latin typeface="Candara"/>
              <a:cs typeface="Candara"/>
            </a:endParaRPr>
          </a:p>
          <a:p>
            <a:pPr marL="12700">
              <a:lnSpc>
                <a:spcPct val="100000"/>
              </a:lnSpc>
              <a:spcBef>
                <a:spcPts val="2160"/>
              </a:spcBef>
            </a:pPr>
            <a:r>
              <a:rPr lang="en-GB" sz="2000" spc="-20" dirty="0">
                <a:solidFill>
                  <a:schemeClr val="bg1"/>
                </a:solidFill>
                <a:latin typeface="Candara"/>
                <a:cs typeface="Candara"/>
              </a:rPr>
              <a:t>To</a:t>
            </a:r>
            <a:r>
              <a:rPr lang="en-GB" sz="2000" spc="-30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generate</a:t>
            </a:r>
            <a:r>
              <a:rPr lang="en-GB" sz="2000" spc="-25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the</a:t>
            </a:r>
            <a:r>
              <a:rPr lang="en-GB" sz="2000" spc="-25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graph,</a:t>
            </a:r>
            <a:r>
              <a:rPr lang="en-GB" sz="2000" spc="-25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we</a:t>
            </a:r>
            <a:r>
              <a:rPr lang="en-GB" sz="2000" spc="-25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fill</a:t>
            </a:r>
            <a:r>
              <a:rPr lang="en-GB" sz="2000" spc="-45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an</a:t>
            </a:r>
            <a:r>
              <a:rPr lang="en-GB" sz="2000" spc="-20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b="1" dirty="0">
                <a:solidFill>
                  <a:schemeClr val="bg1"/>
                </a:solidFill>
                <a:latin typeface="Candara"/>
                <a:cs typeface="Candara"/>
              </a:rPr>
              <a:t>n</a:t>
            </a:r>
            <a:r>
              <a:rPr lang="en-GB" sz="2000" b="1" spc="-30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b="1" dirty="0">
                <a:solidFill>
                  <a:schemeClr val="bg1"/>
                </a:solidFill>
                <a:latin typeface="Candara"/>
                <a:cs typeface="Candara"/>
              </a:rPr>
              <a:t>×</a:t>
            </a:r>
            <a:r>
              <a:rPr lang="en-GB" sz="2000" b="1" spc="-30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b="1" dirty="0">
                <a:solidFill>
                  <a:schemeClr val="bg1"/>
                </a:solidFill>
                <a:latin typeface="Candara"/>
                <a:cs typeface="Candara"/>
              </a:rPr>
              <a:t>n</a:t>
            </a:r>
            <a:r>
              <a:rPr lang="en-GB" sz="2000" b="1" spc="-30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matrix,</a:t>
            </a:r>
            <a:r>
              <a:rPr lang="en-GB" sz="2000" spc="-45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which</a:t>
            </a:r>
            <a:r>
              <a:rPr lang="en-GB" sz="2000" spc="-35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requires</a:t>
            </a:r>
            <a:r>
              <a:rPr lang="en-GB" sz="2000" spc="-35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b="1" dirty="0">
                <a:solidFill>
                  <a:schemeClr val="bg1"/>
                </a:solidFill>
                <a:latin typeface="Candara"/>
                <a:cs typeface="Candara"/>
              </a:rPr>
              <a:t>O(n^2)</a:t>
            </a:r>
            <a:r>
              <a:rPr lang="en-GB" sz="2000" b="1" spc="-40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spc="-10" dirty="0">
                <a:solidFill>
                  <a:schemeClr val="bg1"/>
                </a:solidFill>
                <a:latin typeface="Candara"/>
                <a:cs typeface="Candara"/>
              </a:rPr>
              <a:t>operations.</a:t>
            </a:r>
            <a:endParaRPr lang="en-GB" sz="2000" dirty="0">
              <a:solidFill>
                <a:schemeClr val="bg1"/>
              </a:solidFill>
              <a:latin typeface="Candara"/>
              <a:cs typeface="Candara"/>
            </a:endParaRPr>
          </a:p>
          <a:p>
            <a:pPr marL="12700" marR="312420">
              <a:lnSpc>
                <a:spcPct val="200000"/>
              </a:lnSpc>
              <a:spcBef>
                <a:spcPts val="5"/>
              </a:spcBef>
            </a:pP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For</a:t>
            </a:r>
            <a:r>
              <a:rPr lang="en-GB" sz="2000" spc="-35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each</a:t>
            </a:r>
            <a:r>
              <a:rPr lang="en-GB" sz="2000" spc="-30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of</a:t>
            </a:r>
            <a:r>
              <a:rPr lang="en-GB" sz="2000" spc="-25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the</a:t>
            </a:r>
            <a:r>
              <a:rPr lang="en-GB" sz="2000" spc="-30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n</a:t>
            </a:r>
            <a:r>
              <a:rPr lang="en-GB" sz="2000" spc="-25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vertices,</a:t>
            </a:r>
            <a:r>
              <a:rPr lang="en-GB" sz="2000" spc="-30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we</a:t>
            </a:r>
            <a:r>
              <a:rPr lang="en-GB" sz="2000" spc="-25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perform</a:t>
            </a:r>
            <a:r>
              <a:rPr lang="en-GB" sz="2000" spc="-20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b="1" dirty="0">
                <a:solidFill>
                  <a:schemeClr val="bg1"/>
                </a:solidFill>
                <a:latin typeface="Candara"/>
                <a:cs typeface="Candara"/>
              </a:rPr>
              <a:t>O(n^2)</a:t>
            </a:r>
            <a:r>
              <a:rPr lang="en-GB" sz="2000" b="1" spc="-20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operations</a:t>
            </a:r>
            <a:r>
              <a:rPr lang="en-GB" sz="2000" spc="-50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to</a:t>
            </a:r>
            <a:r>
              <a:rPr lang="en-GB" sz="2000" spc="-20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calculate</a:t>
            </a:r>
            <a:r>
              <a:rPr lang="en-GB" sz="2000" spc="-20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both</a:t>
            </a:r>
            <a:r>
              <a:rPr lang="en-GB" sz="2000" spc="-30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in-degree</a:t>
            </a:r>
            <a:r>
              <a:rPr lang="en-GB" sz="2000" spc="-30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and</a:t>
            </a:r>
            <a:r>
              <a:rPr lang="en-GB" sz="2000" spc="-35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out-</a:t>
            </a:r>
            <a:r>
              <a:rPr lang="en-GB" sz="2000" spc="-10" dirty="0">
                <a:solidFill>
                  <a:schemeClr val="bg1"/>
                </a:solidFill>
                <a:latin typeface="Candara"/>
                <a:cs typeface="Candara"/>
              </a:rPr>
              <a:t>degree. </a:t>
            </a:r>
            <a:r>
              <a:rPr lang="en-GB" sz="2000" spc="-20" dirty="0">
                <a:solidFill>
                  <a:schemeClr val="bg1"/>
                </a:solidFill>
                <a:latin typeface="Candara"/>
                <a:cs typeface="Candara"/>
              </a:rPr>
              <a:t>Total</a:t>
            </a:r>
            <a:r>
              <a:rPr lang="en-GB" sz="2000" spc="-35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operations</a:t>
            </a:r>
            <a:r>
              <a:rPr lang="en-GB" sz="2000" spc="-35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=</a:t>
            </a:r>
            <a:r>
              <a:rPr lang="en-GB" sz="2000" spc="-25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O(n)</a:t>
            </a:r>
            <a:r>
              <a:rPr lang="en-GB" sz="2000" spc="-10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b="1" dirty="0">
                <a:solidFill>
                  <a:schemeClr val="bg1"/>
                </a:solidFill>
                <a:latin typeface="Candara"/>
                <a:cs typeface="Candara"/>
              </a:rPr>
              <a:t>×</a:t>
            </a:r>
            <a:r>
              <a:rPr lang="en-GB" sz="2000" b="1" spc="-15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b="1" spc="-20" dirty="0">
                <a:solidFill>
                  <a:schemeClr val="bg1"/>
                </a:solidFill>
                <a:latin typeface="Candara"/>
                <a:cs typeface="Candara"/>
              </a:rPr>
              <a:t>O(n)</a:t>
            </a:r>
            <a:endParaRPr lang="en-GB" sz="2000" dirty="0">
              <a:solidFill>
                <a:schemeClr val="bg1"/>
              </a:solidFill>
              <a:latin typeface="Candara"/>
              <a:cs typeface="Candara"/>
            </a:endParaRPr>
          </a:p>
          <a:p>
            <a:pPr marL="1637030">
              <a:lnSpc>
                <a:spcPct val="100000"/>
              </a:lnSpc>
            </a:pP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=</a:t>
            </a:r>
            <a:r>
              <a:rPr lang="en-GB" sz="2000" spc="-15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spc="-10" dirty="0">
                <a:solidFill>
                  <a:schemeClr val="bg1"/>
                </a:solidFill>
                <a:latin typeface="Candara"/>
                <a:cs typeface="Candara"/>
              </a:rPr>
              <a:t>O(n^2)</a:t>
            </a:r>
            <a:endParaRPr lang="en-GB" sz="2000" dirty="0">
              <a:solidFill>
                <a:schemeClr val="bg1"/>
              </a:solidFill>
              <a:latin typeface="Candara"/>
              <a:cs typeface="Candara"/>
            </a:endParaRPr>
          </a:p>
          <a:p>
            <a:pPr marL="12700">
              <a:lnSpc>
                <a:spcPct val="100000"/>
              </a:lnSpc>
              <a:spcBef>
                <a:spcPts val="2160"/>
              </a:spcBef>
            </a:pPr>
            <a:r>
              <a:rPr lang="en-GB" sz="2000" spc="-20" dirty="0">
                <a:solidFill>
                  <a:schemeClr val="bg1"/>
                </a:solidFill>
                <a:latin typeface="Candara"/>
                <a:cs typeface="Candara"/>
              </a:rPr>
              <a:t>Total</a:t>
            </a:r>
            <a:r>
              <a:rPr lang="en-GB" sz="2000" spc="-45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time</a:t>
            </a:r>
            <a:r>
              <a:rPr lang="en-GB" sz="2000" spc="-25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complexity</a:t>
            </a:r>
            <a:r>
              <a:rPr lang="en-GB" sz="2000" spc="-50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=</a:t>
            </a:r>
            <a:r>
              <a:rPr lang="en-GB" sz="2000" spc="-20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O(n^2)</a:t>
            </a:r>
            <a:r>
              <a:rPr lang="en-GB" sz="2000" spc="-20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+</a:t>
            </a:r>
            <a:r>
              <a:rPr lang="en-GB" sz="2000" spc="-35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spc="-10" dirty="0">
                <a:solidFill>
                  <a:schemeClr val="bg1"/>
                </a:solidFill>
                <a:latin typeface="Candara"/>
                <a:cs typeface="Candara"/>
              </a:rPr>
              <a:t>O(n^2)</a:t>
            </a:r>
            <a:endParaRPr lang="en-GB" sz="2000" dirty="0">
              <a:solidFill>
                <a:schemeClr val="bg1"/>
              </a:solidFill>
              <a:latin typeface="Candara"/>
              <a:cs typeface="Candara"/>
            </a:endParaRPr>
          </a:p>
          <a:p>
            <a:pPr marL="2129790">
              <a:lnSpc>
                <a:spcPct val="100000"/>
              </a:lnSpc>
            </a:pP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=</a:t>
            </a:r>
            <a:r>
              <a:rPr lang="en-GB" sz="2000" spc="-15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spc="-10" dirty="0">
                <a:solidFill>
                  <a:schemeClr val="bg1"/>
                </a:solidFill>
                <a:latin typeface="Candara"/>
                <a:cs typeface="Candara"/>
              </a:rPr>
              <a:t>O(n^2)</a:t>
            </a:r>
            <a:endParaRPr lang="en-GB" sz="2000" dirty="0">
              <a:solidFill>
                <a:schemeClr val="bg1"/>
              </a:solidFill>
              <a:latin typeface="Candara"/>
              <a:cs typeface="Candara"/>
            </a:endParaRPr>
          </a:p>
          <a:p>
            <a:endParaRPr lang="en-US" sz="20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548640"/>
            <a:ext cx="12192000" cy="5756275"/>
            <a:chOff x="0" y="548640"/>
            <a:chExt cx="12192000" cy="5756275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842771" y="982979"/>
              <a:ext cx="4274058" cy="454913"/>
            </a:xfrm>
            <a:prstGeom prst="rect">
              <a:avLst/>
            </a:prstGeom>
          </p:spPr>
        </p:pic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842771" y="3665220"/>
              <a:ext cx="1315974" cy="454913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938527" y="3665220"/>
              <a:ext cx="323837" cy="454913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033016" y="3665220"/>
              <a:ext cx="1251966" cy="454913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3063239" y="3665220"/>
              <a:ext cx="456425" cy="454913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3293363" y="3665220"/>
              <a:ext cx="1436369" cy="454913"/>
            </a:xfrm>
            <a:prstGeom prst="rect">
              <a:avLst/>
            </a:prstGeom>
          </p:spPr>
        </p:pic>
        <p:pic>
          <p:nvPicPr>
            <p:cNvPr id="9" name="object 9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4509516" y="3665220"/>
              <a:ext cx="323837" cy="454913"/>
            </a:xfrm>
            <a:prstGeom prst="rect">
              <a:avLst/>
            </a:prstGeom>
          </p:spPr>
        </p:pic>
      </p:grpSp>
      <p:sp>
        <p:nvSpPr>
          <p:cNvPr id="10" name="object 10"/>
          <p:cNvSpPr txBox="1"/>
          <p:nvPr/>
        </p:nvSpPr>
        <p:spPr>
          <a:xfrm>
            <a:off x="957478" y="1025143"/>
            <a:ext cx="10008235" cy="441515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latin typeface="Candara"/>
                <a:cs typeface="Candara"/>
              </a:rPr>
              <a:t>Experimental</a:t>
            </a:r>
            <a:r>
              <a:rPr sz="1600" b="1" spc="10" dirty="0">
                <a:latin typeface="Candara"/>
                <a:cs typeface="Candara"/>
              </a:rPr>
              <a:t> </a:t>
            </a:r>
            <a:r>
              <a:rPr sz="1600" b="1" dirty="0">
                <a:latin typeface="Candara"/>
                <a:cs typeface="Candara"/>
              </a:rPr>
              <a:t>time</a:t>
            </a:r>
            <a:r>
              <a:rPr sz="1600" b="1" spc="-20" dirty="0">
                <a:latin typeface="Candara"/>
                <a:cs typeface="Candara"/>
              </a:rPr>
              <a:t> </a:t>
            </a:r>
            <a:r>
              <a:rPr sz="1600" b="1" dirty="0">
                <a:latin typeface="Candara"/>
                <a:cs typeface="Candara"/>
              </a:rPr>
              <a:t>complexity (</a:t>
            </a:r>
            <a:r>
              <a:rPr sz="1600" b="1" spc="-40" dirty="0">
                <a:latin typeface="Candara"/>
                <a:cs typeface="Candara"/>
              </a:rPr>
              <a:t> </a:t>
            </a:r>
            <a:r>
              <a:rPr sz="1600" b="1" dirty="0">
                <a:latin typeface="Candara"/>
                <a:cs typeface="Candara"/>
              </a:rPr>
              <a:t>from</a:t>
            </a:r>
            <a:r>
              <a:rPr sz="1600" b="1" spc="-15" dirty="0">
                <a:latin typeface="Candara"/>
                <a:cs typeface="Candara"/>
              </a:rPr>
              <a:t> </a:t>
            </a:r>
            <a:r>
              <a:rPr sz="1600" b="1" dirty="0">
                <a:latin typeface="Candara"/>
                <a:cs typeface="Candara"/>
              </a:rPr>
              <a:t>graph</a:t>
            </a:r>
            <a:r>
              <a:rPr sz="1600" b="1" spc="-10" dirty="0">
                <a:latin typeface="Candara"/>
                <a:cs typeface="Candara"/>
              </a:rPr>
              <a:t> </a:t>
            </a:r>
            <a:r>
              <a:rPr sz="1600" b="1" dirty="0">
                <a:latin typeface="Candara"/>
                <a:cs typeface="Candara"/>
              </a:rPr>
              <a:t>)</a:t>
            </a:r>
            <a:r>
              <a:rPr sz="1600" b="1" spc="-45" dirty="0">
                <a:latin typeface="Candara"/>
                <a:cs typeface="Candara"/>
              </a:rPr>
              <a:t> </a:t>
            </a:r>
            <a:r>
              <a:rPr sz="1600" b="1" spc="-50" dirty="0">
                <a:latin typeface="Candara"/>
                <a:cs typeface="Candara"/>
              </a:rPr>
              <a:t>:</a:t>
            </a:r>
            <a:endParaRPr sz="1600" dirty="0">
              <a:latin typeface="Candara"/>
              <a:cs typeface="Candara"/>
            </a:endParaRPr>
          </a:p>
          <a:p>
            <a:pPr marL="12700">
              <a:lnSpc>
                <a:spcPct val="100000"/>
              </a:lnSpc>
              <a:spcBef>
                <a:spcPts val="1920"/>
              </a:spcBef>
            </a:pPr>
            <a:r>
              <a:rPr sz="1600" dirty="0">
                <a:latin typeface="Candara"/>
                <a:cs typeface="Candara"/>
              </a:rPr>
              <a:t>The</a:t>
            </a:r>
            <a:r>
              <a:rPr sz="1600" spc="-45" dirty="0">
                <a:latin typeface="Candara"/>
                <a:cs typeface="Candara"/>
              </a:rPr>
              <a:t> </a:t>
            </a:r>
            <a:r>
              <a:rPr sz="1600" dirty="0">
                <a:latin typeface="Candara"/>
                <a:cs typeface="Candara"/>
              </a:rPr>
              <a:t>equation</a:t>
            </a:r>
            <a:r>
              <a:rPr sz="1600" spc="5" dirty="0">
                <a:latin typeface="Candara"/>
                <a:cs typeface="Candara"/>
              </a:rPr>
              <a:t> </a:t>
            </a:r>
            <a:r>
              <a:rPr sz="1600" dirty="0">
                <a:latin typeface="Candara"/>
                <a:cs typeface="Candara"/>
              </a:rPr>
              <a:t>of</a:t>
            </a:r>
            <a:r>
              <a:rPr sz="1600" spc="-30" dirty="0">
                <a:latin typeface="Candara"/>
                <a:cs typeface="Candara"/>
              </a:rPr>
              <a:t> </a:t>
            </a:r>
            <a:r>
              <a:rPr sz="1600" dirty="0">
                <a:latin typeface="Candara"/>
                <a:cs typeface="Candara"/>
              </a:rPr>
              <a:t>the</a:t>
            </a:r>
            <a:r>
              <a:rPr sz="1600" spc="-25" dirty="0">
                <a:latin typeface="Candara"/>
                <a:cs typeface="Candara"/>
              </a:rPr>
              <a:t> </a:t>
            </a:r>
            <a:r>
              <a:rPr sz="1600" dirty="0">
                <a:latin typeface="Candara"/>
                <a:cs typeface="Candara"/>
              </a:rPr>
              <a:t>trendline</a:t>
            </a:r>
            <a:r>
              <a:rPr sz="1600" spc="-30" dirty="0">
                <a:latin typeface="Candara"/>
                <a:cs typeface="Candara"/>
              </a:rPr>
              <a:t> </a:t>
            </a:r>
            <a:r>
              <a:rPr sz="1600" dirty="0">
                <a:latin typeface="Candara"/>
                <a:cs typeface="Candara"/>
              </a:rPr>
              <a:t>was</a:t>
            </a:r>
            <a:r>
              <a:rPr sz="1600" spc="-30" dirty="0">
                <a:latin typeface="Candara"/>
                <a:cs typeface="Candara"/>
              </a:rPr>
              <a:t> </a:t>
            </a:r>
            <a:r>
              <a:rPr sz="1600" dirty="0">
                <a:latin typeface="Candara"/>
                <a:cs typeface="Candara"/>
              </a:rPr>
              <a:t>of</a:t>
            </a:r>
            <a:r>
              <a:rPr sz="1600" spc="-30" dirty="0">
                <a:latin typeface="Candara"/>
                <a:cs typeface="Candara"/>
              </a:rPr>
              <a:t> </a:t>
            </a:r>
            <a:r>
              <a:rPr sz="1600" dirty="0">
                <a:latin typeface="Candara"/>
                <a:cs typeface="Candara"/>
              </a:rPr>
              <a:t>the</a:t>
            </a:r>
            <a:r>
              <a:rPr sz="1600" spc="-25" dirty="0">
                <a:latin typeface="Candara"/>
                <a:cs typeface="Candara"/>
              </a:rPr>
              <a:t> </a:t>
            </a:r>
            <a:r>
              <a:rPr sz="1600" dirty="0">
                <a:latin typeface="Candara"/>
                <a:cs typeface="Candara"/>
              </a:rPr>
              <a:t>form</a:t>
            </a:r>
            <a:r>
              <a:rPr sz="1600" spc="-30" dirty="0">
                <a:latin typeface="Candara"/>
                <a:cs typeface="Candara"/>
              </a:rPr>
              <a:t> </a:t>
            </a:r>
            <a:r>
              <a:rPr sz="1600" spc="-50" dirty="0">
                <a:latin typeface="Candara"/>
                <a:cs typeface="Candara"/>
              </a:rPr>
              <a:t>:</a:t>
            </a:r>
            <a:endParaRPr sz="1600" dirty="0">
              <a:latin typeface="Candara"/>
              <a:cs typeface="Candara"/>
            </a:endParaRPr>
          </a:p>
          <a:p>
            <a:pPr marL="1478280">
              <a:lnSpc>
                <a:spcPct val="100000"/>
              </a:lnSpc>
            </a:pPr>
            <a:r>
              <a:rPr sz="1600" dirty="0">
                <a:latin typeface="Candara"/>
                <a:cs typeface="Candara"/>
              </a:rPr>
              <a:t>Y</a:t>
            </a:r>
            <a:r>
              <a:rPr sz="1600" spc="-15" dirty="0">
                <a:latin typeface="Candara"/>
                <a:cs typeface="Candara"/>
              </a:rPr>
              <a:t> </a:t>
            </a:r>
            <a:r>
              <a:rPr sz="1600" dirty="0">
                <a:latin typeface="Candara"/>
                <a:cs typeface="Candara"/>
              </a:rPr>
              <a:t>=</a:t>
            </a:r>
            <a:r>
              <a:rPr sz="1600" spc="-20" dirty="0">
                <a:latin typeface="Candara"/>
                <a:cs typeface="Candara"/>
              </a:rPr>
              <a:t> </a:t>
            </a:r>
            <a:r>
              <a:rPr sz="1600" dirty="0">
                <a:latin typeface="Candara"/>
                <a:cs typeface="Candara"/>
              </a:rPr>
              <a:t>0.003x^2</a:t>
            </a:r>
            <a:r>
              <a:rPr sz="1600" spc="-10" dirty="0">
                <a:latin typeface="Candara"/>
                <a:cs typeface="Candara"/>
              </a:rPr>
              <a:t> </a:t>
            </a:r>
            <a:r>
              <a:rPr sz="1600" dirty="0">
                <a:latin typeface="Candara"/>
                <a:cs typeface="Candara"/>
              </a:rPr>
              <a:t>+</a:t>
            </a:r>
            <a:r>
              <a:rPr sz="1600" spc="-5" dirty="0">
                <a:latin typeface="Candara"/>
                <a:cs typeface="Candara"/>
              </a:rPr>
              <a:t> </a:t>
            </a:r>
            <a:r>
              <a:rPr sz="1600" dirty="0">
                <a:latin typeface="Candara"/>
                <a:cs typeface="Candara"/>
              </a:rPr>
              <a:t>0.14x</a:t>
            </a:r>
            <a:r>
              <a:rPr sz="1600" spc="-20" dirty="0">
                <a:latin typeface="Candara"/>
                <a:cs typeface="Candara"/>
              </a:rPr>
              <a:t> </a:t>
            </a:r>
            <a:r>
              <a:rPr sz="1600" dirty="0">
                <a:latin typeface="Candara"/>
                <a:cs typeface="Candara"/>
              </a:rPr>
              <a:t>+</a:t>
            </a:r>
            <a:r>
              <a:rPr sz="1600" spc="-10" dirty="0">
                <a:latin typeface="Candara"/>
                <a:cs typeface="Candara"/>
              </a:rPr>
              <a:t> </a:t>
            </a:r>
            <a:r>
              <a:rPr sz="1600" spc="-25" dirty="0">
                <a:latin typeface="Candara"/>
                <a:cs typeface="Candara"/>
              </a:rPr>
              <a:t>10</a:t>
            </a:r>
            <a:endParaRPr sz="1600" dirty="0">
              <a:latin typeface="Candara"/>
              <a:cs typeface="Candara"/>
            </a:endParaRPr>
          </a:p>
          <a:p>
            <a:pPr marL="12700" marR="83820">
              <a:lnSpc>
                <a:spcPct val="200000"/>
              </a:lnSpc>
            </a:pPr>
            <a:r>
              <a:rPr sz="1600" dirty="0">
                <a:latin typeface="Candara"/>
                <a:cs typeface="Candara"/>
              </a:rPr>
              <a:t>The</a:t>
            </a:r>
            <a:r>
              <a:rPr sz="1600" spc="-45" dirty="0">
                <a:latin typeface="Candara"/>
                <a:cs typeface="Candara"/>
              </a:rPr>
              <a:t> </a:t>
            </a:r>
            <a:r>
              <a:rPr sz="1600" dirty="0">
                <a:latin typeface="Candara"/>
                <a:cs typeface="Candara"/>
              </a:rPr>
              <a:t>highest</a:t>
            </a:r>
            <a:r>
              <a:rPr sz="1600" spc="-30" dirty="0">
                <a:latin typeface="Candara"/>
                <a:cs typeface="Candara"/>
              </a:rPr>
              <a:t> </a:t>
            </a:r>
            <a:r>
              <a:rPr sz="1600" dirty="0">
                <a:latin typeface="Candara"/>
                <a:cs typeface="Candara"/>
              </a:rPr>
              <a:t>degree</a:t>
            </a:r>
            <a:r>
              <a:rPr sz="1600" spc="-30" dirty="0">
                <a:latin typeface="Candara"/>
                <a:cs typeface="Candara"/>
              </a:rPr>
              <a:t> </a:t>
            </a:r>
            <a:r>
              <a:rPr sz="1600" dirty="0">
                <a:latin typeface="Candara"/>
                <a:cs typeface="Candara"/>
              </a:rPr>
              <a:t>term</a:t>
            </a:r>
            <a:r>
              <a:rPr sz="1600" spc="-20" dirty="0">
                <a:latin typeface="Candara"/>
                <a:cs typeface="Candara"/>
              </a:rPr>
              <a:t> </a:t>
            </a:r>
            <a:r>
              <a:rPr sz="1600" dirty="0">
                <a:latin typeface="Candara"/>
                <a:cs typeface="Candara"/>
              </a:rPr>
              <a:t>in</a:t>
            </a:r>
            <a:r>
              <a:rPr sz="1600" spc="-40" dirty="0">
                <a:latin typeface="Candara"/>
                <a:cs typeface="Candara"/>
              </a:rPr>
              <a:t> </a:t>
            </a:r>
            <a:r>
              <a:rPr sz="1600" dirty="0">
                <a:latin typeface="Candara"/>
                <a:cs typeface="Candara"/>
              </a:rPr>
              <a:t>the</a:t>
            </a:r>
            <a:r>
              <a:rPr sz="1600" spc="-45" dirty="0">
                <a:latin typeface="Candara"/>
                <a:cs typeface="Candara"/>
              </a:rPr>
              <a:t> </a:t>
            </a:r>
            <a:r>
              <a:rPr sz="1600" dirty="0">
                <a:latin typeface="Candara"/>
                <a:cs typeface="Candara"/>
              </a:rPr>
              <a:t>equation</a:t>
            </a:r>
            <a:r>
              <a:rPr sz="1600" spc="-5" dirty="0">
                <a:latin typeface="Candara"/>
                <a:cs typeface="Candara"/>
              </a:rPr>
              <a:t> </a:t>
            </a:r>
            <a:r>
              <a:rPr sz="1600" dirty="0">
                <a:latin typeface="Candara"/>
                <a:cs typeface="Candara"/>
              </a:rPr>
              <a:t>is</a:t>
            </a:r>
            <a:r>
              <a:rPr sz="1600" spc="-45" dirty="0">
                <a:latin typeface="Candara"/>
                <a:cs typeface="Candara"/>
              </a:rPr>
              <a:t> </a:t>
            </a:r>
            <a:r>
              <a:rPr sz="1600" b="1" dirty="0">
                <a:latin typeface="Candara"/>
                <a:cs typeface="Candara"/>
              </a:rPr>
              <a:t>x^2</a:t>
            </a:r>
            <a:r>
              <a:rPr sz="1600" dirty="0">
                <a:latin typeface="Candara"/>
                <a:cs typeface="Candara"/>
              </a:rPr>
              <a:t>,</a:t>
            </a:r>
            <a:r>
              <a:rPr sz="1600" spc="-40" dirty="0">
                <a:latin typeface="Candara"/>
                <a:cs typeface="Candara"/>
              </a:rPr>
              <a:t> </a:t>
            </a:r>
            <a:r>
              <a:rPr sz="1600" dirty="0">
                <a:latin typeface="Candara"/>
                <a:cs typeface="Candara"/>
              </a:rPr>
              <a:t>which</a:t>
            </a:r>
            <a:r>
              <a:rPr sz="1600" spc="-40" dirty="0">
                <a:latin typeface="Candara"/>
                <a:cs typeface="Candara"/>
              </a:rPr>
              <a:t> </a:t>
            </a:r>
            <a:r>
              <a:rPr sz="1600" dirty="0">
                <a:latin typeface="Candara"/>
                <a:cs typeface="Candara"/>
              </a:rPr>
              <a:t>confirms</a:t>
            </a:r>
            <a:r>
              <a:rPr sz="1600" spc="-20" dirty="0">
                <a:latin typeface="Candara"/>
                <a:cs typeface="Candara"/>
              </a:rPr>
              <a:t> </a:t>
            </a:r>
            <a:r>
              <a:rPr sz="1600" dirty="0">
                <a:latin typeface="Candara"/>
                <a:cs typeface="Candara"/>
              </a:rPr>
              <a:t>that</a:t>
            </a:r>
            <a:r>
              <a:rPr sz="1600" spc="-30" dirty="0">
                <a:latin typeface="Candara"/>
                <a:cs typeface="Candara"/>
              </a:rPr>
              <a:t> </a:t>
            </a:r>
            <a:r>
              <a:rPr sz="1600" dirty="0">
                <a:latin typeface="Candara"/>
                <a:cs typeface="Candara"/>
              </a:rPr>
              <a:t>the</a:t>
            </a:r>
            <a:r>
              <a:rPr sz="1600" spc="-35" dirty="0">
                <a:latin typeface="Candara"/>
                <a:cs typeface="Candara"/>
              </a:rPr>
              <a:t> </a:t>
            </a:r>
            <a:r>
              <a:rPr sz="1600" dirty="0">
                <a:latin typeface="Candara"/>
                <a:cs typeface="Candara"/>
              </a:rPr>
              <a:t>time</a:t>
            </a:r>
            <a:r>
              <a:rPr sz="1600" spc="-30" dirty="0">
                <a:latin typeface="Candara"/>
                <a:cs typeface="Candara"/>
              </a:rPr>
              <a:t> </a:t>
            </a:r>
            <a:r>
              <a:rPr sz="1600" dirty="0">
                <a:latin typeface="Candara"/>
                <a:cs typeface="Candara"/>
              </a:rPr>
              <a:t>complexity</a:t>
            </a:r>
            <a:r>
              <a:rPr sz="1600" spc="5" dirty="0">
                <a:latin typeface="Candara"/>
                <a:cs typeface="Candara"/>
              </a:rPr>
              <a:t> </a:t>
            </a:r>
            <a:r>
              <a:rPr sz="1600" dirty="0">
                <a:latin typeface="Candara"/>
                <a:cs typeface="Candara"/>
              </a:rPr>
              <a:t>grows</a:t>
            </a:r>
            <a:r>
              <a:rPr sz="1600" spc="-30" dirty="0">
                <a:latin typeface="Candara"/>
                <a:cs typeface="Candara"/>
              </a:rPr>
              <a:t> </a:t>
            </a:r>
            <a:r>
              <a:rPr sz="1600" dirty="0">
                <a:latin typeface="Candara"/>
                <a:cs typeface="Candara"/>
              </a:rPr>
              <a:t>quadratically</a:t>
            </a:r>
            <a:r>
              <a:rPr sz="1600" spc="5" dirty="0">
                <a:latin typeface="Candara"/>
                <a:cs typeface="Candara"/>
              </a:rPr>
              <a:t> </a:t>
            </a:r>
            <a:r>
              <a:rPr sz="1600" dirty="0">
                <a:latin typeface="Candara"/>
                <a:cs typeface="Candara"/>
              </a:rPr>
              <a:t>with</a:t>
            </a:r>
            <a:r>
              <a:rPr sz="1600" spc="-30" dirty="0">
                <a:latin typeface="Candara"/>
                <a:cs typeface="Candara"/>
              </a:rPr>
              <a:t> </a:t>
            </a:r>
            <a:r>
              <a:rPr sz="1600" spc="-25" dirty="0">
                <a:latin typeface="Candara"/>
                <a:cs typeface="Candara"/>
              </a:rPr>
              <a:t>n. </a:t>
            </a:r>
            <a:r>
              <a:rPr sz="1600" dirty="0">
                <a:latin typeface="Candara"/>
                <a:cs typeface="Candara"/>
              </a:rPr>
              <a:t>The</a:t>
            </a:r>
            <a:r>
              <a:rPr sz="1600" spc="-55" dirty="0">
                <a:latin typeface="Candara"/>
                <a:cs typeface="Candara"/>
              </a:rPr>
              <a:t> </a:t>
            </a:r>
            <a:r>
              <a:rPr sz="1600" dirty="0">
                <a:latin typeface="Candara"/>
                <a:cs typeface="Candara"/>
              </a:rPr>
              <a:t>trendline</a:t>
            </a:r>
            <a:r>
              <a:rPr sz="1600" spc="-25" dirty="0">
                <a:latin typeface="Candara"/>
                <a:cs typeface="Candara"/>
              </a:rPr>
              <a:t> </a:t>
            </a:r>
            <a:r>
              <a:rPr sz="1600" dirty="0">
                <a:latin typeface="Candara"/>
                <a:cs typeface="Candara"/>
              </a:rPr>
              <a:t>shows</a:t>
            </a:r>
            <a:r>
              <a:rPr sz="1600" spc="-30" dirty="0">
                <a:latin typeface="Candara"/>
                <a:cs typeface="Candara"/>
              </a:rPr>
              <a:t> </a:t>
            </a:r>
            <a:r>
              <a:rPr sz="1600" dirty="0">
                <a:latin typeface="Candara"/>
                <a:cs typeface="Candara"/>
              </a:rPr>
              <a:t>a</a:t>
            </a:r>
            <a:r>
              <a:rPr sz="1600" spc="-55" dirty="0">
                <a:latin typeface="Candara"/>
                <a:cs typeface="Candara"/>
              </a:rPr>
              <a:t> </a:t>
            </a:r>
            <a:r>
              <a:rPr sz="1600" dirty="0">
                <a:latin typeface="Candara"/>
                <a:cs typeface="Candara"/>
              </a:rPr>
              <a:t>quadratic</a:t>
            </a:r>
            <a:r>
              <a:rPr sz="1600" spc="-30" dirty="0">
                <a:latin typeface="Candara"/>
                <a:cs typeface="Candara"/>
              </a:rPr>
              <a:t> </a:t>
            </a:r>
            <a:r>
              <a:rPr sz="1600" dirty="0">
                <a:latin typeface="Candara"/>
                <a:cs typeface="Candara"/>
              </a:rPr>
              <a:t>relationship</a:t>
            </a:r>
            <a:r>
              <a:rPr sz="1600" spc="-20" dirty="0">
                <a:latin typeface="Candara"/>
                <a:cs typeface="Candara"/>
              </a:rPr>
              <a:t> </a:t>
            </a:r>
            <a:r>
              <a:rPr sz="1600" dirty="0">
                <a:latin typeface="Candara"/>
                <a:cs typeface="Candara"/>
              </a:rPr>
              <a:t>between</a:t>
            </a:r>
            <a:r>
              <a:rPr sz="1600" spc="-35" dirty="0">
                <a:latin typeface="Candara"/>
                <a:cs typeface="Candara"/>
              </a:rPr>
              <a:t> </a:t>
            </a:r>
            <a:r>
              <a:rPr sz="1600" dirty="0">
                <a:latin typeface="Candara"/>
                <a:cs typeface="Candara"/>
              </a:rPr>
              <a:t>the</a:t>
            </a:r>
            <a:r>
              <a:rPr sz="1600" spc="-45" dirty="0">
                <a:latin typeface="Candara"/>
                <a:cs typeface="Candara"/>
              </a:rPr>
              <a:t> </a:t>
            </a:r>
            <a:r>
              <a:rPr sz="1600" dirty="0">
                <a:latin typeface="Candara"/>
                <a:cs typeface="Candara"/>
              </a:rPr>
              <a:t>computational</a:t>
            </a:r>
            <a:r>
              <a:rPr sz="1600" spc="-5" dirty="0">
                <a:latin typeface="Candara"/>
                <a:cs typeface="Candara"/>
              </a:rPr>
              <a:t> </a:t>
            </a:r>
            <a:r>
              <a:rPr sz="1600" dirty="0">
                <a:latin typeface="Candara"/>
                <a:cs typeface="Candara"/>
              </a:rPr>
              <a:t>time</a:t>
            </a:r>
            <a:r>
              <a:rPr sz="1600" spc="-35" dirty="0">
                <a:latin typeface="Candara"/>
                <a:cs typeface="Candara"/>
              </a:rPr>
              <a:t> </a:t>
            </a:r>
            <a:r>
              <a:rPr sz="1600" dirty="0">
                <a:latin typeface="Candara"/>
                <a:cs typeface="Candara"/>
              </a:rPr>
              <a:t>and</a:t>
            </a:r>
            <a:r>
              <a:rPr sz="1600" spc="-50" dirty="0">
                <a:latin typeface="Candara"/>
                <a:cs typeface="Candara"/>
              </a:rPr>
              <a:t> </a:t>
            </a:r>
            <a:r>
              <a:rPr sz="1600" spc="-25" dirty="0">
                <a:latin typeface="Candara"/>
                <a:cs typeface="Candara"/>
              </a:rPr>
              <a:t>n.</a:t>
            </a:r>
            <a:endParaRPr sz="1600" dirty="0">
              <a:latin typeface="Candara"/>
              <a:cs typeface="Candara"/>
            </a:endParaRPr>
          </a:p>
          <a:p>
            <a:pPr marL="12700" marR="2804795">
              <a:lnSpc>
                <a:spcPct val="200000"/>
              </a:lnSpc>
              <a:spcBef>
                <a:spcPts val="5"/>
              </a:spcBef>
            </a:pPr>
            <a:r>
              <a:rPr sz="1600" dirty="0">
                <a:latin typeface="Candara"/>
                <a:cs typeface="Candara"/>
              </a:rPr>
              <a:t>The</a:t>
            </a:r>
            <a:r>
              <a:rPr sz="1600" spc="-50" dirty="0">
                <a:latin typeface="Candara"/>
                <a:cs typeface="Candara"/>
              </a:rPr>
              <a:t> </a:t>
            </a:r>
            <a:r>
              <a:rPr sz="1600" dirty="0">
                <a:latin typeface="Candara"/>
                <a:cs typeface="Candara"/>
              </a:rPr>
              <a:t>experimental</a:t>
            </a:r>
            <a:r>
              <a:rPr sz="1600" spc="-5" dirty="0">
                <a:latin typeface="Candara"/>
                <a:cs typeface="Candara"/>
              </a:rPr>
              <a:t> </a:t>
            </a:r>
            <a:r>
              <a:rPr sz="1600" dirty="0">
                <a:latin typeface="Candara"/>
                <a:cs typeface="Candara"/>
              </a:rPr>
              <a:t>results</a:t>
            </a:r>
            <a:r>
              <a:rPr sz="1600" spc="-20" dirty="0">
                <a:latin typeface="Candara"/>
                <a:cs typeface="Candara"/>
              </a:rPr>
              <a:t> </a:t>
            </a:r>
            <a:r>
              <a:rPr sz="1600" dirty="0">
                <a:latin typeface="Candara"/>
                <a:cs typeface="Candara"/>
              </a:rPr>
              <a:t>also</a:t>
            </a:r>
            <a:r>
              <a:rPr sz="1600" spc="-25" dirty="0">
                <a:latin typeface="Candara"/>
                <a:cs typeface="Candara"/>
              </a:rPr>
              <a:t> </a:t>
            </a:r>
            <a:r>
              <a:rPr sz="1600" dirty="0">
                <a:latin typeface="Candara"/>
                <a:cs typeface="Candara"/>
              </a:rPr>
              <a:t>suggest</a:t>
            </a:r>
            <a:r>
              <a:rPr sz="1600" spc="-20" dirty="0">
                <a:latin typeface="Candara"/>
                <a:cs typeface="Candara"/>
              </a:rPr>
              <a:t> </a:t>
            </a:r>
            <a:r>
              <a:rPr sz="1600" dirty="0">
                <a:latin typeface="Candara"/>
                <a:cs typeface="Candara"/>
              </a:rPr>
              <a:t>that</a:t>
            </a:r>
            <a:r>
              <a:rPr sz="1600" spc="-35" dirty="0">
                <a:latin typeface="Candara"/>
                <a:cs typeface="Candara"/>
              </a:rPr>
              <a:t> </a:t>
            </a:r>
            <a:r>
              <a:rPr sz="1600" dirty="0">
                <a:latin typeface="Candara"/>
                <a:cs typeface="Candara"/>
              </a:rPr>
              <a:t>the</a:t>
            </a:r>
            <a:r>
              <a:rPr sz="1600" spc="-50" dirty="0">
                <a:latin typeface="Candara"/>
                <a:cs typeface="Candara"/>
              </a:rPr>
              <a:t> </a:t>
            </a:r>
            <a:r>
              <a:rPr sz="1600" dirty="0">
                <a:latin typeface="Candara"/>
                <a:cs typeface="Candara"/>
              </a:rPr>
              <a:t>complexity</a:t>
            </a:r>
            <a:r>
              <a:rPr sz="1600" spc="10" dirty="0">
                <a:latin typeface="Candara"/>
                <a:cs typeface="Candara"/>
              </a:rPr>
              <a:t> </a:t>
            </a:r>
            <a:r>
              <a:rPr sz="1600" dirty="0">
                <a:latin typeface="Candara"/>
                <a:cs typeface="Candara"/>
              </a:rPr>
              <a:t>of</a:t>
            </a:r>
            <a:r>
              <a:rPr sz="1600" spc="-50" dirty="0">
                <a:latin typeface="Candara"/>
                <a:cs typeface="Candara"/>
              </a:rPr>
              <a:t> </a:t>
            </a:r>
            <a:r>
              <a:rPr sz="1600" dirty="0">
                <a:latin typeface="Candara"/>
                <a:cs typeface="Candara"/>
              </a:rPr>
              <a:t>the</a:t>
            </a:r>
            <a:r>
              <a:rPr sz="1600" spc="-40" dirty="0">
                <a:latin typeface="Candara"/>
                <a:cs typeface="Candara"/>
              </a:rPr>
              <a:t> </a:t>
            </a:r>
            <a:r>
              <a:rPr sz="1600" dirty="0">
                <a:latin typeface="Candara"/>
                <a:cs typeface="Candara"/>
              </a:rPr>
              <a:t>program</a:t>
            </a:r>
            <a:r>
              <a:rPr sz="1600" spc="-30" dirty="0">
                <a:latin typeface="Candara"/>
                <a:cs typeface="Candara"/>
              </a:rPr>
              <a:t> </a:t>
            </a:r>
            <a:r>
              <a:rPr sz="1600" dirty="0">
                <a:latin typeface="Candara"/>
                <a:cs typeface="Candara"/>
              </a:rPr>
              <a:t>is</a:t>
            </a:r>
            <a:r>
              <a:rPr sz="1600" spc="-35" dirty="0">
                <a:latin typeface="Candara"/>
                <a:cs typeface="Candara"/>
              </a:rPr>
              <a:t> </a:t>
            </a:r>
            <a:r>
              <a:rPr sz="1600" b="1" spc="-10" dirty="0">
                <a:latin typeface="Candara"/>
                <a:cs typeface="Candara"/>
              </a:rPr>
              <a:t>O(n^2)</a:t>
            </a:r>
            <a:r>
              <a:rPr sz="1600" spc="-10" dirty="0">
                <a:latin typeface="Candara"/>
                <a:cs typeface="Candara"/>
              </a:rPr>
              <a:t>. </a:t>
            </a:r>
            <a:r>
              <a:rPr sz="1600" b="1" dirty="0">
                <a:latin typeface="Candara"/>
                <a:cs typeface="Candara"/>
              </a:rPr>
              <a:t>Comparison</a:t>
            </a:r>
            <a:r>
              <a:rPr sz="1600" b="1" spc="-30" dirty="0">
                <a:latin typeface="Candara"/>
                <a:cs typeface="Candara"/>
              </a:rPr>
              <a:t> </a:t>
            </a:r>
            <a:r>
              <a:rPr sz="1600" b="1" dirty="0">
                <a:latin typeface="Candara"/>
                <a:cs typeface="Candara"/>
              </a:rPr>
              <a:t>:</a:t>
            </a:r>
            <a:r>
              <a:rPr sz="1600" b="1" spc="-75" dirty="0">
                <a:latin typeface="Candara"/>
                <a:cs typeface="Candara"/>
              </a:rPr>
              <a:t> </a:t>
            </a:r>
            <a:r>
              <a:rPr sz="1600" b="1" dirty="0">
                <a:latin typeface="Candara"/>
                <a:cs typeface="Candara"/>
              </a:rPr>
              <a:t>Theoretical</a:t>
            </a:r>
            <a:r>
              <a:rPr sz="1600" b="1" spc="-35" dirty="0">
                <a:latin typeface="Candara"/>
                <a:cs typeface="Candara"/>
              </a:rPr>
              <a:t> </a:t>
            </a:r>
            <a:r>
              <a:rPr sz="1600" b="1" dirty="0">
                <a:latin typeface="Candara"/>
                <a:cs typeface="Candara"/>
              </a:rPr>
              <a:t>vs</a:t>
            </a:r>
            <a:r>
              <a:rPr sz="1600" b="1" spc="-60" dirty="0">
                <a:latin typeface="Candara"/>
                <a:cs typeface="Candara"/>
              </a:rPr>
              <a:t> </a:t>
            </a:r>
            <a:r>
              <a:rPr sz="1600" b="1" dirty="0">
                <a:latin typeface="Candara"/>
                <a:cs typeface="Candara"/>
              </a:rPr>
              <a:t>Experimental</a:t>
            </a:r>
            <a:r>
              <a:rPr sz="1600" b="1" spc="-25" dirty="0">
                <a:latin typeface="Candara"/>
                <a:cs typeface="Candara"/>
              </a:rPr>
              <a:t> </a:t>
            </a:r>
            <a:r>
              <a:rPr sz="1600" b="1" spc="-50" dirty="0">
                <a:latin typeface="Candara"/>
                <a:cs typeface="Candara"/>
              </a:rPr>
              <a:t>:</a:t>
            </a:r>
            <a:endParaRPr sz="1600" dirty="0">
              <a:latin typeface="Candara"/>
              <a:cs typeface="Candara"/>
            </a:endParaRPr>
          </a:p>
          <a:p>
            <a:pPr marL="12700">
              <a:lnSpc>
                <a:spcPct val="100000"/>
              </a:lnSpc>
              <a:spcBef>
                <a:spcPts val="1920"/>
              </a:spcBef>
            </a:pPr>
            <a:r>
              <a:rPr sz="1600" dirty="0">
                <a:latin typeface="Candara"/>
                <a:cs typeface="Candara"/>
              </a:rPr>
              <a:t>From</a:t>
            </a:r>
            <a:r>
              <a:rPr sz="1600" spc="-20" dirty="0">
                <a:latin typeface="Candara"/>
                <a:cs typeface="Candara"/>
              </a:rPr>
              <a:t> </a:t>
            </a:r>
            <a:r>
              <a:rPr sz="1600" dirty="0">
                <a:latin typeface="Candara"/>
                <a:cs typeface="Candara"/>
              </a:rPr>
              <a:t>analyzing</a:t>
            </a:r>
            <a:r>
              <a:rPr sz="1600" spc="-30" dirty="0">
                <a:latin typeface="Candara"/>
                <a:cs typeface="Candara"/>
              </a:rPr>
              <a:t> </a:t>
            </a:r>
            <a:r>
              <a:rPr sz="1600" dirty="0">
                <a:latin typeface="Candara"/>
                <a:cs typeface="Candara"/>
              </a:rPr>
              <a:t>the</a:t>
            </a:r>
            <a:r>
              <a:rPr sz="1600" spc="-25" dirty="0">
                <a:latin typeface="Candara"/>
                <a:cs typeface="Candara"/>
              </a:rPr>
              <a:t> </a:t>
            </a:r>
            <a:r>
              <a:rPr sz="1600" dirty="0">
                <a:latin typeface="Candara"/>
                <a:cs typeface="Candara"/>
              </a:rPr>
              <a:t>code,</a:t>
            </a:r>
            <a:r>
              <a:rPr sz="1600" spc="-20" dirty="0">
                <a:latin typeface="Candara"/>
                <a:cs typeface="Candara"/>
              </a:rPr>
              <a:t> </a:t>
            </a:r>
            <a:r>
              <a:rPr sz="1600" dirty="0">
                <a:latin typeface="Candara"/>
                <a:cs typeface="Candara"/>
              </a:rPr>
              <a:t>we</a:t>
            </a:r>
            <a:r>
              <a:rPr sz="1600" spc="-30" dirty="0">
                <a:latin typeface="Candara"/>
                <a:cs typeface="Candara"/>
              </a:rPr>
              <a:t> </a:t>
            </a:r>
            <a:r>
              <a:rPr sz="1600" spc="-10" dirty="0">
                <a:latin typeface="Candara"/>
                <a:cs typeface="Candara"/>
              </a:rPr>
              <a:t>determined</a:t>
            </a:r>
            <a:r>
              <a:rPr sz="1600" spc="-20" dirty="0">
                <a:latin typeface="Candara"/>
                <a:cs typeface="Candara"/>
              </a:rPr>
              <a:t> </a:t>
            </a:r>
            <a:r>
              <a:rPr sz="1600" dirty="0">
                <a:latin typeface="Candara"/>
                <a:cs typeface="Candara"/>
              </a:rPr>
              <a:t>that</a:t>
            </a:r>
            <a:r>
              <a:rPr sz="1600" spc="-25" dirty="0">
                <a:latin typeface="Candara"/>
                <a:cs typeface="Candara"/>
              </a:rPr>
              <a:t> </a:t>
            </a:r>
            <a:r>
              <a:rPr sz="1600" dirty="0">
                <a:latin typeface="Candara"/>
                <a:cs typeface="Candara"/>
              </a:rPr>
              <a:t>the</a:t>
            </a:r>
            <a:r>
              <a:rPr sz="1600" spc="-40" dirty="0">
                <a:latin typeface="Candara"/>
                <a:cs typeface="Candara"/>
              </a:rPr>
              <a:t> </a:t>
            </a:r>
            <a:r>
              <a:rPr sz="1600" dirty="0">
                <a:latin typeface="Candara"/>
                <a:cs typeface="Candara"/>
              </a:rPr>
              <a:t>time</a:t>
            </a:r>
            <a:r>
              <a:rPr sz="1600" spc="-15" dirty="0">
                <a:latin typeface="Candara"/>
                <a:cs typeface="Candara"/>
              </a:rPr>
              <a:t> </a:t>
            </a:r>
            <a:r>
              <a:rPr sz="1600" dirty="0">
                <a:latin typeface="Candara"/>
                <a:cs typeface="Candara"/>
              </a:rPr>
              <a:t>complexity</a:t>
            </a:r>
            <a:r>
              <a:rPr sz="1600" spc="5" dirty="0">
                <a:latin typeface="Candara"/>
                <a:cs typeface="Candara"/>
              </a:rPr>
              <a:t> </a:t>
            </a:r>
            <a:r>
              <a:rPr sz="1600" dirty="0">
                <a:latin typeface="Candara"/>
                <a:cs typeface="Candara"/>
              </a:rPr>
              <a:t>is</a:t>
            </a:r>
            <a:r>
              <a:rPr sz="1600" spc="-40" dirty="0">
                <a:latin typeface="Candara"/>
                <a:cs typeface="Candara"/>
              </a:rPr>
              <a:t> </a:t>
            </a:r>
            <a:r>
              <a:rPr sz="1600" b="1" spc="-10" dirty="0">
                <a:latin typeface="Candara"/>
                <a:cs typeface="Candara"/>
              </a:rPr>
              <a:t>O(n^2)</a:t>
            </a:r>
            <a:r>
              <a:rPr sz="1600" spc="-10" dirty="0">
                <a:latin typeface="Candara"/>
                <a:cs typeface="Candara"/>
              </a:rPr>
              <a:t>.</a:t>
            </a:r>
            <a:endParaRPr sz="1600" dirty="0">
              <a:latin typeface="Candara"/>
              <a:cs typeface="Candara"/>
            </a:endParaRPr>
          </a:p>
          <a:p>
            <a:pPr marL="12700" marR="5080">
              <a:lnSpc>
                <a:spcPct val="200000"/>
              </a:lnSpc>
            </a:pPr>
            <a:r>
              <a:rPr sz="1600" dirty="0">
                <a:latin typeface="Candara"/>
                <a:cs typeface="Candara"/>
              </a:rPr>
              <a:t>From</a:t>
            </a:r>
            <a:r>
              <a:rPr sz="1600" spc="-30" dirty="0">
                <a:latin typeface="Candara"/>
                <a:cs typeface="Candara"/>
              </a:rPr>
              <a:t> </a:t>
            </a:r>
            <a:r>
              <a:rPr sz="1600" dirty="0">
                <a:latin typeface="Candara"/>
                <a:cs typeface="Candara"/>
              </a:rPr>
              <a:t>the</a:t>
            </a:r>
            <a:r>
              <a:rPr sz="1600" spc="-40" dirty="0">
                <a:latin typeface="Candara"/>
                <a:cs typeface="Candara"/>
              </a:rPr>
              <a:t> </a:t>
            </a:r>
            <a:r>
              <a:rPr sz="1600" dirty="0">
                <a:latin typeface="Candara"/>
                <a:cs typeface="Candara"/>
              </a:rPr>
              <a:t>excel</a:t>
            </a:r>
            <a:r>
              <a:rPr sz="1600" spc="-25" dirty="0">
                <a:latin typeface="Candara"/>
                <a:cs typeface="Candara"/>
              </a:rPr>
              <a:t> </a:t>
            </a:r>
            <a:r>
              <a:rPr sz="1600" dirty="0">
                <a:latin typeface="Candara"/>
                <a:cs typeface="Candara"/>
              </a:rPr>
              <a:t>graph</a:t>
            </a:r>
            <a:r>
              <a:rPr sz="1600" spc="-50" dirty="0">
                <a:latin typeface="Candara"/>
                <a:cs typeface="Candara"/>
              </a:rPr>
              <a:t> </a:t>
            </a:r>
            <a:r>
              <a:rPr sz="1600" dirty="0">
                <a:latin typeface="Candara"/>
                <a:cs typeface="Candara"/>
              </a:rPr>
              <a:t>and</a:t>
            </a:r>
            <a:r>
              <a:rPr sz="1600" spc="-40" dirty="0">
                <a:latin typeface="Candara"/>
                <a:cs typeface="Candara"/>
              </a:rPr>
              <a:t> </a:t>
            </a:r>
            <a:r>
              <a:rPr sz="1600" dirty="0">
                <a:latin typeface="Candara"/>
                <a:cs typeface="Candara"/>
              </a:rPr>
              <a:t>the</a:t>
            </a:r>
            <a:r>
              <a:rPr sz="1600" spc="-50" dirty="0">
                <a:latin typeface="Candara"/>
                <a:cs typeface="Candara"/>
              </a:rPr>
              <a:t> </a:t>
            </a:r>
            <a:r>
              <a:rPr sz="1600" dirty="0">
                <a:latin typeface="Candara"/>
                <a:cs typeface="Candara"/>
              </a:rPr>
              <a:t>polynomial trendline,</a:t>
            </a:r>
            <a:r>
              <a:rPr sz="1600" spc="-45" dirty="0">
                <a:latin typeface="Candara"/>
                <a:cs typeface="Candara"/>
              </a:rPr>
              <a:t> </a:t>
            </a:r>
            <a:r>
              <a:rPr sz="1600" dirty="0">
                <a:latin typeface="Candara"/>
                <a:cs typeface="Candara"/>
              </a:rPr>
              <a:t>confirming</a:t>
            </a:r>
            <a:r>
              <a:rPr sz="1600" spc="-35" dirty="0">
                <a:latin typeface="Candara"/>
                <a:cs typeface="Candara"/>
              </a:rPr>
              <a:t> </a:t>
            </a:r>
            <a:r>
              <a:rPr sz="1600" dirty="0">
                <a:latin typeface="Candara"/>
                <a:cs typeface="Candara"/>
              </a:rPr>
              <a:t>that</a:t>
            </a:r>
            <a:r>
              <a:rPr sz="1600" spc="-50" dirty="0">
                <a:latin typeface="Candara"/>
                <a:cs typeface="Candara"/>
              </a:rPr>
              <a:t> </a:t>
            </a:r>
            <a:r>
              <a:rPr sz="1600" dirty="0">
                <a:latin typeface="Candara"/>
                <a:cs typeface="Candara"/>
              </a:rPr>
              <a:t>the</a:t>
            </a:r>
            <a:r>
              <a:rPr sz="1600" spc="-40" dirty="0">
                <a:latin typeface="Candara"/>
                <a:cs typeface="Candara"/>
              </a:rPr>
              <a:t> </a:t>
            </a:r>
            <a:r>
              <a:rPr sz="1600" dirty="0">
                <a:latin typeface="Candara"/>
                <a:cs typeface="Candara"/>
              </a:rPr>
              <a:t>experimental</a:t>
            </a:r>
            <a:r>
              <a:rPr sz="1600" spc="-15" dirty="0">
                <a:latin typeface="Candara"/>
                <a:cs typeface="Candara"/>
              </a:rPr>
              <a:t> </a:t>
            </a:r>
            <a:r>
              <a:rPr sz="1600" dirty="0">
                <a:latin typeface="Candara"/>
                <a:cs typeface="Candara"/>
              </a:rPr>
              <a:t>time</a:t>
            </a:r>
            <a:r>
              <a:rPr sz="1600" spc="-25" dirty="0">
                <a:latin typeface="Candara"/>
                <a:cs typeface="Candara"/>
              </a:rPr>
              <a:t> </a:t>
            </a:r>
            <a:r>
              <a:rPr sz="1600" dirty="0">
                <a:latin typeface="Candara"/>
                <a:cs typeface="Candara"/>
              </a:rPr>
              <a:t>complexity</a:t>
            </a:r>
            <a:r>
              <a:rPr sz="1600" spc="-5" dirty="0">
                <a:latin typeface="Candara"/>
                <a:cs typeface="Candara"/>
              </a:rPr>
              <a:t> </a:t>
            </a:r>
            <a:r>
              <a:rPr sz="1600" dirty="0">
                <a:latin typeface="Candara"/>
                <a:cs typeface="Candara"/>
              </a:rPr>
              <a:t>ia</a:t>
            </a:r>
            <a:r>
              <a:rPr sz="1600" spc="-45" dirty="0">
                <a:latin typeface="Candara"/>
                <a:cs typeface="Candara"/>
              </a:rPr>
              <a:t> </a:t>
            </a:r>
            <a:r>
              <a:rPr sz="1600" dirty="0">
                <a:latin typeface="Candara"/>
                <a:cs typeface="Candara"/>
              </a:rPr>
              <a:t>also</a:t>
            </a:r>
            <a:r>
              <a:rPr sz="1600" spc="-30" dirty="0">
                <a:latin typeface="Candara"/>
                <a:cs typeface="Candara"/>
              </a:rPr>
              <a:t> </a:t>
            </a:r>
            <a:r>
              <a:rPr sz="1600" b="1" spc="-10" dirty="0">
                <a:latin typeface="Candara"/>
                <a:cs typeface="Candara"/>
              </a:rPr>
              <a:t>O(n^2)</a:t>
            </a:r>
            <a:r>
              <a:rPr sz="1600" spc="-10" dirty="0">
                <a:latin typeface="Candara"/>
                <a:cs typeface="Candara"/>
              </a:rPr>
              <a:t>. </a:t>
            </a:r>
            <a:r>
              <a:rPr sz="1600" dirty="0">
                <a:latin typeface="Candara"/>
                <a:cs typeface="Candara"/>
              </a:rPr>
              <a:t>Both</a:t>
            </a:r>
            <a:r>
              <a:rPr sz="1600" spc="-45" dirty="0">
                <a:latin typeface="Candara"/>
                <a:cs typeface="Candara"/>
              </a:rPr>
              <a:t> </a:t>
            </a:r>
            <a:r>
              <a:rPr sz="1600" dirty="0">
                <a:latin typeface="Candara"/>
                <a:cs typeface="Candara"/>
              </a:rPr>
              <a:t>the</a:t>
            </a:r>
            <a:r>
              <a:rPr sz="1600" spc="-40" dirty="0">
                <a:latin typeface="Candara"/>
                <a:cs typeface="Candara"/>
              </a:rPr>
              <a:t> </a:t>
            </a:r>
            <a:r>
              <a:rPr sz="1600" dirty="0">
                <a:latin typeface="Candara"/>
                <a:cs typeface="Candara"/>
              </a:rPr>
              <a:t>theoretical</a:t>
            </a:r>
            <a:r>
              <a:rPr sz="1600" spc="-25" dirty="0">
                <a:latin typeface="Candara"/>
                <a:cs typeface="Candara"/>
              </a:rPr>
              <a:t> </a:t>
            </a:r>
            <a:r>
              <a:rPr sz="1600" dirty="0">
                <a:latin typeface="Candara"/>
                <a:cs typeface="Candara"/>
              </a:rPr>
              <a:t>and</a:t>
            </a:r>
            <a:r>
              <a:rPr sz="1600" spc="-45" dirty="0">
                <a:latin typeface="Candara"/>
                <a:cs typeface="Candara"/>
              </a:rPr>
              <a:t> </a:t>
            </a:r>
            <a:r>
              <a:rPr sz="1600" dirty="0">
                <a:latin typeface="Candara"/>
                <a:cs typeface="Candara"/>
              </a:rPr>
              <a:t>experimental</a:t>
            </a:r>
            <a:r>
              <a:rPr sz="1600" spc="-15" dirty="0">
                <a:latin typeface="Candara"/>
                <a:cs typeface="Candara"/>
              </a:rPr>
              <a:t> </a:t>
            </a:r>
            <a:r>
              <a:rPr sz="1600" dirty="0">
                <a:latin typeface="Candara"/>
                <a:cs typeface="Candara"/>
              </a:rPr>
              <a:t>time</a:t>
            </a:r>
            <a:r>
              <a:rPr sz="1600" spc="-30" dirty="0">
                <a:latin typeface="Candara"/>
                <a:cs typeface="Candara"/>
              </a:rPr>
              <a:t> </a:t>
            </a:r>
            <a:r>
              <a:rPr sz="1600" dirty="0">
                <a:latin typeface="Candara"/>
                <a:cs typeface="Candara"/>
              </a:rPr>
              <a:t>complexity</a:t>
            </a:r>
            <a:r>
              <a:rPr sz="1600" spc="-5" dirty="0">
                <a:latin typeface="Candara"/>
                <a:cs typeface="Candara"/>
              </a:rPr>
              <a:t> </a:t>
            </a:r>
            <a:r>
              <a:rPr sz="1600" dirty="0">
                <a:latin typeface="Candara"/>
                <a:cs typeface="Candara"/>
              </a:rPr>
              <a:t>of</a:t>
            </a:r>
            <a:r>
              <a:rPr sz="1600" spc="-40" dirty="0">
                <a:latin typeface="Candara"/>
                <a:cs typeface="Candara"/>
              </a:rPr>
              <a:t> </a:t>
            </a:r>
            <a:r>
              <a:rPr sz="1600" dirty="0">
                <a:latin typeface="Candara"/>
                <a:cs typeface="Candara"/>
              </a:rPr>
              <a:t>the</a:t>
            </a:r>
            <a:r>
              <a:rPr sz="1600" spc="-50" dirty="0">
                <a:latin typeface="Candara"/>
                <a:cs typeface="Candara"/>
              </a:rPr>
              <a:t> </a:t>
            </a:r>
            <a:r>
              <a:rPr sz="1600" dirty="0">
                <a:latin typeface="Candara"/>
                <a:cs typeface="Candara"/>
              </a:rPr>
              <a:t>program</a:t>
            </a:r>
            <a:r>
              <a:rPr sz="1600" spc="-35" dirty="0">
                <a:latin typeface="Candara"/>
                <a:cs typeface="Candara"/>
              </a:rPr>
              <a:t> </a:t>
            </a:r>
            <a:r>
              <a:rPr sz="1600" dirty="0">
                <a:latin typeface="Candara"/>
                <a:cs typeface="Candara"/>
              </a:rPr>
              <a:t>are</a:t>
            </a:r>
            <a:r>
              <a:rPr sz="1600" spc="-35" dirty="0">
                <a:latin typeface="Candara"/>
                <a:cs typeface="Candara"/>
              </a:rPr>
              <a:t> </a:t>
            </a:r>
            <a:r>
              <a:rPr sz="1600" b="1" spc="-10" dirty="0">
                <a:latin typeface="Candara"/>
                <a:cs typeface="Candara"/>
              </a:rPr>
              <a:t>O(n^2)</a:t>
            </a:r>
            <a:r>
              <a:rPr sz="1600" spc="-10" dirty="0">
                <a:latin typeface="Candara"/>
                <a:cs typeface="Candara"/>
              </a:rPr>
              <a:t>.</a:t>
            </a:r>
            <a:endParaRPr sz="1600" dirty="0">
              <a:latin typeface="Candara"/>
              <a:cs typeface="Candara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45ACCFD-7231-C7CC-2CAD-8838661A5703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FF4CF4A-D557-C430-437A-F36AAB0FB5D8}"/>
              </a:ext>
            </a:extLst>
          </p:cNvPr>
          <p:cNvSpPr txBox="1"/>
          <p:nvPr/>
        </p:nvSpPr>
        <p:spPr>
          <a:xfrm>
            <a:off x="1143000" y="143743"/>
            <a:ext cx="10091522" cy="70429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GB" sz="2000" b="1" spc="-10" dirty="0">
                <a:solidFill>
                  <a:schemeClr val="bg1"/>
                </a:solidFill>
                <a:latin typeface="Candara"/>
                <a:cs typeface="Candara"/>
              </a:rPr>
              <a:t>Experimental</a:t>
            </a:r>
            <a:r>
              <a:rPr lang="en-GB" sz="2000" b="1" spc="10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b="1" dirty="0">
                <a:solidFill>
                  <a:schemeClr val="bg1"/>
                </a:solidFill>
                <a:latin typeface="Candara"/>
                <a:cs typeface="Candara"/>
              </a:rPr>
              <a:t>time</a:t>
            </a:r>
            <a:r>
              <a:rPr lang="en-GB" sz="2000" b="1" spc="-20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b="1" dirty="0">
                <a:solidFill>
                  <a:schemeClr val="bg1"/>
                </a:solidFill>
                <a:latin typeface="Candara"/>
                <a:cs typeface="Candara"/>
              </a:rPr>
              <a:t>complexity (</a:t>
            </a:r>
            <a:r>
              <a:rPr lang="en-GB" sz="2000" b="1" spc="-40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b="1" dirty="0">
                <a:solidFill>
                  <a:schemeClr val="bg1"/>
                </a:solidFill>
                <a:latin typeface="Candara"/>
                <a:cs typeface="Candara"/>
              </a:rPr>
              <a:t>from</a:t>
            </a:r>
            <a:r>
              <a:rPr lang="en-GB" sz="2000" b="1" spc="-15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b="1" dirty="0">
                <a:solidFill>
                  <a:schemeClr val="bg1"/>
                </a:solidFill>
                <a:latin typeface="Candara"/>
                <a:cs typeface="Candara"/>
              </a:rPr>
              <a:t>graph</a:t>
            </a:r>
            <a:r>
              <a:rPr lang="en-GB" sz="2000" b="1" spc="-10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b="1" dirty="0">
                <a:solidFill>
                  <a:schemeClr val="bg1"/>
                </a:solidFill>
                <a:latin typeface="Candara"/>
                <a:cs typeface="Candara"/>
              </a:rPr>
              <a:t>)</a:t>
            </a:r>
            <a:r>
              <a:rPr lang="en-GB" sz="2000" b="1" spc="-45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b="1" spc="-50" dirty="0">
                <a:solidFill>
                  <a:schemeClr val="bg1"/>
                </a:solidFill>
                <a:latin typeface="Candara"/>
                <a:cs typeface="Candara"/>
              </a:rPr>
              <a:t>:</a:t>
            </a:r>
            <a:endParaRPr lang="en-GB" sz="2000" dirty="0">
              <a:solidFill>
                <a:schemeClr val="bg1"/>
              </a:solidFill>
              <a:latin typeface="Candara"/>
              <a:cs typeface="Candara"/>
            </a:endParaRPr>
          </a:p>
          <a:p>
            <a:pPr marL="12700">
              <a:lnSpc>
                <a:spcPct val="100000"/>
              </a:lnSpc>
              <a:spcBef>
                <a:spcPts val="1920"/>
              </a:spcBef>
            </a:pP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The</a:t>
            </a:r>
            <a:r>
              <a:rPr lang="en-GB" sz="2000" spc="-45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equation</a:t>
            </a:r>
            <a:r>
              <a:rPr lang="en-GB" sz="2000" spc="5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of</a:t>
            </a:r>
            <a:r>
              <a:rPr lang="en-GB" sz="2000" spc="-30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the</a:t>
            </a:r>
            <a:r>
              <a:rPr lang="en-GB" sz="2000" spc="-25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trendline</a:t>
            </a:r>
            <a:r>
              <a:rPr lang="en-GB" sz="2000" spc="-30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was</a:t>
            </a:r>
            <a:r>
              <a:rPr lang="en-GB" sz="2000" spc="-30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of</a:t>
            </a:r>
            <a:r>
              <a:rPr lang="en-GB" sz="2000" spc="-30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the</a:t>
            </a:r>
            <a:r>
              <a:rPr lang="en-GB" sz="2000" spc="-25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form</a:t>
            </a:r>
            <a:r>
              <a:rPr lang="en-GB" sz="2000" spc="-30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spc="-50" dirty="0">
                <a:solidFill>
                  <a:schemeClr val="bg1"/>
                </a:solidFill>
                <a:latin typeface="Candara"/>
                <a:cs typeface="Candara"/>
              </a:rPr>
              <a:t>:</a:t>
            </a:r>
            <a:endParaRPr lang="en-GB" sz="2000" dirty="0">
              <a:solidFill>
                <a:schemeClr val="bg1"/>
              </a:solidFill>
              <a:latin typeface="Candara"/>
              <a:cs typeface="Candara"/>
            </a:endParaRPr>
          </a:p>
          <a:p>
            <a:pPr marL="1478280">
              <a:lnSpc>
                <a:spcPct val="100000"/>
              </a:lnSpc>
            </a:pP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Y</a:t>
            </a:r>
            <a:r>
              <a:rPr lang="en-GB" sz="2000" spc="-15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=</a:t>
            </a:r>
            <a:r>
              <a:rPr lang="en-GB" sz="2000" spc="-20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0.003x^2</a:t>
            </a:r>
            <a:r>
              <a:rPr lang="en-GB" sz="2000" spc="-10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+</a:t>
            </a:r>
            <a:r>
              <a:rPr lang="en-GB" sz="2000" spc="-5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0.14x</a:t>
            </a:r>
            <a:r>
              <a:rPr lang="en-GB" sz="2000" spc="-20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+</a:t>
            </a:r>
            <a:r>
              <a:rPr lang="en-GB" sz="2000" spc="-10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spc="-25" dirty="0">
                <a:solidFill>
                  <a:schemeClr val="bg1"/>
                </a:solidFill>
                <a:latin typeface="Candara"/>
                <a:cs typeface="Candara"/>
              </a:rPr>
              <a:t>10</a:t>
            </a:r>
            <a:endParaRPr lang="en-GB" sz="2000" dirty="0">
              <a:solidFill>
                <a:schemeClr val="bg1"/>
              </a:solidFill>
              <a:latin typeface="Candara"/>
              <a:cs typeface="Candara"/>
            </a:endParaRPr>
          </a:p>
          <a:p>
            <a:pPr marL="12700" marR="83820">
              <a:lnSpc>
                <a:spcPct val="200000"/>
              </a:lnSpc>
            </a:pP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The</a:t>
            </a:r>
            <a:r>
              <a:rPr lang="en-GB" sz="2000" spc="-45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highest</a:t>
            </a:r>
            <a:r>
              <a:rPr lang="en-GB" sz="2000" spc="-30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degree</a:t>
            </a:r>
            <a:r>
              <a:rPr lang="en-GB" sz="2000" spc="-30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term</a:t>
            </a:r>
            <a:r>
              <a:rPr lang="en-GB" sz="2000" spc="-20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in</a:t>
            </a:r>
            <a:r>
              <a:rPr lang="en-GB" sz="2000" spc="-40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the</a:t>
            </a:r>
            <a:r>
              <a:rPr lang="en-GB" sz="2000" spc="-45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equation</a:t>
            </a:r>
            <a:r>
              <a:rPr lang="en-GB" sz="2000" spc="-5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is</a:t>
            </a:r>
            <a:r>
              <a:rPr lang="en-GB" sz="2000" spc="-45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b="1" dirty="0">
                <a:solidFill>
                  <a:schemeClr val="bg1"/>
                </a:solidFill>
                <a:latin typeface="Candara"/>
                <a:cs typeface="Candara"/>
              </a:rPr>
              <a:t>x^2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,</a:t>
            </a:r>
            <a:r>
              <a:rPr lang="en-GB" sz="2000" spc="-40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which</a:t>
            </a:r>
            <a:r>
              <a:rPr lang="en-GB" sz="2000" spc="-40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confirms</a:t>
            </a:r>
            <a:r>
              <a:rPr lang="en-GB" sz="2000" spc="-20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that</a:t>
            </a:r>
            <a:r>
              <a:rPr lang="en-GB" sz="2000" spc="-30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the</a:t>
            </a:r>
            <a:r>
              <a:rPr lang="en-GB" sz="2000" spc="-35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time</a:t>
            </a:r>
            <a:r>
              <a:rPr lang="en-GB" sz="2000" spc="-30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complexity</a:t>
            </a:r>
            <a:r>
              <a:rPr lang="en-GB" sz="2000" spc="5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grows</a:t>
            </a:r>
            <a:r>
              <a:rPr lang="en-GB" sz="2000" spc="-30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quadratically</a:t>
            </a:r>
            <a:r>
              <a:rPr lang="en-GB" sz="2000" spc="5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with</a:t>
            </a:r>
            <a:r>
              <a:rPr lang="en-GB" sz="2000" spc="-30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spc="-25" dirty="0">
                <a:solidFill>
                  <a:schemeClr val="bg1"/>
                </a:solidFill>
                <a:latin typeface="Candara"/>
                <a:cs typeface="Candara"/>
              </a:rPr>
              <a:t>n.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The</a:t>
            </a:r>
            <a:r>
              <a:rPr lang="en-GB" sz="2000" spc="-55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trendline</a:t>
            </a:r>
            <a:r>
              <a:rPr lang="en-GB" sz="2000" spc="-25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shows</a:t>
            </a:r>
            <a:r>
              <a:rPr lang="en-GB" sz="2000" spc="-30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a</a:t>
            </a:r>
            <a:r>
              <a:rPr lang="en-GB" sz="2000" spc="-55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quadratic</a:t>
            </a:r>
            <a:r>
              <a:rPr lang="en-GB" sz="2000" spc="-30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relationship</a:t>
            </a:r>
            <a:r>
              <a:rPr lang="en-GB" sz="2000" spc="-20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between</a:t>
            </a:r>
            <a:r>
              <a:rPr lang="en-GB" sz="2000" spc="-35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the</a:t>
            </a:r>
            <a:r>
              <a:rPr lang="en-GB" sz="2000" spc="-45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computational</a:t>
            </a:r>
            <a:r>
              <a:rPr lang="en-GB" sz="2000" spc="-5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time</a:t>
            </a:r>
            <a:r>
              <a:rPr lang="en-GB" sz="2000" spc="-35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and</a:t>
            </a:r>
            <a:r>
              <a:rPr lang="en-GB" sz="2000" spc="-50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spc="-25" dirty="0">
                <a:solidFill>
                  <a:schemeClr val="bg1"/>
                </a:solidFill>
                <a:latin typeface="Candara"/>
                <a:cs typeface="Candara"/>
              </a:rPr>
              <a:t>n.</a:t>
            </a:r>
            <a:endParaRPr lang="en-GB" sz="2000" dirty="0">
              <a:solidFill>
                <a:schemeClr val="bg1"/>
              </a:solidFill>
              <a:latin typeface="Candara"/>
              <a:cs typeface="Candara"/>
            </a:endParaRPr>
          </a:p>
          <a:p>
            <a:pPr marL="12700" marR="2804795">
              <a:lnSpc>
                <a:spcPct val="200000"/>
              </a:lnSpc>
              <a:spcBef>
                <a:spcPts val="5"/>
              </a:spcBef>
            </a:pP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The</a:t>
            </a:r>
            <a:r>
              <a:rPr lang="en-GB" sz="2000" spc="-50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experimental</a:t>
            </a:r>
            <a:r>
              <a:rPr lang="en-GB" sz="2000" spc="-5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results</a:t>
            </a:r>
            <a:r>
              <a:rPr lang="en-GB" sz="2000" spc="-20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also</a:t>
            </a:r>
            <a:r>
              <a:rPr lang="en-GB" sz="2000" spc="-25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suggest</a:t>
            </a:r>
            <a:r>
              <a:rPr lang="en-GB" sz="2000" spc="-20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that</a:t>
            </a:r>
            <a:r>
              <a:rPr lang="en-GB" sz="2000" spc="-35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the</a:t>
            </a:r>
            <a:r>
              <a:rPr lang="en-GB" sz="2000" spc="-50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complexity</a:t>
            </a:r>
            <a:r>
              <a:rPr lang="en-GB" sz="2000" spc="10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of</a:t>
            </a:r>
            <a:r>
              <a:rPr lang="en-GB" sz="2000" spc="-50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the</a:t>
            </a:r>
            <a:r>
              <a:rPr lang="en-GB" sz="2000" spc="-40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program</a:t>
            </a:r>
            <a:r>
              <a:rPr lang="en-GB" sz="2000" spc="-30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is</a:t>
            </a:r>
            <a:r>
              <a:rPr lang="en-GB" sz="2000" spc="-35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b="1" spc="-10" dirty="0">
                <a:solidFill>
                  <a:schemeClr val="bg1"/>
                </a:solidFill>
                <a:latin typeface="Candara"/>
                <a:cs typeface="Candara"/>
              </a:rPr>
              <a:t>O(n^2)</a:t>
            </a:r>
            <a:r>
              <a:rPr lang="en-GB" sz="2000" spc="-10" dirty="0">
                <a:solidFill>
                  <a:schemeClr val="bg1"/>
                </a:solidFill>
                <a:latin typeface="Candara"/>
                <a:cs typeface="Candara"/>
              </a:rPr>
              <a:t>. </a:t>
            </a:r>
            <a:r>
              <a:rPr lang="en-GB" sz="2000" b="1" dirty="0">
                <a:solidFill>
                  <a:schemeClr val="bg1"/>
                </a:solidFill>
                <a:latin typeface="Candara"/>
                <a:cs typeface="Candara"/>
              </a:rPr>
              <a:t>Comparison</a:t>
            </a:r>
            <a:r>
              <a:rPr lang="en-GB" sz="2000" b="1" spc="-30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b="1" dirty="0">
                <a:solidFill>
                  <a:schemeClr val="bg1"/>
                </a:solidFill>
                <a:latin typeface="Candara"/>
                <a:cs typeface="Candara"/>
              </a:rPr>
              <a:t>:</a:t>
            </a:r>
            <a:r>
              <a:rPr lang="en-GB" sz="2000" b="1" spc="-75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b="1" dirty="0">
                <a:solidFill>
                  <a:schemeClr val="bg1"/>
                </a:solidFill>
                <a:latin typeface="Candara"/>
                <a:cs typeface="Candara"/>
              </a:rPr>
              <a:t>Theoretical</a:t>
            </a:r>
            <a:r>
              <a:rPr lang="en-GB" sz="2000" b="1" spc="-35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b="1" dirty="0">
                <a:solidFill>
                  <a:schemeClr val="bg1"/>
                </a:solidFill>
                <a:latin typeface="Candara"/>
                <a:cs typeface="Candara"/>
              </a:rPr>
              <a:t>vs</a:t>
            </a:r>
            <a:r>
              <a:rPr lang="en-GB" sz="2000" b="1" spc="-60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b="1" dirty="0">
                <a:solidFill>
                  <a:schemeClr val="bg1"/>
                </a:solidFill>
                <a:latin typeface="Candara"/>
                <a:cs typeface="Candara"/>
              </a:rPr>
              <a:t>Experimental</a:t>
            </a:r>
            <a:r>
              <a:rPr lang="en-GB" sz="2000" b="1" spc="-25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b="1" spc="-50" dirty="0">
                <a:solidFill>
                  <a:schemeClr val="bg1"/>
                </a:solidFill>
                <a:latin typeface="Candara"/>
                <a:cs typeface="Candara"/>
              </a:rPr>
              <a:t>:</a:t>
            </a:r>
            <a:endParaRPr lang="en-GB" sz="2000" dirty="0">
              <a:solidFill>
                <a:schemeClr val="bg1"/>
              </a:solidFill>
              <a:latin typeface="Candara"/>
              <a:cs typeface="Candara"/>
            </a:endParaRPr>
          </a:p>
          <a:p>
            <a:pPr marL="12700">
              <a:lnSpc>
                <a:spcPct val="100000"/>
              </a:lnSpc>
              <a:spcBef>
                <a:spcPts val="1920"/>
              </a:spcBef>
            </a:pP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From</a:t>
            </a:r>
            <a:r>
              <a:rPr lang="en-GB" sz="2000" spc="-20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 err="1">
                <a:solidFill>
                  <a:schemeClr val="bg1"/>
                </a:solidFill>
                <a:latin typeface="Candara"/>
                <a:cs typeface="Candara"/>
              </a:rPr>
              <a:t>analyzing</a:t>
            </a:r>
            <a:r>
              <a:rPr lang="en-GB" sz="2000" spc="-30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the</a:t>
            </a:r>
            <a:r>
              <a:rPr lang="en-GB" sz="2000" spc="-25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code,</a:t>
            </a:r>
            <a:r>
              <a:rPr lang="en-GB" sz="2000" spc="-20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we</a:t>
            </a:r>
            <a:r>
              <a:rPr lang="en-GB" sz="2000" spc="-30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spc="-10" dirty="0">
                <a:solidFill>
                  <a:schemeClr val="bg1"/>
                </a:solidFill>
                <a:latin typeface="Candara"/>
                <a:cs typeface="Candara"/>
              </a:rPr>
              <a:t>determined</a:t>
            </a:r>
            <a:r>
              <a:rPr lang="en-GB" sz="2000" spc="-20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that</a:t>
            </a:r>
            <a:r>
              <a:rPr lang="en-GB" sz="2000" spc="-25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the</a:t>
            </a:r>
            <a:r>
              <a:rPr lang="en-GB" sz="2000" spc="-40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time</a:t>
            </a:r>
            <a:r>
              <a:rPr lang="en-GB" sz="2000" spc="-15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complexity</a:t>
            </a:r>
            <a:r>
              <a:rPr lang="en-GB" sz="2000" spc="5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is</a:t>
            </a:r>
            <a:r>
              <a:rPr lang="en-GB" sz="2000" spc="-40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b="1" spc="-10" dirty="0">
                <a:solidFill>
                  <a:schemeClr val="bg1"/>
                </a:solidFill>
                <a:latin typeface="Candara"/>
                <a:cs typeface="Candara"/>
              </a:rPr>
              <a:t>O(n^2)</a:t>
            </a:r>
            <a:r>
              <a:rPr lang="en-GB" sz="2000" spc="-10" dirty="0">
                <a:solidFill>
                  <a:schemeClr val="bg1"/>
                </a:solidFill>
                <a:latin typeface="Candara"/>
                <a:cs typeface="Candara"/>
              </a:rPr>
              <a:t>.</a:t>
            </a:r>
            <a:endParaRPr lang="en-GB" sz="2000" dirty="0">
              <a:solidFill>
                <a:schemeClr val="bg1"/>
              </a:solidFill>
              <a:latin typeface="Candara"/>
              <a:cs typeface="Candara"/>
            </a:endParaRPr>
          </a:p>
          <a:p>
            <a:pPr marL="12700" marR="5080">
              <a:lnSpc>
                <a:spcPct val="200000"/>
              </a:lnSpc>
            </a:pP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From</a:t>
            </a:r>
            <a:r>
              <a:rPr lang="en-GB" sz="2000" spc="-30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the</a:t>
            </a:r>
            <a:r>
              <a:rPr lang="en-GB" sz="2000" spc="-40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excel</a:t>
            </a:r>
            <a:r>
              <a:rPr lang="en-GB" sz="2000" spc="-25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graph</a:t>
            </a:r>
            <a:r>
              <a:rPr lang="en-GB" sz="2000" spc="-50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and</a:t>
            </a:r>
            <a:r>
              <a:rPr lang="en-GB" sz="2000" spc="-40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the</a:t>
            </a:r>
            <a:r>
              <a:rPr lang="en-GB" sz="2000" spc="-50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polynomial trendline,</a:t>
            </a:r>
            <a:r>
              <a:rPr lang="en-GB" sz="2000" spc="-45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confirming</a:t>
            </a:r>
            <a:r>
              <a:rPr lang="en-GB" sz="2000" spc="-35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that</a:t>
            </a:r>
            <a:r>
              <a:rPr lang="en-GB" sz="2000" spc="-50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the</a:t>
            </a:r>
            <a:r>
              <a:rPr lang="en-GB" sz="2000" spc="-40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experimental</a:t>
            </a:r>
            <a:r>
              <a:rPr lang="en-GB" sz="2000" spc="-15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time</a:t>
            </a:r>
            <a:r>
              <a:rPr lang="en-GB" sz="2000" spc="-25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complexity</a:t>
            </a:r>
            <a:r>
              <a:rPr lang="en-GB" sz="2000" spc="-5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 err="1">
                <a:solidFill>
                  <a:schemeClr val="bg1"/>
                </a:solidFill>
                <a:latin typeface="Candara"/>
                <a:cs typeface="Candara"/>
              </a:rPr>
              <a:t>ia</a:t>
            </a:r>
            <a:r>
              <a:rPr lang="en-GB" sz="2000" spc="-45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also</a:t>
            </a:r>
            <a:r>
              <a:rPr lang="en-GB" sz="2000" spc="-30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b="1" spc="-10" dirty="0">
                <a:solidFill>
                  <a:schemeClr val="bg1"/>
                </a:solidFill>
                <a:latin typeface="Candara"/>
                <a:cs typeface="Candara"/>
              </a:rPr>
              <a:t>O(n^2)</a:t>
            </a:r>
            <a:r>
              <a:rPr lang="en-GB" sz="2000" spc="-10" dirty="0">
                <a:solidFill>
                  <a:schemeClr val="bg1"/>
                </a:solidFill>
                <a:latin typeface="Candara"/>
                <a:cs typeface="Candara"/>
              </a:rPr>
              <a:t>.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Both</a:t>
            </a:r>
            <a:r>
              <a:rPr lang="en-GB" sz="2000" spc="-45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the</a:t>
            </a:r>
            <a:r>
              <a:rPr lang="en-GB" sz="2000" spc="-40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theoretical</a:t>
            </a:r>
            <a:r>
              <a:rPr lang="en-GB" sz="2000" spc="-25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and</a:t>
            </a:r>
            <a:r>
              <a:rPr lang="en-GB" sz="2000" spc="-45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experimental</a:t>
            </a:r>
            <a:r>
              <a:rPr lang="en-GB" sz="2000" spc="-15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time</a:t>
            </a:r>
            <a:r>
              <a:rPr lang="en-GB" sz="2000" spc="-30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complexity</a:t>
            </a:r>
            <a:r>
              <a:rPr lang="en-GB" sz="2000" spc="-5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of</a:t>
            </a:r>
            <a:r>
              <a:rPr lang="en-GB" sz="2000" spc="-40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the</a:t>
            </a:r>
            <a:r>
              <a:rPr lang="en-GB" sz="2000" spc="-50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program</a:t>
            </a:r>
            <a:r>
              <a:rPr lang="en-GB" sz="2000" spc="-35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ndara"/>
                <a:cs typeface="Candara"/>
              </a:rPr>
              <a:t>are</a:t>
            </a:r>
            <a:r>
              <a:rPr lang="en-GB" sz="2000" spc="-35" dirty="0">
                <a:solidFill>
                  <a:schemeClr val="bg1"/>
                </a:solidFill>
                <a:latin typeface="Candara"/>
                <a:cs typeface="Candara"/>
              </a:rPr>
              <a:t> </a:t>
            </a:r>
            <a:r>
              <a:rPr lang="en-GB" sz="2000" b="1" spc="-10" dirty="0">
                <a:solidFill>
                  <a:schemeClr val="bg1"/>
                </a:solidFill>
                <a:latin typeface="Candara"/>
                <a:cs typeface="Candara"/>
              </a:rPr>
              <a:t>O(n^2)</a:t>
            </a:r>
            <a:r>
              <a:rPr lang="en-GB" sz="2000" spc="-10" dirty="0">
                <a:solidFill>
                  <a:schemeClr val="bg1"/>
                </a:solidFill>
                <a:latin typeface="Candara"/>
                <a:cs typeface="Candara"/>
              </a:rPr>
              <a:t>.</a:t>
            </a:r>
            <a:endParaRPr lang="en-GB" sz="2000" dirty="0">
              <a:solidFill>
                <a:schemeClr val="bg1"/>
              </a:solidFill>
              <a:latin typeface="Candara"/>
              <a:cs typeface="Candara"/>
            </a:endParaRPr>
          </a:p>
          <a:p>
            <a:endParaRPr lang="en-US" sz="20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0123482-C8C6-6C98-6722-B7A3887EDEEE}"/>
              </a:ext>
            </a:extLst>
          </p:cNvPr>
          <p:cNvSpPr txBox="1"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4683864" y="3200556"/>
                </a:moveTo>
                <a:lnTo>
                  <a:pt x="4761803" y="3683234"/>
                </a:lnTo>
                <a:lnTo>
                  <a:pt x="4605240" y="3683234"/>
                </a:lnTo>
                <a:close/>
                <a:moveTo>
                  <a:pt x="7574259" y="3091168"/>
                </a:moveTo>
                <a:lnTo>
                  <a:pt x="7793720" y="3091168"/>
                </a:lnTo>
                <a:lnTo>
                  <a:pt x="7793720" y="3886287"/>
                </a:lnTo>
                <a:lnTo>
                  <a:pt x="7574259" y="3886287"/>
                </a:lnTo>
                <a:close/>
                <a:moveTo>
                  <a:pt x="8128653" y="2953748"/>
                </a:moveTo>
                <a:lnTo>
                  <a:pt x="8128653" y="3925940"/>
                </a:lnTo>
                <a:cubicBezTo>
                  <a:pt x="8128653" y="3991118"/>
                  <a:pt x="8161014" y="4023706"/>
                  <a:pt x="8225735" y="4023706"/>
                </a:cubicBezTo>
                <a:lnTo>
                  <a:pt x="8565524" y="4023706"/>
                </a:lnTo>
                <a:cubicBezTo>
                  <a:pt x="8631157" y="4023706"/>
                  <a:pt x="8663974" y="3991118"/>
                  <a:pt x="8663974" y="3925940"/>
                </a:cubicBezTo>
                <a:lnTo>
                  <a:pt x="8663974" y="2953748"/>
                </a:lnTo>
                <a:lnTo>
                  <a:pt x="8503992" y="2953748"/>
                </a:lnTo>
                <a:lnTo>
                  <a:pt x="8503992" y="3886287"/>
                </a:lnTo>
                <a:lnTo>
                  <a:pt x="8288634" y="3886287"/>
                </a:lnTo>
                <a:lnTo>
                  <a:pt x="8288634" y="2953748"/>
                </a:lnTo>
                <a:close/>
                <a:moveTo>
                  <a:pt x="7509309" y="2953748"/>
                </a:moveTo>
                <a:cubicBezTo>
                  <a:pt x="7445955" y="2953748"/>
                  <a:pt x="7414278" y="2986565"/>
                  <a:pt x="7414278" y="3052198"/>
                </a:cubicBezTo>
                <a:lnTo>
                  <a:pt x="7414278" y="3925940"/>
                </a:lnTo>
                <a:cubicBezTo>
                  <a:pt x="7414278" y="3991118"/>
                  <a:pt x="7445955" y="4023706"/>
                  <a:pt x="7509309" y="4023706"/>
                </a:cubicBezTo>
                <a:lnTo>
                  <a:pt x="7856618" y="4023706"/>
                </a:lnTo>
                <a:cubicBezTo>
                  <a:pt x="7921340" y="4023706"/>
                  <a:pt x="7953701" y="3991118"/>
                  <a:pt x="7953701" y="3925940"/>
                </a:cubicBezTo>
                <a:lnTo>
                  <a:pt x="7953701" y="3052198"/>
                </a:lnTo>
                <a:cubicBezTo>
                  <a:pt x="7953701" y="2986565"/>
                  <a:pt x="7921340" y="2953748"/>
                  <a:pt x="7856618" y="2953748"/>
                </a:cubicBezTo>
                <a:close/>
                <a:moveTo>
                  <a:pt x="6711247" y="2953748"/>
                </a:moveTo>
                <a:cubicBezTo>
                  <a:pt x="6710791" y="2957394"/>
                  <a:pt x="6710791" y="2959446"/>
                  <a:pt x="6711247" y="2959902"/>
                </a:cubicBezTo>
                <a:lnTo>
                  <a:pt x="6852085" y="3407028"/>
                </a:lnTo>
                <a:cubicBezTo>
                  <a:pt x="6853908" y="3412953"/>
                  <a:pt x="6866897" y="3449871"/>
                  <a:pt x="6891054" y="3517784"/>
                </a:cubicBezTo>
                <a:cubicBezTo>
                  <a:pt x="6904728" y="3557437"/>
                  <a:pt x="6915211" y="3595039"/>
                  <a:pt x="6922504" y="3630591"/>
                </a:cubicBezTo>
                <a:lnTo>
                  <a:pt x="6922504" y="4023706"/>
                </a:lnTo>
                <a:lnTo>
                  <a:pt x="7083168" y="4023706"/>
                </a:lnTo>
                <a:lnTo>
                  <a:pt x="7083168" y="3630591"/>
                </a:lnTo>
                <a:cubicBezTo>
                  <a:pt x="7112794" y="3525760"/>
                  <a:pt x="7136267" y="3451239"/>
                  <a:pt x="7153587" y="3407028"/>
                </a:cubicBezTo>
                <a:lnTo>
                  <a:pt x="7295108" y="2959902"/>
                </a:lnTo>
                <a:cubicBezTo>
                  <a:pt x="7295108" y="2958990"/>
                  <a:pt x="7295108" y="2956939"/>
                  <a:pt x="7295108" y="2953748"/>
                </a:cubicBezTo>
                <a:lnTo>
                  <a:pt x="7131026" y="2953748"/>
                </a:lnTo>
                <a:lnTo>
                  <a:pt x="7003861" y="3418650"/>
                </a:lnTo>
                <a:lnTo>
                  <a:pt x="6876013" y="2953748"/>
                </a:lnTo>
                <a:close/>
                <a:moveTo>
                  <a:pt x="5814079" y="2953748"/>
                </a:moveTo>
                <a:lnTo>
                  <a:pt x="5814079" y="4023706"/>
                </a:lnTo>
                <a:lnTo>
                  <a:pt x="5974059" y="4023706"/>
                </a:lnTo>
                <a:lnTo>
                  <a:pt x="5974059" y="3546498"/>
                </a:lnTo>
                <a:lnTo>
                  <a:pt x="6177112" y="4023706"/>
                </a:lnTo>
                <a:lnTo>
                  <a:pt x="6353501" y="4023706"/>
                </a:lnTo>
                <a:lnTo>
                  <a:pt x="6109428" y="3469242"/>
                </a:lnTo>
                <a:lnTo>
                  <a:pt x="6326837" y="2961269"/>
                </a:lnTo>
                <a:lnTo>
                  <a:pt x="6326837" y="2953748"/>
                </a:lnTo>
                <a:lnTo>
                  <a:pt x="6151816" y="2953748"/>
                </a:lnTo>
                <a:lnTo>
                  <a:pt x="5974059" y="3406344"/>
                </a:lnTo>
                <a:lnTo>
                  <a:pt x="5974059" y="2953748"/>
                </a:lnTo>
                <a:close/>
                <a:moveTo>
                  <a:pt x="5109228" y="2953748"/>
                </a:moveTo>
                <a:lnTo>
                  <a:pt x="5109228" y="4023706"/>
                </a:lnTo>
                <a:lnTo>
                  <a:pt x="5265107" y="4023706"/>
                </a:lnTo>
                <a:lnTo>
                  <a:pt x="5265107" y="3427538"/>
                </a:lnTo>
                <a:cubicBezTo>
                  <a:pt x="5265107" y="3408851"/>
                  <a:pt x="5261689" y="3383099"/>
                  <a:pt x="5254852" y="3350282"/>
                </a:cubicBezTo>
                <a:lnTo>
                  <a:pt x="5511231" y="4023706"/>
                </a:lnTo>
                <a:lnTo>
                  <a:pt x="5651386" y="4023706"/>
                </a:lnTo>
                <a:lnTo>
                  <a:pt x="5651386" y="2953748"/>
                </a:lnTo>
                <a:lnTo>
                  <a:pt x="5495507" y="2953748"/>
                </a:lnTo>
                <a:lnTo>
                  <a:pt x="5495507" y="3536243"/>
                </a:lnTo>
                <a:cubicBezTo>
                  <a:pt x="5495507" y="3554930"/>
                  <a:pt x="5498926" y="3580682"/>
                  <a:pt x="5505762" y="3613499"/>
                </a:cubicBezTo>
                <a:lnTo>
                  <a:pt x="5249382" y="2953748"/>
                </a:lnTo>
                <a:close/>
                <a:moveTo>
                  <a:pt x="3728103" y="2953748"/>
                </a:moveTo>
                <a:lnTo>
                  <a:pt x="3728103" y="4023706"/>
                </a:lnTo>
                <a:lnTo>
                  <a:pt x="3888084" y="4023706"/>
                </a:lnTo>
                <a:lnTo>
                  <a:pt x="3888084" y="3543763"/>
                </a:lnTo>
                <a:lnTo>
                  <a:pt x="4104811" y="3543763"/>
                </a:lnTo>
                <a:lnTo>
                  <a:pt x="4104811" y="4023706"/>
                </a:lnTo>
                <a:lnTo>
                  <a:pt x="4266159" y="4023706"/>
                </a:lnTo>
                <a:lnTo>
                  <a:pt x="4266159" y="2953748"/>
                </a:lnTo>
                <a:lnTo>
                  <a:pt x="4104811" y="2953748"/>
                </a:lnTo>
                <a:lnTo>
                  <a:pt x="4104811" y="3394722"/>
                </a:lnTo>
                <a:lnTo>
                  <a:pt x="3888084" y="3394722"/>
                </a:lnTo>
                <a:lnTo>
                  <a:pt x="3888084" y="2953748"/>
                </a:lnTo>
                <a:close/>
                <a:moveTo>
                  <a:pt x="3080854" y="2953748"/>
                </a:moveTo>
                <a:lnTo>
                  <a:pt x="3080854" y="3095270"/>
                </a:lnTo>
                <a:lnTo>
                  <a:pt x="3257244" y="3095270"/>
                </a:lnTo>
                <a:lnTo>
                  <a:pt x="3257244" y="4023706"/>
                </a:lnTo>
                <a:lnTo>
                  <a:pt x="3416541" y="4023706"/>
                </a:lnTo>
                <a:lnTo>
                  <a:pt x="3416541" y="3095270"/>
                </a:lnTo>
                <a:lnTo>
                  <a:pt x="3592930" y="3095270"/>
                </a:lnTo>
                <a:lnTo>
                  <a:pt x="3592930" y="2953748"/>
                </a:lnTo>
                <a:close/>
                <a:moveTo>
                  <a:pt x="4601138" y="2952381"/>
                </a:moveTo>
                <a:lnTo>
                  <a:pt x="4393983" y="4020971"/>
                </a:lnTo>
                <a:lnTo>
                  <a:pt x="4393983" y="4023706"/>
                </a:lnTo>
                <a:lnTo>
                  <a:pt x="4551913" y="4023706"/>
                </a:lnTo>
                <a:lnTo>
                  <a:pt x="4584046" y="3820653"/>
                </a:lnTo>
                <a:lnTo>
                  <a:pt x="4784364" y="3820653"/>
                </a:lnTo>
                <a:lnTo>
                  <a:pt x="4816497" y="4023706"/>
                </a:lnTo>
                <a:lnTo>
                  <a:pt x="4975111" y="4023706"/>
                </a:lnTo>
                <a:lnTo>
                  <a:pt x="4769323" y="2952381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1000" b="1" spc="300" dirty="0">
              <a:latin typeface="Agency FB" panose="020B0503020202020204" pitchFamily="34" charset="0"/>
            </a:endParaRPr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Quotable">
  <a:themeElements>
    <a:clrScheme name="Quotable">
      <a:dk1>
        <a:sysClr val="windowText" lastClr="000000"/>
      </a:dk1>
      <a:lt1>
        <a:sysClr val="window" lastClr="FFFFFF"/>
      </a:lt1>
      <a:dk2>
        <a:srgbClr val="212121"/>
      </a:dk2>
      <a:lt2>
        <a:srgbClr val="636363"/>
      </a:lt2>
      <a:accent1>
        <a:srgbClr val="00C6BB"/>
      </a:accent1>
      <a:accent2>
        <a:srgbClr val="6FEBA0"/>
      </a:accent2>
      <a:accent3>
        <a:srgbClr val="B6DF5E"/>
      </a:accent3>
      <a:accent4>
        <a:srgbClr val="EFB251"/>
      </a:accent4>
      <a:accent5>
        <a:srgbClr val="EF755F"/>
      </a:accent5>
      <a:accent6>
        <a:srgbClr val="ED515C"/>
      </a:accent6>
      <a:hlink>
        <a:srgbClr val="8F8F8F"/>
      </a:hlink>
      <a:folHlink>
        <a:srgbClr val="A5A5A5"/>
      </a:folHlink>
    </a:clrScheme>
    <a:fontScheme name="Quotable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Quotable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lumMod val="105000"/>
              </a:schemeClr>
            </a:gs>
            <a:gs pos="100000">
              <a:schemeClr val="phClr">
                <a:tint val="90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tint val="98000"/>
                <a:lumMod val="102000"/>
              </a:schemeClr>
              <a:schemeClr val="phClr">
                <a:shade val="98000"/>
                <a:lumMod val="98000"/>
              </a:schemeClr>
            </a:duotone>
          </a:blip>
          <a:tile tx="0" ty="0" sx="100000" sy="100000" flip="none" algn="tl"/>
        </a:blipFill>
      </a:fillStyleLst>
      <a:lnStyleLst>
        <a:ln w="9525" cap="rnd" cmpd="sng" algn="ctr">
          <a:solidFill>
            <a:schemeClr val="phClr"/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innerShdw blurRad="63500" dist="25400" dir="13500000">
              <a:srgbClr val="000000">
                <a:alpha val="75000"/>
              </a:srgbClr>
            </a:inn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</a:schemeClr>
            </a:gs>
            <a:gs pos="100000">
              <a:schemeClr val="phClr">
                <a:tint val="84000"/>
                <a:shade val="84000"/>
                <a:lumMod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90000"/>
                <a:satMod val="120000"/>
                <a:lumMod val="90000"/>
              </a:schemeClr>
            </a:gs>
            <a:gs pos="100000">
              <a:schemeClr val="phClr"/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Quotable" id="{39EC5628-30ED-4578-ACD8-9820EDB8E15A}" vid="{6F3559E9-1A4C-49D8-94D4-F41003531C49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Quotable</Template>
  <TotalTime>33</TotalTime>
  <Words>701</Words>
  <Application>Microsoft Office PowerPoint</Application>
  <PresentationFormat>Widescreen</PresentationFormat>
  <Paragraphs>72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9" baseType="lpstr">
      <vt:lpstr>Agency FB</vt:lpstr>
      <vt:lpstr>Arial</vt:lpstr>
      <vt:lpstr>Arial Black</vt:lpstr>
      <vt:lpstr>Cambria</vt:lpstr>
      <vt:lpstr>Candara</vt:lpstr>
      <vt:lpstr>Century Gothic</vt:lpstr>
      <vt:lpstr>Times New Roman</vt:lpstr>
      <vt:lpstr>Wingdings 2</vt:lpstr>
      <vt:lpstr>Quotable</vt:lpstr>
      <vt:lpstr>Mini Project</vt:lpstr>
      <vt:lpstr>SUBMITTED TO</vt:lpstr>
      <vt:lpstr>Directed Graph :</vt:lpstr>
      <vt:lpstr>Presenting Graph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Proyas Pratim Nandi Samya</dc:creator>
  <cp:lastModifiedBy>Md. Arifur Rahman Razu</cp:lastModifiedBy>
  <cp:revision>12</cp:revision>
  <dcterms:created xsi:type="dcterms:W3CDTF">2025-01-21T15:28:18Z</dcterms:created>
  <dcterms:modified xsi:type="dcterms:W3CDTF">2025-01-22T15:44:33Z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2025-01-18T00:00:00Z</vt:filetime>
  </property>
  <property fmtid="{D5CDD505-2E9C-101B-9397-08002B2CF9AE}" pid="3" name="Creator">
    <vt:lpwstr>Microsoft® PowerPoint® LTSC</vt:lpwstr>
  </property>
  <property fmtid="{D5CDD505-2E9C-101B-9397-08002B2CF9AE}" pid="4" name="LastSaved">
    <vt:filetime>2025-01-21T00:00:00Z</vt:filetime>
  </property>
  <property fmtid="{D5CDD505-2E9C-101B-9397-08002B2CF9AE}" pid="5" name="Producer">
    <vt:lpwstr>Microsoft® PowerPoint® LTSC</vt:lpwstr>
  </property>
</Properties>
</file>