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13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15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68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53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4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22-Jan-25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93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22-Jan-25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1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22-Jan-25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36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2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22-Jan-25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17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89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88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22-Jan-25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36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013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9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22-Jan-25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465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52035" y="2558842"/>
            <a:ext cx="349694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dirty="0"/>
              <a:t>Mini Project</a:t>
            </a:r>
            <a:endParaRPr sz="4800" dirty="0"/>
          </a:p>
        </p:txBody>
      </p:sp>
      <p:sp>
        <p:nvSpPr>
          <p:cNvPr id="10" name="object 10"/>
          <p:cNvSpPr txBox="1"/>
          <p:nvPr/>
        </p:nvSpPr>
        <p:spPr>
          <a:xfrm>
            <a:off x="4152900" y="3657600"/>
            <a:ext cx="3886200" cy="2801088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lang="en-GB" sz="2400" dirty="0">
                <a:latin typeface="Candara"/>
                <a:cs typeface="Candara"/>
              </a:rPr>
              <a:t>Group</a:t>
            </a:r>
            <a:r>
              <a:rPr lang="en-GB" sz="2400" spc="-25" dirty="0">
                <a:latin typeface="Candara"/>
                <a:cs typeface="Candara"/>
              </a:rPr>
              <a:t> </a:t>
            </a:r>
            <a:r>
              <a:rPr lang="en-GB" sz="2400" dirty="0">
                <a:latin typeface="Candara"/>
                <a:cs typeface="Candara"/>
              </a:rPr>
              <a:t>:</a:t>
            </a:r>
            <a:r>
              <a:rPr lang="en-GB" sz="2400" spc="-30" dirty="0">
                <a:latin typeface="Candara"/>
                <a:cs typeface="Candara"/>
              </a:rPr>
              <a:t> </a:t>
            </a:r>
            <a:r>
              <a:rPr lang="en-GB" sz="2400" dirty="0">
                <a:latin typeface="Candara"/>
                <a:cs typeface="Candara"/>
              </a:rPr>
              <a:t>07</a:t>
            </a:r>
            <a:r>
              <a:rPr lang="en-GB" sz="2400" spc="-25" dirty="0">
                <a:latin typeface="Candara"/>
                <a:cs typeface="Candara"/>
              </a:rPr>
              <a:t> </a:t>
            </a:r>
            <a:r>
              <a:rPr lang="en-GB" sz="2400" dirty="0">
                <a:latin typeface="Candara"/>
                <a:cs typeface="Candara"/>
              </a:rPr>
              <a:t>(Mini</a:t>
            </a:r>
            <a:r>
              <a:rPr lang="en-GB" sz="2400" spc="-35" dirty="0">
                <a:latin typeface="Candara"/>
                <a:cs typeface="Candara"/>
              </a:rPr>
              <a:t> </a:t>
            </a:r>
            <a:r>
              <a:rPr lang="en-GB" sz="2400" dirty="0">
                <a:latin typeface="Candara"/>
                <a:cs typeface="Candara"/>
              </a:rPr>
              <a:t>Project</a:t>
            </a:r>
            <a:r>
              <a:rPr lang="en-GB" sz="2400" spc="-10" dirty="0">
                <a:latin typeface="Candara"/>
                <a:cs typeface="Candara"/>
              </a:rPr>
              <a:t> </a:t>
            </a:r>
            <a:r>
              <a:rPr lang="en-GB" sz="2400" spc="-25" dirty="0">
                <a:latin typeface="Candara"/>
                <a:cs typeface="Candara"/>
              </a:rPr>
              <a:t>1)</a:t>
            </a:r>
            <a:endParaRPr lang="en-GB" sz="2400" dirty="0">
              <a:latin typeface="Candara"/>
              <a:cs typeface="Candara"/>
            </a:endParaRPr>
          </a:p>
          <a:p>
            <a:pPr marL="635" algn="ctr">
              <a:lnSpc>
                <a:spcPct val="100000"/>
              </a:lnSpc>
              <a:spcBef>
                <a:spcPts val="600"/>
              </a:spcBef>
            </a:pPr>
            <a:r>
              <a:rPr lang="en-GB" sz="2400" dirty="0">
                <a:latin typeface="Candara"/>
                <a:cs typeface="Candara"/>
              </a:rPr>
              <a:t>CSE</a:t>
            </a:r>
            <a:r>
              <a:rPr lang="en-GB" sz="2400" spc="-25" dirty="0">
                <a:latin typeface="Candara"/>
                <a:cs typeface="Candara"/>
              </a:rPr>
              <a:t> 106</a:t>
            </a:r>
            <a:endParaRPr lang="en-GB" sz="2400" dirty="0">
              <a:latin typeface="Candara"/>
              <a:cs typeface="Candara"/>
            </a:endParaRPr>
          </a:p>
          <a:p>
            <a:pPr marL="182880" marR="176530" algn="ctr">
              <a:lnSpc>
                <a:spcPct val="131200"/>
              </a:lnSpc>
            </a:pPr>
            <a:r>
              <a:rPr lang="en-GB" sz="2400" dirty="0">
                <a:latin typeface="Candara"/>
                <a:cs typeface="Candara"/>
              </a:rPr>
              <a:t>Discrete</a:t>
            </a:r>
            <a:r>
              <a:rPr lang="en-GB" sz="2400" spc="-60" dirty="0">
                <a:latin typeface="Candara"/>
                <a:cs typeface="Candara"/>
              </a:rPr>
              <a:t> </a:t>
            </a:r>
            <a:r>
              <a:rPr lang="en-GB" sz="2400" spc="-10" dirty="0">
                <a:latin typeface="Candara"/>
                <a:cs typeface="Candara"/>
              </a:rPr>
              <a:t>Mathematics </a:t>
            </a:r>
            <a:r>
              <a:rPr lang="en-GB" sz="2400" dirty="0">
                <a:latin typeface="Candara"/>
                <a:cs typeface="Candara"/>
              </a:rPr>
              <a:t>Section</a:t>
            </a:r>
            <a:r>
              <a:rPr lang="en-GB" sz="2400" spc="-15" dirty="0">
                <a:latin typeface="Candara"/>
                <a:cs typeface="Candara"/>
              </a:rPr>
              <a:t> </a:t>
            </a:r>
            <a:r>
              <a:rPr lang="en-GB" sz="2400" dirty="0">
                <a:latin typeface="Candara"/>
                <a:cs typeface="Candara"/>
              </a:rPr>
              <a:t>:</a:t>
            </a:r>
            <a:r>
              <a:rPr lang="en-GB" sz="2400" spc="-35" dirty="0">
                <a:latin typeface="Candara"/>
                <a:cs typeface="Candara"/>
              </a:rPr>
              <a:t> </a:t>
            </a:r>
            <a:r>
              <a:rPr lang="en-GB" sz="2400" spc="-25" dirty="0">
                <a:latin typeface="Candara"/>
                <a:cs typeface="Candara"/>
              </a:rPr>
              <a:t>06</a:t>
            </a:r>
          </a:p>
          <a:p>
            <a:pPr marL="182880" marR="176530" algn="ctr">
              <a:lnSpc>
                <a:spcPct val="131200"/>
              </a:lnSpc>
            </a:pPr>
            <a:r>
              <a:rPr lang="en-GB" sz="2400" spc="-25" dirty="0">
                <a:latin typeface="Candara"/>
                <a:cs typeface="Candara"/>
              </a:rPr>
              <a:t>Topic Name : Directed Graph</a:t>
            </a:r>
            <a:endParaRPr lang="en-GB" sz="2400" dirty="0">
              <a:latin typeface="Candara"/>
              <a:cs typeface="Candara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EC2E11-4A31-DA41-D43F-C44264DCA10E}"/>
              </a:ext>
            </a:extLst>
          </p:cNvPr>
          <p:cNvSpPr/>
          <p:nvPr/>
        </p:nvSpPr>
        <p:spPr>
          <a:xfrm>
            <a:off x="0" y="-2458"/>
            <a:ext cx="1219200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73E18C16-135C-611F-E911-7C0866BEDD61}"/>
              </a:ext>
            </a:extLst>
          </p:cNvPr>
          <p:cNvSpPr txBox="1">
            <a:spLocks/>
          </p:cNvSpPr>
          <p:nvPr/>
        </p:nvSpPr>
        <p:spPr>
          <a:xfrm>
            <a:off x="4504435" y="2711242"/>
            <a:ext cx="3496945" cy="751488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wrap="square" lIns="0" tIns="12700" rIns="0" bIns="0" rtlCol="0" anchor="b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z="4800" dirty="0">
                <a:solidFill>
                  <a:schemeClr val="bg1"/>
                </a:solidFill>
              </a:rPr>
              <a:t>Mini Project</a:t>
            </a: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B6680A8E-8DF3-D009-DCF1-FCAEAB301840}"/>
              </a:ext>
            </a:extLst>
          </p:cNvPr>
          <p:cNvSpPr txBox="1"/>
          <p:nvPr/>
        </p:nvSpPr>
        <p:spPr>
          <a:xfrm>
            <a:off x="3681157" y="3810000"/>
            <a:ext cx="5143500" cy="233006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lang="en-GB" sz="2400" b="1" dirty="0">
                <a:solidFill>
                  <a:schemeClr val="bg1"/>
                </a:solidFill>
                <a:latin typeface="Candara"/>
                <a:cs typeface="Candara"/>
              </a:rPr>
              <a:t>Group</a:t>
            </a:r>
            <a:r>
              <a:rPr lang="en-GB" sz="2400" b="1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400" b="1" dirty="0">
                <a:solidFill>
                  <a:schemeClr val="bg1"/>
                </a:solidFill>
                <a:latin typeface="Candara"/>
                <a:cs typeface="Candara"/>
              </a:rPr>
              <a:t>:</a:t>
            </a:r>
            <a:r>
              <a:rPr lang="en-GB" sz="2400" b="1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Candara"/>
                <a:cs typeface="Candara"/>
              </a:rPr>
              <a:t>07</a:t>
            </a:r>
            <a:r>
              <a:rPr lang="en-GB" sz="24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Candara"/>
                <a:cs typeface="Candara"/>
              </a:rPr>
              <a:t>(Mini</a:t>
            </a:r>
            <a:r>
              <a:rPr lang="en-GB" sz="24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Candara"/>
                <a:cs typeface="Candara"/>
              </a:rPr>
              <a:t>Project</a:t>
            </a:r>
            <a:r>
              <a:rPr lang="en-GB" sz="2400" spc="-1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400" spc="-25" dirty="0">
                <a:solidFill>
                  <a:schemeClr val="bg1"/>
                </a:solidFill>
                <a:latin typeface="Candara"/>
                <a:cs typeface="Candara"/>
              </a:rPr>
              <a:t>1)</a:t>
            </a: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lang="en-GB" sz="2400" b="1" dirty="0">
                <a:solidFill>
                  <a:schemeClr val="bg1"/>
                </a:solidFill>
                <a:latin typeface="Candara"/>
                <a:cs typeface="Candara"/>
              </a:rPr>
              <a:t>Course Code: </a:t>
            </a:r>
            <a:r>
              <a:rPr lang="en-GB" sz="2400" dirty="0">
                <a:solidFill>
                  <a:schemeClr val="bg1"/>
                </a:solidFill>
                <a:latin typeface="Candara"/>
                <a:cs typeface="Candara"/>
              </a:rPr>
              <a:t>CSE</a:t>
            </a:r>
            <a:r>
              <a:rPr lang="en-GB" sz="2400" spc="-25" dirty="0">
                <a:solidFill>
                  <a:schemeClr val="bg1"/>
                </a:solidFill>
                <a:latin typeface="Candara"/>
                <a:cs typeface="Candara"/>
              </a:rPr>
              <a:t> 106</a:t>
            </a:r>
            <a:endParaRPr lang="en-GB" sz="2400" dirty="0">
              <a:solidFill>
                <a:schemeClr val="bg1"/>
              </a:solidFill>
              <a:latin typeface="Candara"/>
              <a:cs typeface="Candara"/>
            </a:endParaRPr>
          </a:p>
          <a:p>
            <a:pPr marL="182880" marR="176530" algn="ctr">
              <a:lnSpc>
                <a:spcPct val="131200"/>
              </a:lnSpc>
            </a:pPr>
            <a:r>
              <a:rPr lang="en-GB" sz="2400" b="1" dirty="0">
                <a:solidFill>
                  <a:schemeClr val="bg1"/>
                </a:solidFill>
                <a:latin typeface="Candara"/>
                <a:cs typeface="Candara"/>
              </a:rPr>
              <a:t>Course Title: </a:t>
            </a:r>
            <a:r>
              <a:rPr lang="en-GB" sz="2400" dirty="0">
                <a:solidFill>
                  <a:schemeClr val="bg1"/>
                </a:solidFill>
                <a:latin typeface="Candara"/>
                <a:cs typeface="Candara"/>
              </a:rPr>
              <a:t>Discrete</a:t>
            </a:r>
            <a:r>
              <a:rPr lang="en-GB" sz="2400" spc="-6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400" spc="-10" dirty="0">
                <a:solidFill>
                  <a:schemeClr val="bg1"/>
                </a:solidFill>
                <a:latin typeface="Candara"/>
                <a:cs typeface="Candara"/>
              </a:rPr>
              <a:t>Mathematics </a:t>
            </a:r>
            <a:r>
              <a:rPr lang="en-GB" sz="2400" b="1" dirty="0">
                <a:solidFill>
                  <a:schemeClr val="bg1"/>
                </a:solidFill>
                <a:latin typeface="Candara"/>
                <a:cs typeface="Candara"/>
              </a:rPr>
              <a:t>Section</a:t>
            </a:r>
            <a:r>
              <a:rPr lang="en-GB" sz="2400" b="1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400" b="1" dirty="0">
                <a:solidFill>
                  <a:schemeClr val="bg1"/>
                </a:solidFill>
                <a:latin typeface="Candara"/>
                <a:cs typeface="Candara"/>
              </a:rPr>
              <a:t>:</a:t>
            </a:r>
            <a:r>
              <a:rPr lang="en-GB" sz="2400" b="1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400" spc="-25" dirty="0">
                <a:solidFill>
                  <a:schemeClr val="bg1"/>
                </a:solidFill>
                <a:latin typeface="Candara"/>
                <a:cs typeface="Candara"/>
              </a:rPr>
              <a:t>06</a:t>
            </a:r>
          </a:p>
          <a:p>
            <a:pPr marL="182880" marR="176530" algn="ctr">
              <a:lnSpc>
                <a:spcPct val="131200"/>
              </a:lnSpc>
            </a:pPr>
            <a:r>
              <a:rPr lang="en-GB" sz="2400" b="1" spc="-25" dirty="0">
                <a:solidFill>
                  <a:schemeClr val="bg1"/>
                </a:solidFill>
                <a:latin typeface="Candara"/>
                <a:cs typeface="Candara"/>
              </a:rPr>
              <a:t>Topic Name : </a:t>
            </a:r>
            <a:r>
              <a:rPr lang="en-GB" sz="2400" spc="-25" dirty="0">
                <a:solidFill>
                  <a:schemeClr val="bg1"/>
                </a:solidFill>
                <a:latin typeface="Candara"/>
                <a:cs typeface="Candara"/>
              </a:rPr>
              <a:t>Directed Graph</a:t>
            </a:r>
            <a:endParaRPr lang="en-GB" sz="2400" dirty="0">
              <a:solidFill>
                <a:schemeClr val="bg1"/>
              </a:solidFill>
              <a:latin typeface="Candara"/>
              <a:cs typeface="Candara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593B7653-98DB-C7C5-C584-F51A41DA7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East West University">
            <a:extLst>
              <a:ext uri="{FF2B5EF4-FFF2-40B4-BE49-F238E27FC236}">
                <a16:creationId xmlns:a16="http://schemas.microsoft.com/office/drawing/2014/main" id="{1E19D2EB-EF86-CDD2-1E85-86C183B76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553782"/>
            <a:ext cx="8610600" cy="1329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8EA3C43C-111D-FAB5-AA21-30A6AE4DE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081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41777" y="3429000"/>
            <a:ext cx="8163559" cy="0"/>
          </a:xfrm>
          <a:custGeom>
            <a:avLst/>
            <a:gdLst/>
            <a:ahLst/>
            <a:cxnLst/>
            <a:rect l="l" t="t" r="r" b="b"/>
            <a:pathLst>
              <a:path w="8163559">
                <a:moveTo>
                  <a:pt x="0" y="0"/>
                </a:moveTo>
                <a:lnTo>
                  <a:pt x="8163433" y="0"/>
                </a:lnTo>
              </a:path>
            </a:pathLst>
          </a:custGeom>
          <a:ln w="15875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pPr algn="ctr"/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78845" y="998754"/>
            <a:ext cx="2832988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2800" dirty="0">
                <a:latin typeface="Times New Roman"/>
                <a:cs typeface="Times New Roman"/>
              </a:rPr>
              <a:t>SUBMITTED TO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27731" y="2084849"/>
            <a:ext cx="7121525" cy="13441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2800" b="1" dirty="0"/>
              <a:t>Dr. Mohammad Salah Uddin</a:t>
            </a:r>
          </a:p>
          <a:p>
            <a:pPr algn="ctr"/>
            <a:r>
              <a:rPr lang="en-US" sz="2800" dirty="0">
                <a:latin typeface="Times New Roman"/>
                <a:cs typeface="Times New Roman"/>
              </a:rPr>
              <a:t>Associate Professor,</a:t>
            </a:r>
            <a:r>
              <a:rPr lang="en-US" sz="2800" spc="-7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CSE</a:t>
            </a:r>
            <a:r>
              <a:rPr lang="en-US" sz="2800" spc="-6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Department</a:t>
            </a:r>
          </a:p>
          <a:p>
            <a:pPr algn="ctr"/>
            <a:endParaRPr lang="en-US" sz="2800" b="1" dirty="0"/>
          </a:p>
        </p:txBody>
      </p:sp>
      <p:sp>
        <p:nvSpPr>
          <p:cNvPr id="5" name="object 5"/>
          <p:cNvSpPr txBox="1"/>
          <p:nvPr/>
        </p:nvSpPr>
        <p:spPr>
          <a:xfrm>
            <a:off x="3733800" y="3352800"/>
            <a:ext cx="4323079" cy="2797048"/>
          </a:xfrm>
          <a:prstGeom prst="rect">
            <a:avLst/>
          </a:prstGeom>
        </p:spPr>
        <p:txBody>
          <a:bodyPr vert="horz" wrap="square" lIns="0" tIns="22161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45"/>
              </a:spcBef>
            </a:pPr>
            <a:r>
              <a:rPr lang="en-US" sz="2800" dirty="0">
                <a:latin typeface="Candara"/>
                <a:cs typeface="Candara"/>
              </a:rPr>
              <a:t>SUBMITTED BY</a:t>
            </a:r>
          </a:p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lang="en-US" sz="1600" dirty="0">
                <a:latin typeface="Arial Black"/>
                <a:cs typeface="Arial Black"/>
              </a:rPr>
              <a:t>Abdullah Al </a:t>
            </a:r>
            <a:r>
              <a:rPr lang="en-US" sz="1600" dirty="0" err="1">
                <a:latin typeface="Arial Black"/>
                <a:cs typeface="Arial Black"/>
              </a:rPr>
              <a:t>Sahaf</a:t>
            </a:r>
            <a:endParaRPr lang="en-US" sz="1600" dirty="0">
              <a:latin typeface="Arial Black"/>
              <a:cs typeface="Arial Black"/>
            </a:endParaRPr>
          </a:p>
          <a:p>
            <a:pPr marL="635" algn="ctr">
              <a:lnSpc>
                <a:spcPct val="100000"/>
              </a:lnSpc>
              <a:spcBef>
                <a:spcPts val="745"/>
              </a:spcBef>
            </a:pPr>
            <a:r>
              <a:rPr lang="en-US" sz="1600" dirty="0">
                <a:latin typeface="Arial Black"/>
                <a:cs typeface="Arial Black"/>
              </a:rPr>
              <a:t>ID:</a:t>
            </a:r>
            <a:r>
              <a:rPr lang="en-US" sz="1600" spc="70" dirty="0">
                <a:latin typeface="Arial Black"/>
                <a:cs typeface="Arial Black"/>
              </a:rPr>
              <a:t> </a:t>
            </a:r>
            <a:r>
              <a:rPr lang="en-US" sz="1600" spc="-10" dirty="0">
                <a:latin typeface="Arial Black"/>
                <a:cs typeface="Arial Black"/>
              </a:rPr>
              <a:t>2024-3-60-</a:t>
            </a:r>
            <a:r>
              <a:rPr lang="en-US" sz="1600" spc="-25" dirty="0">
                <a:latin typeface="Arial Black"/>
                <a:cs typeface="Arial Black"/>
              </a:rPr>
              <a:t>499</a:t>
            </a:r>
            <a:endParaRPr lang="en-US" sz="1600" dirty="0">
              <a:latin typeface="Arial Black"/>
              <a:cs typeface="Arial Black"/>
            </a:endParaRPr>
          </a:p>
          <a:p>
            <a:pPr marL="375285" marR="366395" algn="ctr">
              <a:lnSpc>
                <a:spcPct val="151700"/>
              </a:lnSpc>
            </a:pPr>
            <a:r>
              <a:rPr lang="en-US" sz="1600" dirty="0">
                <a:latin typeface="Arial Black"/>
                <a:cs typeface="Arial Black"/>
              </a:rPr>
              <a:t>Abdullah Al Shah Nawaz</a:t>
            </a:r>
          </a:p>
          <a:p>
            <a:pPr marL="375285" marR="366395" algn="ctr">
              <a:lnSpc>
                <a:spcPct val="151700"/>
              </a:lnSpc>
            </a:pPr>
            <a:r>
              <a:rPr lang="en-US" sz="1600" dirty="0">
                <a:latin typeface="Arial Black"/>
                <a:cs typeface="Arial Black"/>
              </a:rPr>
              <a:t>ID:</a:t>
            </a:r>
            <a:r>
              <a:rPr lang="en-US" sz="1600" spc="70" dirty="0">
                <a:latin typeface="Arial Black"/>
                <a:cs typeface="Arial Black"/>
              </a:rPr>
              <a:t> </a:t>
            </a:r>
            <a:r>
              <a:rPr lang="en-US" sz="1600" spc="-10" dirty="0">
                <a:latin typeface="Arial Black"/>
                <a:cs typeface="Arial Black"/>
              </a:rPr>
              <a:t>2024-3-60-</a:t>
            </a:r>
            <a:r>
              <a:rPr lang="en-US" sz="1600" spc="-25" dirty="0">
                <a:latin typeface="Arial Black"/>
                <a:cs typeface="Arial Black"/>
              </a:rPr>
              <a:t>502</a:t>
            </a:r>
            <a:endParaRPr lang="en-US" sz="1600" dirty="0">
              <a:latin typeface="Arial Black"/>
              <a:cs typeface="Arial Black"/>
            </a:endParaRPr>
          </a:p>
          <a:p>
            <a:pPr marL="513715" marR="504825" algn="ctr">
              <a:lnSpc>
                <a:spcPct val="151700"/>
              </a:lnSpc>
            </a:pPr>
            <a:r>
              <a:rPr lang="en-US" sz="1600" dirty="0">
                <a:latin typeface="Arial Black"/>
                <a:cs typeface="Arial Black"/>
              </a:rPr>
              <a:t>Md. Arifur Rahman Razu</a:t>
            </a:r>
            <a:endParaRPr lang="en-US" sz="1600" spc="-10" dirty="0">
              <a:latin typeface="Arial Black"/>
              <a:cs typeface="Arial Black"/>
            </a:endParaRPr>
          </a:p>
          <a:p>
            <a:pPr marL="513715" marR="504825" algn="ctr">
              <a:lnSpc>
                <a:spcPct val="151700"/>
              </a:lnSpc>
            </a:pPr>
            <a:r>
              <a:rPr lang="en-US" sz="1600" spc="-10" dirty="0">
                <a:latin typeface="Arial Black"/>
                <a:cs typeface="Arial Black"/>
              </a:rPr>
              <a:t>2024-3-60-</a:t>
            </a:r>
            <a:r>
              <a:rPr lang="en-US" sz="1600" spc="-25" dirty="0">
                <a:latin typeface="Arial Black"/>
                <a:cs typeface="Arial Black"/>
              </a:rPr>
              <a:t>503</a:t>
            </a:r>
            <a:endParaRPr lang="en-US" sz="16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" y="812304"/>
            <a:ext cx="1895094" cy="51128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9495" y="839924"/>
            <a:ext cx="213858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chemeClr val="bg1"/>
                </a:solidFill>
                <a:latin typeface="Candara"/>
                <a:cs typeface="Candara"/>
              </a:rPr>
              <a:t>Directed</a:t>
            </a:r>
            <a:r>
              <a:rPr sz="2000" b="1" spc="-6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sz="2000" b="1" dirty="0">
                <a:solidFill>
                  <a:schemeClr val="bg1"/>
                </a:solidFill>
                <a:latin typeface="Candara"/>
                <a:cs typeface="Candara"/>
              </a:rPr>
              <a:t>Graph</a:t>
            </a:r>
            <a:r>
              <a:rPr sz="2000" b="1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sz="2000" b="1" spc="-50" dirty="0">
                <a:solidFill>
                  <a:schemeClr val="bg1"/>
                </a:solidFill>
                <a:latin typeface="Candara"/>
                <a:cs typeface="Candara"/>
              </a:rPr>
              <a:t>:</a:t>
            </a:r>
            <a:endParaRPr sz="2000" dirty="0">
              <a:solidFill>
                <a:schemeClr val="bg1"/>
              </a:solidFill>
              <a:latin typeface="Candara"/>
              <a:cs typeface="Candar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9495" y="1411503"/>
            <a:ext cx="92506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chemeClr val="bg1"/>
                </a:solidFill>
                <a:latin typeface="Candara"/>
                <a:cs typeface="Candara"/>
              </a:rPr>
              <a:t>A</a:t>
            </a:r>
            <a:r>
              <a:rPr sz="2000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sz="2000" dirty="0">
                <a:solidFill>
                  <a:schemeClr val="bg1"/>
                </a:solidFill>
                <a:latin typeface="Candara"/>
                <a:cs typeface="Candara"/>
              </a:rPr>
              <a:t>directed</a:t>
            </a:r>
            <a:r>
              <a:rPr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sz="2000" dirty="0">
                <a:solidFill>
                  <a:schemeClr val="bg1"/>
                </a:solidFill>
                <a:latin typeface="Candara"/>
                <a:cs typeface="Candara"/>
              </a:rPr>
              <a:t>graph is</a:t>
            </a:r>
            <a:r>
              <a:rPr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sz="2000" dirty="0">
                <a:solidFill>
                  <a:schemeClr val="bg1"/>
                </a:solidFill>
                <a:latin typeface="Candara"/>
                <a:cs typeface="Candara"/>
              </a:rPr>
              <a:t>defined</a:t>
            </a:r>
            <a:r>
              <a:rPr sz="2000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sz="2000" dirty="0">
                <a:solidFill>
                  <a:schemeClr val="bg1"/>
                </a:solidFill>
                <a:latin typeface="Candara"/>
                <a:cs typeface="Candara"/>
              </a:rPr>
              <a:t>by</a:t>
            </a:r>
            <a:r>
              <a:rPr sz="2000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sz="2000" dirty="0">
                <a:solidFill>
                  <a:schemeClr val="bg1"/>
                </a:solidFill>
                <a:latin typeface="Candara"/>
                <a:cs typeface="Candara"/>
              </a:rPr>
              <a:t>a</a:t>
            </a:r>
            <a:r>
              <a:rPr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sz="2000" dirty="0">
                <a:solidFill>
                  <a:schemeClr val="bg1"/>
                </a:solidFill>
                <a:latin typeface="Candara"/>
                <a:cs typeface="Candara"/>
              </a:rPr>
              <a:t>set</a:t>
            </a:r>
            <a:r>
              <a:rPr sz="2000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sz="2000" dirty="0">
                <a:solidFill>
                  <a:schemeClr val="bg1"/>
                </a:solidFill>
                <a:latin typeface="Candara"/>
                <a:cs typeface="Candara"/>
              </a:rPr>
              <a:t>of</a:t>
            </a:r>
            <a:r>
              <a:rPr sz="2000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sz="2000" dirty="0">
                <a:solidFill>
                  <a:schemeClr val="bg1"/>
                </a:solidFill>
                <a:latin typeface="Candara"/>
                <a:cs typeface="Candara"/>
              </a:rPr>
              <a:t>vertices</a:t>
            </a:r>
            <a:r>
              <a:rPr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sz="2000" dirty="0">
                <a:solidFill>
                  <a:schemeClr val="bg1"/>
                </a:solidFill>
                <a:latin typeface="Candara"/>
                <a:cs typeface="Candara"/>
              </a:rPr>
              <a:t>and</a:t>
            </a:r>
            <a:r>
              <a:rPr sz="2000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sz="2000" dirty="0">
                <a:solidFill>
                  <a:schemeClr val="bg1"/>
                </a:solidFill>
                <a:latin typeface="Candara"/>
                <a:cs typeface="Candara"/>
              </a:rPr>
              <a:t>a</a:t>
            </a:r>
            <a:r>
              <a:rPr sz="2000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sz="2000" dirty="0">
                <a:solidFill>
                  <a:schemeClr val="bg1"/>
                </a:solidFill>
                <a:latin typeface="Candara"/>
                <a:cs typeface="Candara"/>
              </a:rPr>
              <a:t>set</a:t>
            </a:r>
            <a:r>
              <a:rPr sz="2000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sz="2000" dirty="0">
                <a:solidFill>
                  <a:schemeClr val="bg1"/>
                </a:solidFill>
                <a:latin typeface="Candara"/>
                <a:cs typeface="Candara"/>
              </a:rPr>
              <a:t>of</a:t>
            </a:r>
            <a:r>
              <a:rPr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sz="2000" dirty="0">
                <a:solidFill>
                  <a:schemeClr val="bg1"/>
                </a:solidFill>
                <a:latin typeface="Candara"/>
                <a:cs typeface="Candara"/>
              </a:rPr>
              <a:t>directed</a:t>
            </a:r>
            <a:r>
              <a:rPr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sz="2000" spc="-10" dirty="0">
                <a:solidFill>
                  <a:schemeClr val="bg1"/>
                </a:solidFill>
                <a:latin typeface="Candara"/>
                <a:cs typeface="Candara"/>
              </a:rPr>
              <a:t>edges.</a:t>
            </a:r>
            <a:endParaRPr sz="2000" dirty="0">
              <a:solidFill>
                <a:schemeClr val="bg1"/>
              </a:solidFill>
              <a:latin typeface="Candara"/>
              <a:cs typeface="Candar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21059" y="2768575"/>
            <a:ext cx="5451349" cy="2638044"/>
            <a:chOff x="2034539" y="1879092"/>
            <a:chExt cx="5451349" cy="2638044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2175" y="2025396"/>
              <a:ext cx="841248" cy="5212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4339" y="2787396"/>
              <a:ext cx="842772" cy="5212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43116" y="1879092"/>
              <a:ext cx="842772" cy="5196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68568" y="3523488"/>
              <a:ext cx="842772" cy="5196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41775" y="3997452"/>
              <a:ext cx="841248" cy="51968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4539" y="3003804"/>
              <a:ext cx="842772" cy="51968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49067" y="2404872"/>
              <a:ext cx="694969" cy="7635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91561" y="2458720"/>
              <a:ext cx="478790" cy="546100"/>
            </a:xfrm>
            <a:custGeom>
              <a:avLst/>
              <a:gdLst/>
              <a:ahLst/>
              <a:cxnLst/>
              <a:rect l="l" t="t" r="r" b="b"/>
              <a:pathLst>
                <a:path w="478789" h="546100">
                  <a:moveTo>
                    <a:pt x="31876" y="422020"/>
                  </a:moveTo>
                  <a:lnTo>
                    <a:pt x="0" y="545845"/>
                  </a:lnTo>
                  <a:lnTo>
                    <a:pt x="118110" y="497077"/>
                  </a:lnTo>
                  <a:lnTo>
                    <a:pt x="105853" y="486409"/>
                  </a:lnTo>
                  <a:lnTo>
                    <a:pt x="76835" y="486409"/>
                  </a:lnTo>
                  <a:lnTo>
                    <a:pt x="48132" y="461390"/>
                  </a:lnTo>
                  <a:lnTo>
                    <a:pt x="60622" y="447041"/>
                  </a:lnTo>
                  <a:lnTo>
                    <a:pt x="31876" y="422020"/>
                  </a:lnTo>
                  <a:close/>
                </a:path>
                <a:path w="478789" h="546100">
                  <a:moveTo>
                    <a:pt x="60622" y="447041"/>
                  </a:moveTo>
                  <a:lnTo>
                    <a:pt x="48132" y="461390"/>
                  </a:lnTo>
                  <a:lnTo>
                    <a:pt x="76835" y="486409"/>
                  </a:lnTo>
                  <a:lnTo>
                    <a:pt x="89340" y="472037"/>
                  </a:lnTo>
                  <a:lnTo>
                    <a:pt x="60622" y="447041"/>
                  </a:lnTo>
                  <a:close/>
                </a:path>
                <a:path w="478789" h="546100">
                  <a:moveTo>
                    <a:pt x="89340" y="472037"/>
                  </a:moveTo>
                  <a:lnTo>
                    <a:pt x="76835" y="486409"/>
                  </a:lnTo>
                  <a:lnTo>
                    <a:pt x="105853" y="486409"/>
                  </a:lnTo>
                  <a:lnTo>
                    <a:pt x="89340" y="472037"/>
                  </a:lnTo>
                  <a:close/>
                </a:path>
                <a:path w="478789" h="546100">
                  <a:moveTo>
                    <a:pt x="449706" y="0"/>
                  </a:moveTo>
                  <a:lnTo>
                    <a:pt x="60622" y="447041"/>
                  </a:lnTo>
                  <a:lnTo>
                    <a:pt x="89340" y="472037"/>
                  </a:lnTo>
                  <a:lnTo>
                    <a:pt x="478408" y="24891"/>
                  </a:lnTo>
                  <a:lnTo>
                    <a:pt x="4497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14243" y="3380219"/>
              <a:ext cx="1016520" cy="899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42310" y="3433572"/>
              <a:ext cx="799465" cy="682625"/>
            </a:xfrm>
            <a:custGeom>
              <a:avLst/>
              <a:gdLst/>
              <a:ahLst/>
              <a:cxnLst/>
              <a:rect l="l" t="t" r="r" b="b"/>
              <a:pathLst>
                <a:path w="799464" h="682625">
                  <a:moveTo>
                    <a:pt x="699649" y="622842"/>
                  </a:moveTo>
                  <a:lnTo>
                    <a:pt x="675004" y="651890"/>
                  </a:lnTo>
                  <a:lnTo>
                    <a:pt x="799084" y="682244"/>
                  </a:lnTo>
                  <a:lnTo>
                    <a:pt x="778963" y="635126"/>
                  </a:lnTo>
                  <a:lnTo>
                    <a:pt x="714121" y="635126"/>
                  </a:lnTo>
                  <a:lnTo>
                    <a:pt x="699649" y="622842"/>
                  </a:lnTo>
                  <a:close/>
                </a:path>
                <a:path w="799464" h="682625">
                  <a:moveTo>
                    <a:pt x="724297" y="593790"/>
                  </a:moveTo>
                  <a:lnTo>
                    <a:pt x="699649" y="622842"/>
                  </a:lnTo>
                  <a:lnTo>
                    <a:pt x="714121" y="635126"/>
                  </a:lnTo>
                  <a:lnTo>
                    <a:pt x="738886" y="606170"/>
                  </a:lnTo>
                  <a:lnTo>
                    <a:pt x="724297" y="593790"/>
                  </a:lnTo>
                  <a:close/>
                </a:path>
                <a:path w="799464" h="682625">
                  <a:moveTo>
                    <a:pt x="748918" y="564769"/>
                  </a:moveTo>
                  <a:lnTo>
                    <a:pt x="724297" y="593790"/>
                  </a:lnTo>
                  <a:lnTo>
                    <a:pt x="738886" y="606170"/>
                  </a:lnTo>
                  <a:lnTo>
                    <a:pt x="714121" y="635126"/>
                  </a:lnTo>
                  <a:lnTo>
                    <a:pt x="778963" y="635126"/>
                  </a:lnTo>
                  <a:lnTo>
                    <a:pt x="748918" y="564769"/>
                  </a:lnTo>
                  <a:close/>
                </a:path>
                <a:path w="799464" h="682625">
                  <a:moveTo>
                    <a:pt x="24637" y="0"/>
                  </a:moveTo>
                  <a:lnTo>
                    <a:pt x="0" y="28955"/>
                  </a:lnTo>
                  <a:lnTo>
                    <a:pt x="699649" y="622842"/>
                  </a:lnTo>
                  <a:lnTo>
                    <a:pt x="724297" y="593790"/>
                  </a:lnTo>
                  <a:lnTo>
                    <a:pt x="246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51019" y="3686581"/>
              <a:ext cx="1933955" cy="63853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379467" y="3825494"/>
              <a:ext cx="1717039" cy="450850"/>
            </a:xfrm>
            <a:custGeom>
              <a:avLst/>
              <a:gdLst/>
              <a:ahLst/>
              <a:cxnLst/>
              <a:rect l="l" t="t" r="r" b="b"/>
              <a:pathLst>
                <a:path w="1717039" h="450850">
                  <a:moveTo>
                    <a:pt x="1600931" y="37132"/>
                  </a:moveTo>
                  <a:lnTo>
                    <a:pt x="0" y="413511"/>
                  </a:lnTo>
                  <a:lnTo>
                    <a:pt x="8636" y="450595"/>
                  </a:lnTo>
                  <a:lnTo>
                    <a:pt x="1609653" y="74225"/>
                  </a:lnTo>
                  <a:lnTo>
                    <a:pt x="1600931" y="37132"/>
                  </a:lnTo>
                  <a:close/>
                </a:path>
                <a:path w="1717039" h="450850">
                  <a:moveTo>
                    <a:pt x="1712568" y="32765"/>
                  </a:moveTo>
                  <a:lnTo>
                    <a:pt x="1619504" y="32765"/>
                  </a:lnTo>
                  <a:lnTo>
                    <a:pt x="1628267" y="69849"/>
                  </a:lnTo>
                  <a:lnTo>
                    <a:pt x="1609653" y="74225"/>
                  </a:lnTo>
                  <a:lnTo>
                    <a:pt x="1618361" y="111251"/>
                  </a:lnTo>
                  <a:lnTo>
                    <a:pt x="1712568" y="32765"/>
                  </a:lnTo>
                  <a:close/>
                </a:path>
                <a:path w="1717039" h="450850">
                  <a:moveTo>
                    <a:pt x="1619504" y="32765"/>
                  </a:moveTo>
                  <a:lnTo>
                    <a:pt x="1600931" y="37132"/>
                  </a:lnTo>
                  <a:lnTo>
                    <a:pt x="1609653" y="74225"/>
                  </a:lnTo>
                  <a:lnTo>
                    <a:pt x="1628267" y="69849"/>
                  </a:lnTo>
                  <a:lnTo>
                    <a:pt x="1619504" y="32765"/>
                  </a:lnTo>
                  <a:close/>
                </a:path>
                <a:path w="1717039" h="450850">
                  <a:moveTo>
                    <a:pt x="1592199" y="0"/>
                  </a:moveTo>
                  <a:lnTo>
                    <a:pt x="1600931" y="37132"/>
                  </a:lnTo>
                  <a:lnTo>
                    <a:pt x="1619504" y="32765"/>
                  </a:lnTo>
                  <a:lnTo>
                    <a:pt x="1712568" y="32765"/>
                  </a:lnTo>
                  <a:lnTo>
                    <a:pt x="1716532" y="29463"/>
                  </a:lnTo>
                  <a:lnTo>
                    <a:pt x="15921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42175" y="2231136"/>
              <a:ext cx="512102" cy="142189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770116" y="2399538"/>
              <a:ext cx="324485" cy="1205230"/>
            </a:xfrm>
            <a:custGeom>
              <a:avLst/>
              <a:gdLst/>
              <a:ahLst/>
              <a:cxnLst/>
              <a:rect l="l" t="t" r="r" b="b"/>
              <a:pathLst>
                <a:path w="324484" h="1205229">
                  <a:moveTo>
                    <a:pt x="250238" y="107104"/>
                  </a:moveTo>
                  <a:lnTo>
                    <a:pt x="0" y="1196466"/>
                  </a:lnTo>
                  <a:lnTo>
                    <a:pt x="37083" y="1205102"/>
                  </a:lnTo>
                  <a:lnTo>
                    <a:pt x="287343" y="115651"/>
                  </a:lnTo>
                  <a:lnTo>
                    <a:pt x="250238" y="107104"/>
                  </a:lnTo>
                  <a:close/>
                </a:path>
                <a:path w="324484" h="1205229">
                  <a:moveTo>
                    <a:pt x="315836" y="88519"/>
                  </a:moveTo>
                  <a:lnTo>
                    <a:pt x="254507" y="88519"/>
                  </a:lnTo>
                  <a:lnTo>
                    <a:pt x="291591" y="97154"/>
                  </a:lnTo>
                  <a:lnTo>
                    <a:pt x="287343" y="115651"/>
                  </a:lnTo>
                  <a:lnTo>
                    <a:pt x="324484" y="124206"/>
                  </a:lnTo>
                  <a:lnTo>
                    <a:pt x="315836" y="88519"/>
                  </a:lnTo>
                  <a:close/>
                </a:path>
                <a:path w="324484" h="1205229">
                  <a:moveTo>
                    <a:pt x="254507" y="88519"/>
                  </a:moveTo>
                  <a:lnTo>
                    <a:pt x="250238" y="107104"/>
                  </a:lnTo>
                  <a:lnTo>
                    <a:pt x="287343" y="115651"/>
                  </a:lnTo>
                  <a:lnTo>
                    <a:pt x="291591" y="97154"/>
                  </a:lnTo>
                  <a:lnTo>
                    <a:pt x="254507" y="88519"/>
                  </a:lnTo>
                  <a:close/>
                </a:path>
                <a:path w="324484" h="1205229">
                  <a:moveTo>
                    <a:pt x="294385" y="0"/>
                  </a:moveTo>
                  <a:lnTo>
                    <a:pt x="213105" y="98551"/>
                  </a:lnTo>
                  <a:lnTo>
                    <a:pt x="250238" y="107104"/>
                  </a:lnTo>
                  <a:lnTo>
                    <a:pt x="254507" y="88519"/>
                  </a:lnTo>
                  <a:lnTo>
                    <a:pt x="315836" y="88519"/>
                  </a:lnTo>
                  <a:lnTo>
                    <a:pt x="2943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45379" y="2068055"/>
              <a:ext cx="1780031" cy="101804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087873" y="2121916"/>
              <a:ext cx="1564005" cy="801370"/>
            </a:xfrm>
            <a:custGeom>
              <a:avLst/>
              <a:gdLst/>
              <a:ahLst/>
              <a:cxnLst/>
              <a:rect l="l" t="t" r="r" b="b"/>
              <a:pathLst>
                <a:path w="1564004" h="801369">
                  <a:moveTo>
                    <a:pt x="76326" y="698500"/>
                  </a:moveTo>
                  <a:lnTo>
                    <a:pt x="0" y="800988"/>
                  </a:lnTo>
                  <a:lnTo>
                    <a:pt x="127762" y="800608"/>
                  </a:lnTo>
                  <a:lnTo>
                    <a:pt x="114903" y="775081"/>
                  </a:lnTo>
                  <a:lnTo>
                    <a:pt x="93599" y="775081"/>
                  </a:lnTo>
                  <a:lnTo>
                    <a:pt x="76453" y="741172"/>
                  </a:lnTo>
                  <a:lnTo>
                    <a:pt x="93495" y="732582"/>
                  </a:lnTo>
                  <a:lnTo>
                    <a:pt x="76326" y="698500"/>
                  </a:lnTo>
                  <a:close/>
                </a:path>
                <a:path w="1564004" h="801369">
                  <a:moveTo>
                    <a:pt x="93495" y="732582"/>
                  </a:moveTo>
                  <a:lnTo>
                    <a:pt x="76453" y="741172"/>
                  </a:lnTo>
                  <a:lnTo>
                    <a:pt x="93599" y="775081"/>
                  </a:lnTo>
                  <a:lnTo>
                    <a:pt x="110589" y="766518"/>
                  </a:lnTo>
                  <a:lnTo>
                    <a:pt x="93495" y="732582"/>
                  </a:lnTo>
                  <a:close/>
                </a:path>
                <a:path w="1564004" h="801369">
                  <a:moveTo>
                    <a:pt x="110589" y="766518"/>
                  </a:moveTo>
                  <a:lnTo>
                    <a:pt x="93599" y="775081"/>
                  </a:lnTo>
                  <a:lnTo>
                    <a:pt x="114903" y="775081"/>
                  </a:lnTo>
                  <a:lnTo>
                    <a:pt x="110589" y="766518"/>
                  </a:lnTo>
                  <a:close/>
                </a:path>
                <a:path w="1564004" h="801369">
                  <a:moveTo>
                    <a:pt x="1546859" y="0"/>
                  </a:moveTo>
                  <a:lnTo>
                    <a:pt x="93495" y="732582"/>
                  </a:lnTo>
                  <a:lnTo>
                    <a:pt x="110589" y="766518"/>
                  </a:lnTo>
                  <a:lnTo>
                    <a:pt x="1564004" y="34036"/>
                  </a:lnTo>
                  <a:lnTo>
                    <a:pt x="1546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31691" y="2231123"/>
              <a:ext cx="822985" cy="69800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774185" y="2399538"/>
              <a:ext cx="605790" cy="480695"/>
            </a:xfrm>
            <a:custGeom>
              <a:avLst/>
              <a:gdLst/>
              <a:ahLst/>
              <a:cxnLst/>
              <a:rect l="l" t="t" r="r" b="b"/>
              <a:pathLst>
                <a:path w="605789" h="480694">
                  <a:moveTo>
                    <a:pt x="101695" y="55538"/>
                  </a:moveTo>
                  <a:lnTo>
                    <a:pt x="78200" y="85510"/>
                  </a:lnTo>
                  <a:lnTo>
                    <a:pt x="582294" y="480695"/>
                  </a:lnTo>
                  <a:lnTo>
                    <a:pt x="605789" y="450723"/>
                  </a:lnTo>
                  <a:lnTo>
                    <a:pt x="101695" y="55538"/>
                  </a:lnTo>
                  <a:close/>
                </a:path>
                <a:path w="605789" h="480694">
                  <a:moveTo>
                    <a:pt x="0" y="0"/>
                  </a:moveTo>
                  <a:lnTo>
                    <a:pt x="54737" y="115442"/>
                  </a:lnTo>
                  <a:lnTo>
                    <a:pt x="78200" y="85510"/>
                  </a:lnTo>
                  <a:lnTo>
                    <a:pt x="63246" y="73787"/>
                  </a:lnTo>
                  <a:lnTo>
                    <a:pt x="86740" y="43814"/>
                  </a:lnTo>
                  <a:lnTo>
                    <a:pt x="110886" y="43814"/>
                  </a:lnTo>
                  <a:lnTo>
                    <a:pt x="125222" y="25526"/>
                  </a:lnTo>
                  <a:lnTo>
                    <a:pt x="0" y="0"/>
                  </a:lnTo>
                  <a:close/>
                </a:path>
                <a:path w="605789" h="480694">
                  <a:moveTo>
                    <a:pt x="86740" y="43814"/>
                  </a:moveTo>
                  <a:lnTo>
                    <a:pt x="63246" y="73787"/>
                  </a:lnTo>
                  <a:lnTo>
                    <a:pt x="78200" y="85510"/>
                  </a:lnTo>
                  <a:lnTo>
                    <a:pt x="101695" y="55538"/>
                  </a:lnTo>
                  <a:lnTo>
                    <a:pt x="86740" y="43814"/>
                  </a:lnTo>
                  <a:close/>
                </a:path>
                <a:path w="605789" h="480694">
                  <a:moveTo>
                    <a:pt x="110886" y="43814"/>
                  </a:moveTo>
                  <a:lnTo>
                    <a:pt x="86740" y="43814"/>
                  </a:lnTo>
                  <a:lnTo>
                    <a:pt x="101695" y="55538"/>
                  </a:lnTo>
                  <a:lnTo>
                    <a:pt x="110886" y="43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742952" y="3028417"/>
            <a:ext cx="2317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ndara"/>
                <a:cs typeface="Candara"/>
              </a:rPr>
              <a:t>V1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23191" y="3989807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ndara"/>
                <a:cs typeface="Candara"/>
              </a:rPr>
              <a:t>V2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34810" y="4942016"/>
            <a:ext cx="2628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ndara"/>
                <a:cs typeface="Candara"/>
              </a:rPr>
              <a:t>V3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39631" y="4493812"/>
            <a:ext cx="273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ndara"/>
                <a:cs typeface="Candara"/>
              </a:rPr>
              <a:t>V4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38473" y="2849259"/>
            <a:ext cx="26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ndara"/>
                <a:cs typeface="Candara"/>
              </a:rPr>
              <a:t>V5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04007" y="3748506"/>
            <a:ext cx="278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ndara"/>
                <a:cs typeface="Candara"/>
              </a:rPr>
              <a:t>V6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52987" y="3300578"/>
            <a:ext cx="2241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ndara"/>
                <a:cs typeface="Candara"/>
              </a:rPr>
              <a:t>E1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38736" y="4656811"/>
            <a:ext cx="250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ndara"/>
                <a:cs typeface="Candara"/>
              </a:rPr>
              <a:t>E2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76881" y="5146777"/>
            <a:ext cx="25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ndara"/>
                <a:cs typeface="Candara"/>
              </a:rPr>
              <a:t>E3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07764" y="3704448"/>
            <a:ext cx="266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ndara"/>
                <a:cs typeface="Candara"/>
              </a:rPr>
              <a:t>E4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80759" y="3031277"/>
            <a:ext cx="256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ndara"/>
                <a:cs typeface="Candara"/>
              </a:rPr>
              <a:t>E5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51237" y="3075927"/>
            <a:ext cx="270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ndara"/>
                <a:cs typeface="Candara"/>
              </a:rPr>
              <a:t>E6</a:t>
            </a:r>
            <a:endParaRPr sz="1800" dirty="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0227" y="608075"/>
            <a:ext cx="4010405" cy="10066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80103" y="712165"/>
            <a:ext cx="34417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ndara"/>
                <a:cs typeface="Candara"/>
              </a:rPr>
              <a:t>Presenting</a:t>
            </a:r>
            <a:r>
              <a:rPr sz="3600" b="1" spc="-105" dirty="0">
                <a:latin typeface="Candara"/>
                <a:cs typeface="Candara"/>
              </a:rPr>
              <a:t> </a:t>
            </a:r>
            <a:r>
              <a:rPr sz="3600" b="1" spc="-10" dirty="0">
                <a:latin typeface="Candara"/>
                <a:cs typeface="Candara"/>
              </a:rPr>
              <a:t>Graph</a:t>
            </a:r>
            <a:endParaRPr sz="3600">
              <a:latin typeface="Candara"/>
              <a:cs typeface="Candar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75403" y="1354836"/>
            <a:ext cx="3387852" cy="8061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85003" y="1404874"/>
            <a:ext cx="10706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FFFFFF"/>
                </a:solidFill>
                <a:latin typeface="Candara"/>
                <a:cs typeface="Candara"/>
              </a:rPr>
              <a:t>Graph</a:t>
            </a:r>
            <a:endParaRPr sz="3200">
              <a:latin typeface="Candara"/>
              <a:cs typeface="Candar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17217" y="2112402"/>
            <a:ext cx="9996423" cy="1361440"/>
            <a:chOff x="824483" y="2107679"/>
            <a:chExt cx="10543540" cy="136144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6836" y="2107679"/>
              <a:ext cx="332257" cy="4694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12180" y="2161793"/>
              <a:ext cx="114300" cy="25095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73936" y="2339289"/>
              <a:ext cx="8799575" cy="14025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02130" y="2411729"/>
              <a:ext cx="8677910" cy="0"/>
            </a:xfrm>
            <a:custGeom>
              <a:avLst/>
              <a:gdLst/>
              <a:ahLst/>
              <a:cxnLst/>
              <a:rect l="l" t="t" r="r" b="b"/>
              <a:pathLst>
                <a:path w="8677910">
                  <a:moveTo>
                    <a:pt x="0" y="0"/>
                  </a:moveTo>
                  <a:lnTo>
                    <a:pt x="867778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59636" y="2357602"/>
              <a:ext cx="332257" cy="48618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44980" y="2411729"/>
              <a:ext cx="114300" cy="269240"/>
            </a:xfrm>
            <a:custGeom>
              <a:avLst/>
              <a:gdLst/>
              <a:ahLst/>
              <a:cxnLst/>
              <a:rect l="l" t="t" r="r" b="b"/>
              <a:pathLst>
                <a:path w="114300" h="269239">
                  <a:moveTo>
                    <a:pt x="38100" y="154686"/>
                  </a:moveTo>
                  <a:lnTo>
                    <a:pt x="0" y="154686"/>
                  </a:lnTo>
                  <a:lnTo>
                    <a:pt x="57150" y="268986"/>
                  </a:lnTo>
                  <a:lnTo>
                    <a:pt x="104775" y="173736"/>
                  </a:lnTo>
                  <a:lnTo>
                    <a:pt x="38100" y="173736"/>
                  </a:lnTo>
                  <a:lnTo>
                    <a:pt x="38100" y="154686"/>
                  </a:lnTo>
                  <a:close/>
                </a:path>
                <a:path w="114300" h="269239">
                  <a:moveTo>
                    <a:pt x="76200" y="0"/>
                  </a:moveTo>
                  <a:lnTo>
                    <a:pt x="38100" y="0"/>
                  </a:lnTo>
                  <a:lnTo>
                    <a:pt x="38100" y="173736"/>
                  </a:lnTo>
                  <a:lnTo>
                    <a:pt x="76200" y="173736"/>
                  </a:lnTo>
                  <a:lnTo>
                    <a:pt x="76200" y="0"/>
                  </a:lnTo>
                  <a:close/>
                </a:path>
                <a:path w="114300" h="269239">
                  <a:moveTo>
                    <a:pt x="114300" y="154686"/>
                  </a:moveTo>
                  <a:lnTo>
                    <a:pt x="76200" y="154686"/>
                  </a:lnTo>
                  <a:lnTo>
                    <a:pt x="76200" y="173736"/>
                  </a:lnTo>
                  <a:lnTo>
                    <a:pt x="104775" y="173736"/>
                  </a:lnTo>
                  <a:lnTo>
                    <a:pt x="114300" y="1546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11383" y="2357602"/>
              <a:ext cx="332257" cy="48618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396727" y="2411729"/>
              <a:ext cx="114300" cy="269240"/>
            </a:xfrm>
            <a:custGeom>
              <a:avLst/>
              <a:gdLst/>
              <a:ahLst/>
              <a:cxnLst/>
              <a:rect l="l" t="t" r="r" b="b"/>
              <a:pathLst>
                <a:path w="114300" h="269239">
                  <a:moveTo>
                    <a:pt x="38100" y="154686"/>
                  </a:moveTo>
                  <a:lnTo>
                    <a:pt x="0" y="154686"/>
                  </a:lnTo>
                  <a:lnTo>
                    <a:pt x="57150" y="268986"/>
                  </a:lnTo>
                  <a:lnTo>
                    <a:pt x="104775" y="173736"/>
                  </a:lnTo>
                  <a:lnTo>
                    <a:pt x="38100" y="173736"/>
                  </a:lnTo>
                  <a:lnTo>
                    <a:pt x="38100" y="154686"/>
                  </a:lnTo>
                  <a:close/>
                </a:path>
                <a:path w="114300" h="269239">
                  <a:moveTo>
                    <a:pt x="76200" y="0"/>
                  </a:moveTo>
                  <a:lnTo>
                    <a:pt x="38100" y="0"/>
                  </a:lnTo>
                  <a:lnTo>
                    <a:pt x="38100" y="173736"/>
                  </a:lnTo>
                  <a:lnTo>
                    <a:pt x="76200" y="173736"/>
                  </a:lnTo>
                  <a:lnTo>
                    <a:pt x="76200" y="0"/>
                  </a:lnTo>
                  <a:close/>
                </a:path>
                <a:path w="114300" h="269239">
                  <a:moveTo>
                    <a:pt x="114300" y="154686"/>
                  </a:moveTo>
                  <a:lnTo>
                    <a:pt x="76200" y="154686"/>
                  </a:lnTo>
                  <a:lnTo>
                    <a:pt x="76200" y="173736"/>
                  </a:lnTo>
                  <a:lnTo>
                    <a:pt x="104775" y="173736"/>
                  </a:lnTo>
                  <a:lnTo>
                    <a:pt x="114300" y="1546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4483" y="2702051"/>
              <a:ext cx="2734055" cy="7665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33460" y="2702051"/>
              <a:ext cx="2734055" cy="76657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633459" y="2702051"/>
            <a:ext cx="2734310" cy="767080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532130">
              <a:lnSpc>
                <a:spcPct val="100000"/>
              </a:lnSpc>
              <a:spcBef>
                <a:spcPts val="1820"/>
              </a:spcBef>
            </a:pPr>
            <a:r>
              <a:rPr sz="1800" dirty="0">
                <a:solidFill>
                  <a:srgbClr val="FFFFFF"/>
                </a:solidFill>
                <a:latin typeface="Candara"/>
                <a:cs typeface="Candara"/>
              </a:rPr>
              <a:t>Adjacency</a:t>
            </a:r>
            <a:r>
              <a:rPr sz="1800" spc="-35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ndara"/>
                <a:cs typeface="Candara"/>
              </a:rPr>
              <a:t>Matrix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4483" y="2702051"/>
            <a:ext cx="2734310" cy="522579"/>
          </a:xfrm>
          <a:prstGeom prst="rect">
            <a:avLst/>
          </a:prstGeom>
        </p:spPr>
        <p:txBody>
          <a:bodyPr vert="horz" wrap="square" lIns="0" tIns="212725" rIns="0" bIns="0" rtlCol="0">
            <a:spAutoFit/>
          </a:bodyPr>
          <a:lstStyle/>
          <a:p>
            <a:pPr marL="558165">
              <a:lnSpc>
                <a:spcPct val="100000"/>
              </a:lnSpc>
              <a:spcBef>
                <a:spcPts val="1675"/>
              </a:spcBef>
            </a:pPr>
            <a:r>
              <a:rPr lang="en-US" sz="2000" dirty="0">
                <a:solidFill>
                  <a:srgbClr val="FFFFFF"/>
                </a:solidFill>
                <a:latin typeface="Candara"/>
                <a:cs typeface="Candara"/>
              </a:rPr>
              <a:t>      </a:t>
            </a:r>
            <a:r>
              <a:rPr sz="2000" dirty="0">
                <a:solidFill>
                  <a:srgbClr val="FFFFFF"/>
                </a:solidFill>
                <a:latin typeface="Candara"/>
                <a:cs typeface="Candara"/>
              </a:rPr>
              <a:t>Adjacency</a:t>
            </a:r>
            <a:r>
              <a:rPr sz="2000" spc="-20" dirty="0">
                <a:solidFill>
                  <a:srgbClr val="FFFFFF"/>
                </a:solidFill>
                <a:latin typeface="Candara"/>
                <a:cs typeface="Candara"/>
              </a:rPr>
              <a:t> List</a:t>
            </a:r>
            <a:endParaRPr sz="2000" dirty="0">
              <a:latin typeface="Candara"/>
              <a:cs typeface="Candar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25423" y="3828288"/>
            <a:ext cx="2695575" cy="1774825"/>
            <a:chOff x="725423" y="3828288"/>
            <a:chExt cx="2695575" cy="1774825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5423" y="3828288"/>
              <a:ext cx="2300478" cy="67741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8303" y="4224486"/>
              <a:ext cx="1934718" cy="40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5423" y="4925568"/>
              <a:ext cx="2695193" cy="67741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8303" y="5321766"/>
              <a:ext cx="2329434" cy="403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903528" y="3895725"/>
            <a:ext cx="1019365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29335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ndara"/>
                <a:cs typeface="Candara"/>
              </a:rPr>
              <a:t>Adjacency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ndara"/>
                <a:cs typeface="Candar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ndara"/>
                <a:cs typeface="Candara"/>
              </a:rPr>
              <a:t>List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:</a:t>
            </a:r>
            <a:r>
              <a:rPr sz="2400" spc="-20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A</a:t>
            </a:r>
            <a:r>
              <a:rPr sz="2400" spc="-2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adjacency</a:t>
            </a:r>
            <a:r>
              <a:rPr sz="2400" spc="-1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list</a:t>
            </a:r>
            <a:r>
              <a:rPr sz="2400" spc="-20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is</a:t>
            </a:r>
            <a:r>
              <a:rPr sz="2400" spc="-2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a</a:t>
            </a:r>
            <a:r>
              <a:rPr sz="2400" spc="-30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way</a:t>
            </a:r>
            <a:r>
              <a:rPr sz="2400" spc="-2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of</a:t>
            </a:r>
            <a:r>
              <a:rPr sz="2400" spc="-20" dirty="0">
                <a:latin typeface="Candara"/>
                <a:cs typeface="Candara"/>
              </a:rPr>
              <a:t> </a:t>
            </a:r>
            <a:r>
              <a:rPr sz="2400" spc="-10" dirty="0">
                <a:latin typeface="Candara"/>
                <a:cs typeface="Candara"/>
              </a:rPr>
              <a:t>representing</a:t>
            </a:r>
            <a:r>
              <a:rPr sz="2400" spc="-2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a</a:t>
            </a:r>
            <a:r>
              <a:rPr sz="2400" spc="-20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graph</a:t>
            </a:r>
            <a:r>
              <a:rPr sz="2400" spc="-30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using</a:t>
            </a:r>
            <a:r>
              <a:rPr sz="2400" spc="-25" dirty="0">
                <a:latin typeface="Candara"/>
                <a:cs typeface="Candara"/>
              </a:rPr>
              <a:t> </a:t>
            </a:r>
            <a:r>
              <a:rPr sz="2400" spc="-50" dirty="0">
                <a:latin typeface="Candara"/>
                <a:cs typeface="Candara"/>
              </a:rPr>
              <a:t>a </a:t>
            </a:r>
            <a:r>
              <a:rPr sz="2400" dirty="0">
                <a:latin typeface="Candara"/>
                <a:cs typeface="Candara"/>
              </a:rPr>
              <a:t>collection</a:t>
            </a:r>
            <a:r>
              <a:rPr sz="2400" spc="-30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of</a:t>
            </a:r>
            <a:r>
              <a:rPr sz="2400" spc="-2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lists</a:t>
            </a:r>
            <a:r>
              <a:rPr sz="2400" spc="-60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or</a:t>
            </a:r>
            <a:r>
              <a:rPr sz="2400" spc="-20" dirty="0">
                <a:latin typeface="Candara"/>
                <a:cs typeface="Candara"/>
              </a:rPr>
              <a:t> </a:t>
            </a:r>
            <a:r>
              <a:rPr sz="2400" spc="-10" dirty="0">
                <a:latin typeface="Candara"/>
                <a:cs typeface="Candara"/>
              </a:rPr>
              <a:t>array.</a:t>
            </a:r>
            <a:endParaRPr sz="2400" dirty="0">
              <a:latin typeface="Candara"/>
              <a:cs typeface="Candara"/>
            </a:endParaRPr>
          </a:p>
          <a:p>
            <a:pPr marL="12700" marR="5080">
              <a:lnSpc>
                <a:spcPct val="100000"/>
              </a:lnSpc>
              <a:spcBef>
                <a:spcPts val="2880"/>
              </a:spcBef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ndara"/>
                <a:cs typeface="Candara"/>
              </a:rPr>
              <a:t>Adjacency</a:t>
            </a:r>
            <a:r>
              <a:rPr sz="2400" u="sng" spc="-15" dirty="0">
                <a:uFill>
                  <a:solidFill>
                    <a:srgbClr val="000000"/>
                  </a:solidFill>
                </a:uFill>
                <a:latin typeface="Candara"/>
                <a:cs typeface="Candar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ndara"/>
                <a:cs typeface="Candara"/>
              </a:rPr>
              <a:t>Matrix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:</a:t>
            </a:r>
            <a:r>
              <a:rPr sz="2400" spc="-2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An</a:t>
            </a:r>
            <a:r>
              <a:rPr sz="2400" spc="-2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adjacency</a:t>
            </a:r>
            <a:r>
              <a:rPr sz="2400" spc="-1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matrix</a:t>
            </a:r>
            <a:r>
              <a:rPr sz="2400" spc="-2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is</a:t>
            </a:r>
            <a:r>
              <a:rPr sz="2400" spc="-2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a</a:t>
            </a:r>
            <a:r>
              <a:rPr sz="2400" spc="-3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way</a:t>
            </a:r>
            <a:r>
              <a:rPr sz="2400" spc="-30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of</a:t>
            </a:r>
            <a:r>
              <a:rPr sz="2400" spc="-25" dirty="0">
                <a:latin typeface="Candara"/>
                <a:cs typeface="Candara"/>
              </a:rPr>
              <a:t> </a:t>
            </a:r>
            <a:r>
              <a:rPr sz="2400" spc="-10" dirty="0">
                <a:latin typeface="Candara"/>
                <a:cs typeface="Candara"/>
              </a:rPr>
              <a:t>representing</a:t>
            </a:r>
            <a:r>
              <a:rPr sz="2400" spc="-2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a</a:t>
            </a:r>
            <a:r>
              <a:rPr sz="2400" spc="-20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graph</a:t>
            </a:r>
            <a:r>
              <a:rPr sz="2400" spc="-3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using</a:t>
            </a:r>
            <a:r>
              <a:rPr sz="2400" spc="-30" dirty="0">
                <a:latin typeface="Candara"/>
                <a:cs typeface="Candara"/>
              </a:rPr>
              <a:t> </a:t>
            </a:r>
            <a:r>
              <a:rPr sz="2400" spc="-50" dirty="0">
                <a:latin typeface="Candara"/>
                <a:cs typeface="Candara"/>
              </a:rPr>
              <a:t>a </a:t>
            </a:r>
            <a:r>
              <a:rPr sz="2400" dirty="0">
                <a:latin typeface="Candara"/>
                <a:cs typeface="Candara"/>
              </a:rPr>
              <a:t>2D</a:t>
            </a:r>
            <a:r>
              <a:rPr sz="2400" spc="5" dirty="0">
                <a:latin typeface="Candara"/>
                <a:cs typeface="Candara"/>
              </a:rPr>
              <a:t> </a:t>
            </a:r>
            <a:r>
              <a:rPr sz="2400" spc="-10" dirty="0">
                <a:latin typeface="Candara"/>
                <a:cs typeface="Candara"/>
              </a:rPr>
              <a:t>array.</a:t>
            </a:r>
            <a:endParaRPr sz="2400" dirty="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9112" y="707847"/>
            <a:ext cx="9232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ndara"/>
                <a:cs typeface="Candara"/>
              </a:rPr>
              <a:t>Outputs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spc="-50" dirty="0">
                <a:latin typeface="Candara"/>
                <a:cs typeface="Candara"/>
              </a:rPr>
              <a:t>:</a:t>
            </a:r>
            <a:endParaRPr sz="1800">
              <a:latin typeface="Candara"/>
              <a:cs typeface="Candar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23544" y="1220724"/>
            <a:ext cx="9630410" cy="4916805"/>
            <a:chOff x="923544" y="1220724"/>
            <a:chExt cx="9630410" cy="49168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3544" y="1220724"/>
              <a:ext cx="4206239" cy="14508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45935" y="1220724"/>
              <a:ext cx="4207764" cy="15057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3356" y="2996184"/>
              <a:ext cx="4213860" cy="15255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45935" y="2996184"/>
              <a:ext cx="4047744" cy="15453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24072" y="4613147"/>
              <a:ext cx="3933444" cy="1524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148" y="1188732"/>
            <a:ext cx="3222498" cy="5112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34923" y="1237234"/>
            <a:ext cx="10052685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ndara"/>
                <a:cs typeface="Candara"/>
              </a:rPr>
              <a:t>Theoretical</a:t>
            </a:r>
            <a:r>
              <a:rPr sz="1800" b="1" spc="-30" dirty="0">
                <a:latin typeface="Candara"/>
                <a:cs typeface="Candara"/>
              </a:rPr>
              <a:t> </a:t>
            </a:r>
            <a:r>
              <a:rPr sz="1800" b="1" dirty="0">
                <a:latin typeface="Candara"/>
                <a:cs typeface="Candara"/>
              </a:rPr>
              <a:t>Time</a:t>
            </a:r>
            <a:r>
              <a:rPr sz="1800" b="1" spc="-10" dirty="0">
                <a:latin typeface="Candara"/>
                <a:cs typeface="Candara"/>
              </a:rPr>
              <a:t> Complexity</a:t>
            </a:r>
            <a:r>
              <a:rPr sz="1800" b="1" spc="-25" dirty="0">
                <a:latin typeface="Candara"/>
                <a:cs typeface="Candara"/>
              </a:rPr>
              <a:t> </a:t>
            </a:r>
            <a:r>
              <a:rPr sz="1800" b="1" spc="-50" dirty="0">
                <a:latin typeface="Candara"/>
                <a:cs typeface="Candara"/>
              </a:rPr>
              <a:t>:</a:t>
            </a:r>
            <a:endParaRPr sz="1800" dirty="0"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ndara"/>
                <a:cs typeface="Candara"/>
              </a:rPr>
              <a:t>Time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complexity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represents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how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computational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time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of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program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increases</a:t>
            </a:r>
            <a:r>
              <a:rPr sz="1800" spc="-4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as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input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size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grows.</a:t>
            </a:r>
            <a:endParaRPr sz="1800" dirty="0"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ndara"/>
                <a:cs typeface="Candara"/>
              </a:rPr>
              <a:t>We</a:t>
            </a:r>
            <a:r>
              <a:rPr sz="1800" spc="-4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use</a:t>
            </a:r>
            <a:r>
              <a:rPr sz="1800" spc="-4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an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30" dirty="0">
                <a:latin typeface="Candara"/>
                <a:cs typeface="Candara"/>
              </a:rPr>
              <a:t> </a:t>
            </a:r>
            <a:r>
              <a:rPr sz="1800" b="1" dirty="0">
                <a:latin typeface="Candara"/>
                <a:cs typeface="Candara"/>
              </a:rPr>
              <a:t>×</a:t>
            </a:r>
            <a:r>
              <a:rPr sz="1800" b="1" spc="-40" dirty="0">
                <a:latin typeface="Candara"/>
                <a:cs typeface="Candara"/>
              </a:rPr>
              <a:t> 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adjacency</a:t>
            </a:r>
            <a:r>
              <a:rPr sz="1800" spc="-4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matrix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to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represent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graph.</a:t>
            </a:r>
            <a:endParaRPr sz="1800" dirty="0"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20" dirty="0">
                <a:latin typeface="Candara"/>
                <a:cs typeface="Candara"/>
              </a:rPr>
              <a:t>To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generate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graph,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we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fill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an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30" dirty="0">
                <a:latin typeface="Candara"/>
                <a:cs typeface="Candara"/>
              </a:rPr>
              <a:t> </a:t>
            </a:r>
            <a:r>
              <a:rPr sz="1800" b="1" dirty="0">
                <a:latin typeface="Candara"/>
                <a:cs typeface="Candara"/>
              </a:rPr>
              <a:t>×</a:t>
            </a:r>
            <a:r>
              <a:rPr sz="1800" b="1" spc="-30" dirty="0">
                <a:latin typeface="Candara"/>
                <a:cs typeface="Candara"/>
              </a:rPr>
              <a:t> 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matrix,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which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requires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b="1" dirty="0">
                <a:latin typeface="Candara"/>
                <a:cs typeface="Candara"/>
              </a:rPr>
              <a:t>O(n^2)</a:t>
            </a:r>
            <a:r>
              <a:rPr sz="1800" b="1" spc="-40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operations.</a:t>
            </a:r>
            <a:endParaRPr sz="1800" dirty="0">
              <a:latin typeface="Candara"/>
              <a:cs typeface="Candara"/>
            </a:endParaRPr>
          </a:p>
          <a:p>
            <a:pPr marL="12700" marR="312420">
              <a:lnSpc>
                <a:spcPct val="200000"/>
              </a:lnSpc>
              <a:spcBef>
                <a:spcPts val="5"/>
              </a:spcBef>
            </a:pPr>
            <a:r>
              <a:rPr sz="1800" dirty="0">
                <a:latin typeface="Candara"/>
                <a:cs typeface="Candara"/>
              </a:rPr>
              <a:t>For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each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of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vertices,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we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perform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b="1" dirty="0">
                <a:latin typeface="Candara"/>
                <a:cs typeface="Candara"/>
              </a:rPr>
              <a:t>O(n^2)</a:t>
            </a:r>
            <a:r>
              <a:rPr sz="1800" b="1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operations</a:t>
            </a:r>
            <a:r>
              <a:rPr sz="1800" spc="-5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to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calculate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both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in-degree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and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out-</a:t>
            </a:r>
            <a:r>
              <a:rPr sz="1800" spc="-10" dirty="0">
                <a:latin typeface="Candara"/>
                <a:cs typeface="Candara"/>
              </a:rPr>
              <a:t>degree. </a:t>
            </a:r>
            <a:r>
              <a:rPr sz="1800" spc="-20" dirty="0">
                <a:latin typeface="Candara"/>
                <a:cs typeface="Candara"/>
              </a:rPr>
              <a:t>Total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operations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=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O(n)</a:t>
            </a:r>
            <a:r>
              <a:rPr sz="1800" spc="-10" dirty="0">
                <a:latin typeface="Candara"/>
                <a:cs typeface="Candara"/>
              </a:rPr>
              <a:t> </a:t>
            </a:r>
            <a:r>
              <a:rPr sz="1800" b="1" dirty="0">
                <a:latin typeface="Candara"/>
                <a:cs typeface="Candara"/>
              </a:rPr>
              <a:t>×</a:t>
            </a:r>
            <a:r>
              <a:rPr sz="1800" b="1" spc="-15" dirty="0">
                <a:latin typeface="Candara"/>
                <a:cs typeface="Candara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O(n)</a:t>
            </a:r>
            <a:endParaRPr sz="1800" dirty="0">
              <a:latin typeface="Candara"/>
              <a:cs typeface="Candara"/>
            </a:endParaRPr>
          </a:p>
          <a:p>
            <a:pPr marL="163703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=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O(n^2)</a:t>
            </a:r>
            <a:endParaRPr sz="1800" dirty="0"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20" dirty="0">
                <a:latin typeface="Candara"/>
                <a:cs typeface="Candara"/>
              </a:rPr>
              <a:t>Total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time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complexity</a:t>
            </a:r>
            <a:r>
              <a:rPr sz="1800" spc="-5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=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O(n^2)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+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O(n^2)</a:t>
            </a:r>
            <a:endParaRPr sz="1800" dirty="0">
              <a:latin typeface="Candara"/>
              <a:cs typeface="Candara"/>
            </a:endParaRPr>
          </a:p>
          <a:p>
            <a:pPr marL="212979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=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O(n^2)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2BBEC2-0E68-4266-5AE3-8FB0926847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E70B1-F794-1A50-7CFB-796863EEB051}"/>
              </a:ext>
            </a:extLst>
          </p:cNvPr>
          <p:cNvSpPr txBox="1"/>
          <p:nvPr/>
        </p:nvSpPr>
        <p:spPr>
          <a:xfrm>
            <a:off x="1143000" y="838200"/>
            <a:ext cx="9601200" cy="5221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Theoretical</a:t>
            </a:r>
            <a:r>
              <a:rPr lang="en-GB" sz="2000" b="1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Time</a:t>
            </a:r>
            <a:r>
              <a:rPr lang="en-GB" sz="2000" b="1" spc="-10" dirty="0">
                <a:solidFill>
                  <a:schemeClr val="bg1"/>
                </a:solidFill>
                <a:latin typeface="Candara"/>
                <a:cs typeface="Candara"/>
              </a:rPr>
              <a:t> Complexity</a:t>
            </a:r>
            <a:r>
              <a:rPr lang="en-GB" sz="2000" b="1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spc="-50" dirty="0">
                <a:solidFill>
                  <a:schemeClr val="bg1"/>
                </a:solidFill>
                <a:latin typeface="Candara"/>
                <a:cs typeface="Candara"/>
              </a:rPr>
              <a:t>:</a:t>
            </a:r>
            <a:endParaRPr lang="en-GB" sz="2000" dirty="0">
              <a:solidFill>
                <a:schemeClr val="bg1"/>
              </a:solidFill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Time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complexity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represents</a:t>
            </a:r>
            <a:r>
              <a:rPr lang="en-GB" sz="2000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how</a:t>
            </a:r>
            <a:r>
              <a:rPr lang="en-GB"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computational</a:t>
            </a:r>
            <a:r>
              <a:rPr lang="en-GB"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time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of</a:t>
            </a:r>
            <a:r>
              <a:rPr lang="en-GB"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a</a:t>
            </a:r>
            <a:r>
              <a:rPr lang="en-GB" sz="2000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program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increases</a:t>
            </a:r>
            <a:r>
              <a:rPr lang="en-GB" sz="2000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as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input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size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spc="-10" dirty="0">
                <a:solidFill>
                  <a:schemeClr val="bg1"/>
                </a:solidFill>
                <a:latin typeface="Candara"/>
                <a:cs typeface="Candara"/>
              </a:rPr>
              <a:t>grows.</a:t>
            </a:r>
            <a:endParaRPr lang="en-GB" sz="2000" dirty="0">
              <a:solidFill>
                <a:schemeClr val="bg1"/>
              </a:solidFill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We</a:t>
            </a:r>
            <a:r>
              <a:rPr lang="en-GB" sz="2000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use</a:t>
            </a:r>
            <a:r>
              <a:rPr lang="en-GB" sz="2000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an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n</a:t>
            </a:r>
            <a:r>
              <a:rPr lang="en-GB" sz="2000" b="1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×</a:t>
            </a:r>
            <a:r>
              <a:rPr lang="en-GB" sz="2000" b="1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n</a:t>
            </a:r>
            <a:r>
              <a:rPr lang="en-GB" sz="2000" b="1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adjacency</a:t>
            </a:r>
            <a:r>
              <a:rPr lang="en-GB" sz="2000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matrix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to</a:t>
            </a:r>
            <a:r>
              <a:rPr lang="en-GB"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represent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spc="-10" dirty="0">
                <a:solidFill>
                  <a:schemeClr val="bg1"/>
                </a:solidFill>
                <a:latin typeface="Candara"/>
                <a:cs typeface="Candara"/>
              </a:rPr>
              <a:t>graph.</a:t>
            </a:r>
            <a:endParaRPr lang="en-GB" sz="2000" dirty="0">
              <a:solidFill>
                <a:schemeClr val="bg1"/>
              </a:solidFill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To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generate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graph,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we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fill</a:t>
            </a:r>
            <a:r>
              <a:rPr lang="en-GB"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an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n</a:t>
            </a:r>
            <a:r>
              <a:rPr lang="en-GB" sz="2000" b="1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×</a:t>
            </a:r>
            <a:r>
              <a:rPr lang="en-GB" sz="2000" b="1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n</a:t>
            </a:r>
            <a:r>
              <a:rPr lang="en-GB" sz="2000" b="1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matrix,</a:t>
            </a:r>
            <a:r>
              <a:rPr lang="en-GB"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which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requires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O(n^2)</a:t>
            </a:r>
            <a:r>
              <a:rPr lang="en-GB" sz="2000" b="1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spc="-10" dirty="0">
                <a:solidFill>
                  <a:schemeClr val="bg1"/>
                </a:solidFill>
                <a:latin typeface="Candara"/>
                <a:cs typeface="Candara"/>
              </a:rPr>
              <a:t>operations.</a:t>
            </a:r>
            <a:endParaRPr lang="en-GB" sz="2000" dirty="0">
              <a:solidFill>
                <a:schemeClr val="bg1"/>
              </a:solidFill>
              <a:latin typeface="Candara"/>
              <a:cs typeface="Candara"/>
            </a:endParaRPr>
          </a:p>
          <a:p>
            <a:pPr marL="12700" marR="312420">
              <a:lnSpc>
                <a:spcPct val="200000"/>
              </a:lnSpc>
              <a:spcBef>
                <a:spcPts val="5"/>
              </a:spcBef>
            </a:pP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For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each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of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n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vertices,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we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perform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O(n^2)</a:t>
            </a:r>
            <a:r>
              <a:rPr lang="en-GB" sz="2000" b="1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operations</a:t>
            </a:r>
            <a:r>
              <a:rPr lang="en-GB" sz="2000" spc="-5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to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calculate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both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in-degree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and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out-</a:t>
            </a:r>
            <a:r>
              <a:rPr lang="en-GB" sz="2000" spc="-10" dirty="0">
                <a:solidFill>
                  <a:schemeClr val="bg1"/>
                </a:solidFill>
                <a:latin typeface="Candara"/>
                <a:cs typeface="Candara"/>
              </a:rPr>
              <a:t>degree. 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Total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operations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=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O(n)</a:t>
            </a:r>
            <a:r>
              <a:rPr lang="en-GB" sz="2000" spc="-1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×</a:t>
            </a:r>
            <a:r>
              <a:rPr lang="en-GB" sz="2000" b="1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spc="-20" dirty="0">
                <a:solidFill>
                  <a:schemeClr val="bg1"/>
                </a:solidFill>
                <a:latin typeface="Candara"/>
                <a:cs typeface="Candara"/>
              </a:rPr>
              <a:t>O(n)</a:t>
            </a:r>
            <a:endParaRPr lang="en-GB" sz="2000" dirty="0">
              <a:solidFill>
                <a:schemeClr val="bg1"/>
              </a:solidFill>
              <a:latin typeface="Candara"/>
              <a:cs typeface="Candara"/>
            </a:endParaRPr>
          </a:p>
          <a:p>
            <a:pPr marL="1637030">
              <a:lnSpc>
                <a:spcPct val="100000"/>
              </a:lnSpc>
            </a:pP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=</a:t>
            </a:r>
            <a:r>
              <a:rPr lang="en-GB" sz="2000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spc="-10" dirty="0">
                <a:solidFill>
                  <a:schemeClr val="bg1"/>
                </a:solidFill>
                <a:latin typeface="Candara"/>
                <a:cs typeface="Candara"/>
              </a:rPr>
              <a:t>O(n^2)</a:t>
            </a:r>
            <a:endParaRPr lang="en-GB" sz="2000" dirty="0">
              <a:solidFill>
                <a:schemeClr val="bg1"/>
              </a:solidFill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Total</a:t>
            </a:r>
            <a:r>
              <a:rPr lang="en-GB"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time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complexity</a:t>
            </a:r>
            <a:r>
              <a:rPr lang="en-GB" sz="2000" spc="-5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=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O(n^2)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+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spc="-10" dirty="0">
                <a:solidFill>
                  <a:schemeClr val="bg1"/>
                </a:solidFill>
                <a:latin typeface="Candara"/>
                <a:cs typeface="Candara"/>
              </a:rPr>
              <a:t>O(n^2)</a:t>
            </a:r>
            <a:endParaRPr lang="en-GB" sz="2000" dirty="0">
              <a:solidFill>
                <a:schemeClr val="bg1"/>
              </a:solidFill>
              <a:latin typeface="Candara"/>
              <a:cs typeface="Candara"/>
            </a:endParaRPr>
          </a:p>
          <a:p>
            <a:pPr marL="2129790">
              <a:lnSpc>
                <a:spcPct val="100000"/>
              </a:lnSpc>
            </a:pP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=</a:t>
            </a:r>
            <a:r>
              <a:rPr lang="en-GB" sz="2000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spc="-10" dirty="0">
                <a:solidFill>
                  <a:schemeClr val="bg1"/>
                </a:solidFill>
                <a:latin typeface="Candara"/>
                <a:cs typeface="Candara"/>
              </a:rPr>
              <a:t>O(n^2)</a:t>
            </a:r>
            <a:endParaRPr lang="en-GB" sz="2000" dirty="0">
              <a:solidFill>
                <a:schemeClr val="bg1"/>
              </a:solidFill>
              <a:latin typeface="Candara"/>
              <a:cs typeface="Candara"/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48640"/>
            <a:ext cx="12192000" cy="5756275"/>
            <a:chOff x="0" y="548640"/>
            <a:chExt cx="12192000" cy="57562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2771" y="982979"/>
              <a:ext cx="4274058" cy="45491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771" y="3665220"/>
              <a:ext cx="1315974" cy="4549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38527" y="3665220"/>
              <a:ext cx="323837" cy="4549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3016" y="3665220"/>
              <a:ext cx="1251966" cy="45491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3239" y="3665220"/>
              <a:ext cx="456425" cy="45491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93363" y="3665220"/>
              <a:ext cx="1436369" cy="45491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9516" y="3665220"/>
              <a:ext cx="323837" cy="45491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57478" y="1025143"/>
            <a:ext cx="10008235" cy="4415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ndara"/>
                <a:cs typeface="Candara"/>
              </a:rPr>
              <a:t>Experimental</a:t>
            </a:r>
            <a:r>
              <a:rPr sz="1600" b="1" spc="10" dirty="0">
                <a:latin typeface="Candara"/>
                <a:cs typeface="Candara"/>
              </a:rPr>
              <a:t> </a:t>
            </a:r>
            <a:r>
              <a:rPr sz="1600" b="1" dirty="0">
                <a:latin typeface="Candara"/>
                <a:cs typeface="Candara"/>
              </a:rPr>
              <a:t>time</a:t>
            </a:r>
            <a:r>
              <a:rPr sz="1600" b="1" spc="-20" dirty="0">
                <a:latin typeface="Candara"/>
                <a:cs typeface="Candara"/>
              </a:rPr>
              <a:t> </a:t>
            </a:r>
            <a:r>
              <a:rPr sz="1600" b="1" dirty="0">
                <a:latin typeface="Candara"/>
                <a:cs typeface="Candara"/>
              </a:rPr>
              <a:t>complexity (</a:t>
            </a:r>
            <a:r>
              <a:rPr sz="1600" b="1" spc="-40" dirty="0">
                <a:latin typeface="Candara"/>
                <a:cs typeface="Candara"/>
              </a:rPr>
              <a:t> </a:t>
            </a:r>
            <a:r>
              <a:rPr sz="1600" b="1" dirty="0">
                <a:latin typeface="Candara"/>
                <a:cs typeface="Candara"/>
              </a:rPr>
              <a:t>from</a:t>
            </a:r>
            <a:r>
              <a:rPr sz="1600" b="1" spc="-15" dirty="0">
                <a:latin typeface="Candara"/>
                <a:cs typeface="Candara"/>
              </a:rPr>
              <a:t> </a:t>
            </a:r>
            <a:r>
              <a:rPr sz="1600" b="1" dirty="0">
                <a:latin typeface="Candara"/>
                <a:cs typeface="Candara"/>
              </a:rPr>
              <a:t>graph</a:t>
            </a:r>
            <a:r>
              <a:rPr sz="1600" b="1" spc="-10" dirty="0">
                <a:latin typeface="Candara"/>
                <a:cs typeface="Candara"/>
              </a:rPr>
              <a:t> </a:t>
            </a:r>
            <a:r>
              <a:rPr sz="1600" b="1" dirty="0">
                <a:latin typeface="Candara"/>
                <a:cs typeface="Candara"/>
              </a:rPr>
              <a:t>)</a:t>
            </a:r>
            <a:r>
              <a:rPr sz="1600" b="1" spc="-45" dirty="0">
                <a:latin typeface="Candara"/>
                <a:cs typeface="Candara"/>
              </a:rPr>
              <a:t> </a:t>
            </a:r>
            <a:r>
              <a:rPr sz="1600" b="1" spc="-50" dirty="0">
                <a:latin typeface="Candara"/>
                <a:cs typeface="Candara"/>
              </a:rPr>
              <a:t>:</a:t>
            </a:r>
            <a:endParaRPr sz="1600" dirty="0"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600" dirty="0">
                <a:latin typeface="Candara"/>
                <a:cs typeface="Candara"/>
              </a:rPr>
              <a:t>The</a:t>
            </a:r>
            <a:r>
              <a:rPr sz="1600" spc="-4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equation</a:t>
            </a:r>
            <a:r>
              <a:rPr sz="1600" spc="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of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the</a:t>
            </a:r>
            <a:r>
              <a:rPr sz="1600" spc="-2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trendline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was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of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the</a:t>
            </a:r>
            <a:r>
              <a:rPr sz="1600" spc="-2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form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spc="-50" dirty="0">
                <a:latin typeface="Candara"/>
                <a:cs typeface="Candara"/>
              </a:rPr>
              <a:t>:</a:t>
            </a:r>
            <a:endParaRPr sz="1600" dirty="0">
              <a:latin typeface="Candara"/>
              <a:cs typeface="Candara"/>
            </a:endParaRPr>
          </a:p>
          <a:p>
            <a:pPr marL="1478280">
              <a:lnSpc>
                <a:spcPct val="100000"/>
              </a:lnSpc>
            </a:pPr>
            <a:r>
              <a:rPr sz="1600" dirty="0">
                <a:latin typeface="Candara"/>
                <a:cs typeface="Candara"/>
              </a:rPr>
              <a:t>Y</a:t>
            </a:r>
            <a:r>
              <a:rPr sz="1600" spc="-1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=</a:t>
            </a:r>
            <a:r>
              <a:rPr sz="1600" spc="-2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0.003x^2</a:t>
            </a:r>
            <a:r>
              <a:rPr sz="1600" spc="-1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+</a:t>
            </a:r>
            <a:r>
              <a:rPr sz="1600" spc="-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0.14x</a:t>
            </a:r>
            <a:r>
              <a:rPr sz="1600" spc="-2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+</a:t>
            </a:r>
            <a:r>
              <a:rPr sz="1600" spc="-10" dirty="0">
                <a:latin typeface="Candara"/>
                <a:cs typeface="Candara"/>
              </a:rPr>
              <a:t> </a:t>
            </a:r>
            <a:r>
              <a:rPr sz="1600" spc="-25" dirty="0">
                <a:latin typeface="Candara"/>
                <a:cs typeface="Candara"/>
              </a:rPr>
              <a:t>10</a:t>
            </a:r>
            <a:endParaRPr sz="1600" dirty="0">
              <a:latin typeface="Candara"/>
              <a:cs typeface="Candara"/>
            </a:endParaRPr>
          </a:p>
          <a:p>
            <a:pPr marL="12700" marR="83820">
              <a:lnSpc>
                <a:spcPct val="200000"/>
              </a:lnSpc>
            </a:pPr>
            <a:r>
              <a:rPr sz="1600" dirty="0">
                <a:latin typeface="Candara"/>
                <a:cs typeface="Candara"/>
              </a:rPr>
              <a:t>The</a:t>
            </a:r>
            <a:r>
              <a:rPr sz="1600" spc="-4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highest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degree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term</a:t>
            </a:r>
            <a:r>
              <a:rPr sz="1600" spc="-2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in</a:t>
            </a:r>
            <a:r>
              <a:rPr sz="1600" spc="-4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the</a:t>
            </a:r>
            <a:r>
              <a:rPr sz="1600" spc="-4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equation</a:t>
            </a:r>
            <a:r>
              <a:rPr sz="1600" spc="-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is</a:t>
            </a:r>
            <a:r>
              <a:rPr sz="1600" spc="-45" dirty="0">
                <a:latin typeface="Candara"/>
                <a:cs typeface="Candara"/>
              </a:rPr>
              <a:t> </a:t>
            </a:r>
            <a:r>
              <a:rPr sz="1600" b="1" dirty="0">
                <a:latin typeface="Candara"/>
                <a:cs typeface="Candara"/>
              </a:rPr>
              <a:t>x^2</a:t>
            </a:r>
            <a:r>
              <a:rPr sz="1600" dirty="0">
                <a:latin typeface="Candara"/>
                <a:cs typeface="Candara"/>
              </a:rPr>
              <a:t>,</a:t>
            </a:r>
            <a:r>
              <a:rPr sz="1600" spc="-4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which</a:t>
            </a:r>
            <a:r>
              <a:rPr sz="1600" spc="-4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confirms</a:t>
            </a:r>
            <a:r>
              <a:rPr sz="1600" spc="-2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that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the</a:t>
            </a:r>
            <a:r>
              <a:rPr sz="1600" spc="-3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time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complexity</a:t>
            </a:r>
            <a:r>
              <a:rPr sz="1600" spc="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grows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quadratically</a:t>
            </a:r>
            <a:r>
              <a:rPr sz="1600" spc="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with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spc="-25" dirty="0">
                <a:latin typeface="Candara"/>
                <a:cs typeface="Candara"/>
              </a:rPr>
              <a:t>n. </a:t>
            </a:r>
            <a:r>
              <a:rPr sz="1600" dirty="0">
                <a:latin typeface="Candara"/>
                <a:cs typeface="Candara"/>
              </a:rPr>
              <a:t>The</a:t>
            </a:r>
            <a:r>
              <a:rPr sz="1600" spc="-5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trendline</a:t>
            </a:r>
            <a:r>
              <a:rPr sz="1600" spc="-2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shows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a</a:t>
            </a:r>
            <a:r>
              <a:rPr sz="1600" spc="-5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quadratic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relationship</a:t>
            </a:r>
            <a:r>
              <a:rPr sz="1600" spc="-2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between</a:t>
            </a:r>
            <a:r>
              <a:rPr sz="1600" spc="-3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the</a:t>
            </a:r>
            <a:r>
              <a:rPr sz="1600" spc="-4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computational</a:t>
            </a:r>
            <a:r>
              <a:rPr sz="1600" spc="-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time</a:t>
            </a:r>
            <a:r>
              <a:rPr sz="1600" spc="-3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and</a:t>
            </a:r>
            <a:r>
              <a:rPr sz="1600" spc="-50" dirty="0">
                <a:latin typeface="Candara"/>
                <a:cs typeface="Candara"/>
              </a:rPr>
              <a:t> </a:t>
            </a:r>
            <a:r>
              <a:rPr sz="1600" spc="-25" dirty="0">
                <a:latin typeface="Candara"/>
                <a:cs typeface="Candara"/>
              </a:rPr>
              <a:t>n.</a:t>
            </a:r>
            <a:endParaRPr sz="1600" dirty="0">
              <a:latin typeface="Candara"/>
              <a:cs typeface="Candara"/>
            </a:endParaRPr>
          </a:p>
          <a:p>
            <a:pPr marL="12700" marR="2804795">
              <a:lnSpc>
                <a:spcPct val="200000"/>
              </a:lnSpc>
              <a:spcBef>
                <a:spcPts val="5"/>
              </a:spcBef>
            </a:pPr>
            <a:r>
              <a:rPr sz="1600" dirty="0">
                <a:latin typeface="Candara"/>
                <a:cs typeface="Candara"/>
              </a:rPr>
              <a:t>The</a:t>
            </a:r>
            <a:r>
              <a:rPr sz="1600" spc="-5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experimental</a:t>
            </a:r>
            <a:r>
              <a:rPr sz="1600" spc="-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results</a:t>
            </a:r>
            <a:r>
              <a:rPr sz="1600" spc="-2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also</a:t>
            </a:r>
            <a:r>
              <a:rPr sz="1600" spc="-2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suggest</a:t>
            </a:r>
            <a:r>
              <a:rPr sz="1600" spc="-2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that</a:t>
            </a:r>
            <a:r>
              <a:rPr sz="1600" spc="-3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the</a:t>
            </a:r>
            <a:r>
              <a:rPr sz="1600" spc="-5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complexity</a:t>
            </a:r>
            <a:r>
              <a:rPr sz="1600" spc="1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of</a:t>
            </a:r>
            <a:r>
              <a:rPr sz="1600" spc="-5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the</a:t>
            </a:r>
            <a:r>
              <a:rPr sz="1600" spc="-4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program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is</a:t>
            </a:r>
            <a:r>
              <a:rPr sz="1600" spc="-35" dirty="0">
                <a:latin typeface="Candara"/>
                <a:cs typeface="Candara"/>
              </a:rPr>
              <a:t> </a:t>
            </a:r>
            <a:r>
              <a:rPr sz="1600" b="1" spc="-10" dirty="0">
                <a:latin typeface="Candara"/>
                <a:cs typeface="Candara"/>
              </a:rPr>
              <a:t>O(n^2)</a:t>
            </a:r>
            <a:r>
              <a:rPr sz="1600" spc="-10" dirty="0">
                <a:latin typeface="Candara"/>
                <a:cs typeface="Candara"/>
              </a:rPr>
              <a:t>. </a:t>
            </a:r>
            <a:r>
              <a:rPr sz="1600" b="1" dirty="0">
                <a:latin typeface="Candara"/>
                <a:cs typeface="Candara"/>
              </a:rPr>
              <a:t>Comparison</a:t>
            </a:r>
            <a:r>
              <a:rPr sz="1600" b="1" spc="-30" dirty="0">
                <a:latin typeface="Candara"/>
                <a:cs typeface="Candara"/>
              </a:rPr>
              <a:t> </a:t>
            </a:r>
            <a:r>
              <a:rPr sz="1600" b="1" dirty="0">
                <a:latin typeface="Candara"/>
                <a:cs typeface="Candara"/>
              </a:rPr>
              <a:t>:</a:t>
            </a:r>
            <a:r>
              <a:rPr sz="1600" b="1" spc="-75" dirty="0">
                <a:latin typeface="Candara"/>
                <a:cs typeface="Candara"/>
              </a:rPr>
              <a:t> </a:t>
            </a:r>
            <a:r>
              <a:rPr sz="1600" b="1" dirty="0">
                <a:latin typeface="Candara"/>
                <a:cs typeface="Candara"/>
              </a:rPr>
              <a:t>Theoretical</a:t>
            </a:r>
            <a:r>
              <a:rPr sz="1600" b="1" spc="-35" dirty="0">
                <a:latin typeface="Candara"/>
                <a:cs typeface="Candara"/>
              </a:rPr>
              <a:t> </a:t>
            </a:r>
            <a:r>
              <a:rPr sz="1600" b="1" dirty="0">
                <a:latin typeface="Candara"/>
                <a:cs typeface="Candara"/>
              </a:rPr>
              <a:t>vs</a:t>
            </a:r>
            <a:r>
              <a:rPr sz="1600" b="1" spc="-60" dirty="0">
                <a:latin typeface="Candara"/>
                <a:cs typeface="Candara"/>
              </a:rPr>
              <a:t> </a:t>
            </a:r>
            <a:r>
              <a:rPr sz="1600" b="1" dirty="0">
                <a:latin typeface="Candara"/>
                <a:cs typeface="Candara"/>
              </a:rPr>
              <a:t>Experimental</a:t>
            </a:r>
            <a:r>
              <a:rPr sz="1600" b="1" spc="-25" dirty="0">
                <a:latin typeface="Candara"/>
                <a:cs typeface="Candara"/>
              </a:rPr>
              <a:t> </a:t>
            </a:r>
            <a:r>
              <a:rPr sz="1600" b="1" spc="-50" dirty="0">
                <a:latin typeface="Candara"/>
                <a:cs typeface="Candara"/>
              </a:rPr>
              <a:t>:</a:t>
            </a:r>
            <a:endParaRPr sz="1600" dirty="0"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600" dirty="0">
                <a:latin typeface="Candara"/>
                <a:cs typeface="Candara"/>
              </a:rPr>
              <a:t>From</a:t>
            </a:r>
            <a:r>
              <a:rPr sz="1600" spc="-2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analyzing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the</a:t>
            </a:r>
            <a:r>
              <a:rPr sz="1600" spc="-2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code,</a:t>
            </a:r>
            <a:r>
              <a:rPr sz="1600" spc="-2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we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spc="-10" dirty="0">
                <a:latin typeface="Candara"/>
                <a:cs typeface="Candara"/>
              </a:rPr>
              <a:t>determined</a:t>
            </a:r>
            <a:r>
              <a:rPr sz="1600" spc="-2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that</a:t>
            </a:r>
            <a:r>
              <a:rPr sz="1600" spc="-2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the</a:t>
            </a:r>
            <a:r>
              <a:rPr sz="1600" spc="-4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time</a:t>
            </a:r>
            <a:r>
              <a:rPr sz="1600" spc="-1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complexity</a:t>
            </a:r>
            <a:r>
              <a:rPr sz="1600" spc="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is</a:t>
            </a:r>
            <a:r>
              <a:rPr sz="1600" spc="-40" dirty="0">
                <a:latin typeface="Candara"/>
                <a:cs typeface="Candara"/>
              </a:rPr>
              <a:t> </a:t>
            </a:r>
            <a:r>
              <a:rPr sz="1600" b="1" spc="-10" dirty="0">
                <a:latin typeface="Candara"/>
                <a:cs typeface="Candara"/>
              </a:rPr>
              <a:t>O(n^2)</a:t>
            </a:r>
            <a:r>
              <a:rPr sz="1600" spc="-10" dirty="0">
                <a:latin typeface="Candara"/>
                <a:cs typeface="Candara"/>
              </a:rPr>
              <a:t>.</a:t>
            </a:r>
            <a:endParaRPr sz="1600" dirty="0">
              <a:latin typeface="Candara"/>
              <a:cs typeface="Candara"/>
            </a:endParaRPr>
          </a:p>
          <a:p>
            <a:pPr marL="12700" marR="5080">
              <a:lnSpc>
                <a:spcPct val="200000"/>
              </a:lnSpc>
            </a:pPr>
            <a:r>
              <a:rPr sz="1600" dirty="0">
                <a:latin typeface="Candara"/>
                <a:cs typeface="Candara"/>
              </a:rPr>
              <a:t>From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the</a:t>
            </a:r>
            <a:r>
              <a:rPr sz="1600" spc="-4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excel</a:t>
            </a:r>
            <a:r>
              <a:rPr sz="1600" spc="-2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graph</a:t>
            </a:r>
            <a:r>
              <a:rPr sz="1600" spc="-5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and</a:t>
            </a:r>
            <a:r>
              <a:rPr sz="1600" spc="-4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the</a:t>
            </a:r>
            <a:r>
              <a:rPr sz="1600" spc="-5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polynomial trendline,</a:t>
            </a:r>
            <a:r>
              <a:rPr sz="1600" spc="-4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confirming</a:t>
            </a:r>
            <a:r>
              <a:rPr sz="1600" spc="-3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that</a:t>
            </a:r>
            <a:r>
              <a:rPr sz="1600" spc="-5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the</a:t>
            </a:r>
            <a:r>
              <a:rPr sz="1600" spc="-4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experimental</a:t>
            </a:r>
            <a:r>
              <a:rPr sz="1600" spc="-1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time</a:t>
            </a:r>
            <a:r>
              <a:rPr sz="1600" spc="-2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complexity</a:t>
            </a:r>
            <a:r>
              <a:rPr sz="1600" spc="-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ia</a:t>
            </a:r>
            <a:r>
              <a:rPr sz="1600" spc="-4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also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b="1" spc="-10" dirty="0">
                <a:latin typeface="Candara"/>
                <a:cs typeface="Candara"/>
              </a:rPr>
              <a:t>O(n^2)</a:t>
            </a:r>
            <a:r>
              <a:rPr sz="1600" spc="-10" dirty="0">
                <a:latin typeface="Candara"/>
                <a:cs typeface="Candara"/>
              </a:rPr>
              <a:t>. </a:t>
            </a:r>
            <a:r>
              <a:rPr sz="1600" dirty="0">
                <a:latin typeface="Candara"/>
                <a:cs typeface="Candara"/>
              </a:rPr>
              <a:t>Both</a:t>
            </a:r>
            <a:r>
              <a:rPr sz="1600" spc="-4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the</a:t>
            </a:r>
            <a:r>
              <a:rPr sz="1600" spc="-4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theoretical</a:t>
            </a:r>
            <a:r>
              <a:rPr sz="1600" spc="-2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and</a:t>
            </a:r>
            <a:r>
              <a:rPr sz="1600" spc="-4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experimental</a:t>
            </a:r>
            <a:r>
              <a:rPr sz="1600" spc="-1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time</a:t>
            </a:r>
            <a:r>
              <a:rPr sz="1600" spc="-3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complexity</a:t>
            </a:r>
            <a:r>
              <a:rPr sz="1600" spc="-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of</a:t>
            </a:r>
            <a:r>
              <a:rPr sz="1600" spc="-4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the</a:t>
            </a:r>
            <a:r>
              <a:rPr sz="1600" spc="-50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program</a:t>
            </a:r>
            <a:r>
              <a:rPr sz="1600" spc="-35" dirty="0">
                <a:latin typeface="Candara"/>
                <a:cs typeface="Candara"/>
              </a:rPr>
              <a:t> </a:t>
            </a:r>
            <a:r>
              <a:rPr sz="1600" dirty="0">
                <a:latin typeface="Candara"/>
                <a:cs typeface="Candara"/>
              </a:rPr>
              <a:t>are</a:t>
            </a:r>
            <a:r>
              <a:rPr sz="1600" spc="-35" dirty="0">
                <a:latin typeface="Candara"/>
                <a:cs typeface="Candara"/>
              </a:rPr>
              <a:t> </a:t>
            </a:r>
            <a:r>
              <a:rPr sz="1600" b="1" spc="-10" dirty="0">
                <a:latin typeface="Candara"/>
                <a:cs typeface="Candara"/>
              </a:rPr>
              <a:t>O(n^2)</a:t>
            </a:r>
            <a:r>
              <a:rPr sz="1600" spc="-10" dirty="0">
                <a:latin typeface="Candara"/>
                <a:cs typeface="Candara"/>
              </a:rPr>
              <a:t>.</a:t>
            </a:r>
            <a:endParaRPr sz="1600" dirty="0">
              <a:latin typeface="Candara"/>
              <a:cs typeface="Candar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5ACCFD-7231-C7CC-2CAD-8838661A57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F4CF4A-D557-C430-437A-F36AAB0FB5D8}"/>
              </a:ext>
            </a:extLst>
          </p:cNvPr>
          <p:cNvSpPr txBox="1"/>
          <p:nvPr/>
        </p:nvSpPr>
        <p:spPr>
          <a:xfrm>
            <a:off x="1143000" y="143743"/>
            <a:ext cx="10091522" cy="704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z="2000" b="1" spc="-10" dirty="0">
                <a:solidFill>
                  <a:schemeClr val="bg1"/>
                </a:solidFill>
                <a:latin typeface="Candara"/>
                <a:cs typeface="Candara"/>
              </a:rPr>
              <a:t>Experimental</a:t>
            </a:r>
            <a:r>
              <a:rPr lang="en-GB" sz="2000" b="1" spc="1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time</a:t>
            </a:r>
            <a:r>
              <a:rPr lang="en-GB" sz="2000" b="1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complexity (</a:t>
            </a:r>
            <a:r>
              <a:rPr lang="en-GB" sz="2000" b="1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from</a:t>
            </a:r>
            <a:r>
              <a:rPr lang="en-GB" sz="2000" b="1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graph</a:t>
            </a:r>
            <a:r>
              <a:rPr lang="en-GB" sz="2000" b="1" spc="-1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)</a:t>
            </a:r>
            <a:r>
              <a:rPr lang="en-GB" sz="2000" b="1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spc="-50" dirty="0">
                <a:solidFill>
                  <a:schemeClr val="bg1"/>
                </a:solidFill>
                <a:latin typeface="Candara"/>
                <a:cs typeface="Candara"/>
              </a:rPr>
              <a:t>:</a:t>
            </a:r>
            <a:endParaRPr lang="en-GB" sz="2000" dirty="0">
              <a:solidFill>
                <a:schemeClr val="bg1"/>
              </a:solidFill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equation</a:t>
            </a:r>
            <a:r>
              <a:rPr lang="en-GB" sz="2000" spc="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of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trendline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was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of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form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spc="-50" dirty="0">
                <a:solidFill>
                  <a:schemeClr val="bg1"/>
                </a:solidFill>
                <a:latin typeface="Candara"/>
                <a:cs typeface="Candara"/>
              </a:rPr>
              <a:t>:</a:t>
            </a:r>
            <a:endParaRPr lang="en-GB" sz="2000" dirty="0">
              <a:solidFill>
                <a:schemeClr val="bg1"/>
              </a:solidFill>
              <a:latin typeface="Candara"/>
              <a:cs typeface="Candara"/>
            </a:endParaRPr>
          </a:p>
          <a:p>
            <a:pPr marL="1478280">
              <a:lnSpc>
                <a:spcPct val="100000"/>
              </a:lnSpc>
            </a:pP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Y</a:t>
            </a:r>
            <a:r>
              <a:rPr lang="en-GB" sz="2000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=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0.003x^2</a:t>
            </a:r>
            <a:r>
              <a:rPr lang="en-GB" sz="2000" spc="-1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+</a:t>
            </a:r>
            <a:r>
              <a:rPr lang="en-GB" sz="2000" spc="-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0.14x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+</a:t>
            </a:r>
            <a:r>
              <a:rPr lang="en-GB" sz="2000" spc="-1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10</a:t>
            </a:r>
            <a:endParaRPr lang="en-GB" sz="2000" dirty="0">
              <a:solidFill>
                <a:schemeClr val="bg1"/>
              </a:solidFill>
              <a:latin typeface="Candara"/>
              <a:cs typeface="Candara"/>
            </a:endParaRPr>
          </a:p>
          <a:p>
            <a:pPr marL="12700" marR="83820">
              <a:lnSpc>
                <a:spcPct val="200000"/>
              </a:lnSpc>
            </a:pP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highest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degree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term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in</a:t>
            </a:r>
            <a:r>
              <a:rPr lang="en-GB" sz="2000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equation</a:t>
            </a:r>
            <a:r>
              <a:rPr lang="en-GB" sz="2000" spc="-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is</a:t>
            </a:r>
            <a:r>
              <a:rPr lang="en-GB"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x^2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,</a:t>
            </a:r>
            <a:r>
              <a:rPr lang="en-GB" sz="2000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which</a:t>
            </a:r>
            <a:r>
              <a:rPr lang="en-GB" sz="2000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confirms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that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time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complexity</a:t>
            </a:r>
            <a:r>
              <a:rPr lang="en-GB" sz="2000" spc="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grows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quadratically</a:t>
            </a:r>
            <a:r>
              <a:rPr lang="en-GB" sz="2000" spc="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with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n.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5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trendline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shows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a</a:t>
            </a:r>
            <a:r>
              <a:rPr lang="en-GB" sz="2000" spc="-5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quadratic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relationship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between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computational</a:t>
            </a:r>
            <a:r>
              <a:rPr lang="en-GB" sz="2000" spc="-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time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and</a:t>
            </a:r>
            <a:r>
              <a:rPr lang="en-GB" sz="2000" spc="-5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n.</a:t>
            </a:r>
            <a:endParaRPr lang="en-GB" sz="2000" dirty="0">
              <a:solidFill>
                <a:schemeClr val="bg1"/>
              </a:solidFill>
              <a:latin typeface="Candara"/>
              <a:cs typeface="Candara"/>
            </a:endParaRPr>
          </a:p>
          <a:p>
            <a:pPr marL="12700" marR="2804795">
              <a:lnSpc>
                <a:spcPct val="200000"/>
              </a:lnSpc>
              <a:spcBef>
                <a:spcPts val="5"/>
              </a:spcBef>
            </a:pP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5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experimental</a:t>
            </a:r>
            <a:r>
              <a:rPr lang="en-GB" sz="2000" spc="-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results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also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suggest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that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5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complexity</a:t>
            </a:r>
            <a:r>
              <a:rPr lang="en-GB" sz="2000" spc="1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of</a:t>
            </a:r>
            <a:r>
              <a:rPr lang="en-GB" sz="2000" spc="-5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program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is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spc="-10" dirty="0">
                <a:solidFill>
                  <a:schemeClr val="bg1"/>
                </a:solidFill>
                <a:latin typeface="Candara"/>
                <a:cs typeface="Candara"/>
              </a:rPr>
              <a:t>O(n^2)</a:t>
            </a:r>
            <a:r>
              <a:rPr lang="en-GB" sz="2000" spc="-10" dirty="0">
                <a:solidFill>
                  <a:schemeClr val="bg1"/>
                </a:solidFill>
                <a:latin typeface="Candara"/>
                <a:cs typeface="Candara"/>
              </a:rPr>
              <a:t>.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Comparison</a:t>
            </a:r>
            <a:r>
              <a:rPr lang="en-GB" sz="2000" b="1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:</a:t>
            </a:r>
            <a:r>
              <a:rPr lang="en-GB" sz="2000" b="1" spc="-7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Theoretical</a:t>
            </a:r>
            <a:r>
              <a:rPr lang="en-GB" sz="2000" b="1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vs</a:t>
            </a:r>
            <a:r>
              <a:rPr lang="en-GB" sz="2000" b="1" spc="-6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Candara"/>
                <a:cs typeface="Candara"/>
              </a:rPr>
              <a:t>Experimental</a:t>
            </a:r>
            <a:r>
              <a:rPr lang="en-GB" sz="2000" b="1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spc="-50" dirty="0">
                <a:solidFill>
                  <a:schemeClr val="bg1"/>
                </a:solidFill>
                <a:latin typeface="Candara"/>
                <a:cs typeface="Candara"/>
              </a:rPr>
              <a:t>:</a:t>
            </a:r>
            <a:endParaRPr lang="en-GB" sz="2000" dirty="0">
              <a:solidFill>
                <a:schemeClr val="bg1"/>
              </a:solidFill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From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 err="1">
                <a:solidFill>
                  <a:schemeClr val="bg1"/>
                </a:solidFill>
                <a:latin typeface="Candara"/>
                <a:cs typeface="Candara"/>
              </a:rPr>
              <a:t>analyzing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code,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we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spc="-10" dirty="0">
                <a:solidFill>
                  <a:schemeClr val="bg1"/>
                </a:solidFill>
                <a:latin typeface="Candara"/>
                <a:cs typeface="Candara"/>
              </a:rPr>
              <a:t>determined</a:t>
            </a:r>
            <a:r>
              <a:rPr lang="en-GB" sz="2000" spc="-2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that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time</a:t>
            </a:r>
            <a:r>
              <a:rPr lang="en-GB" sz="2000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complexity</a:t>
            </a:r>
            <a:r>
              <a:rPr lang="en-GB" sz="2000" spc="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is</a:t>
            </a:r>
            <a:r>
              <a:rPr lang="en-GB" sz="2000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spc="-10" dirty="0">
                <a:solidFill>
                  <a:schemeClr val="bg1"/>
                </a:solidFill>
                <a:latin typeface="Candara"/>
                <a:cs typeface="Candara"/>
              </a:rPr>
              <a:t>O(n^2)</a:t>
            </a:r>
            <a:r>
              <a:rPr lang="en-GB" sz="2000" spc="-10" dirty="0">
                <a:solidFill>
                  <a:schemeClr val="bg1"/>
                </a:solidFill>
                <a:latin typeface="Candara"/>
                <a:cs typeface="Candara"/>
              </a:rPr>
              <a:t>.</a:t>
            </a:r>
            <a:endParaRPr lang="en-GB" sz="2000" dirty="0">
              <a:solidFill>
                <a:schemeClr val="bg1"/>
              </a:solidFill>
              <a:latin typeface="Candara"/>
              <a:cs typeface="Candara"/>
            </a:endParaRPr>
          </a:p>
          <a:p>
            <a:pPr marL="12700" marR="5080">
              <a:lnSpc>
                <a:spcPct val="200000"/>
              </a:lnSpc>
            </a:pP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From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excel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graph</a:t>
            </a:r>
            <a:r>
              <a:rPr lang="en-GB" sz="2000" spc="-5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and</a:t>
            </a:r>
            <a:r>
              <a:rPr lang="en-GB" sz="2000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5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polynomial trendline,</a:t>
            </a:r>
            <a:r>
              <a:rPr lang="en-GB"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confirming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that</a:t>
            </a:r>
            <a:r>
              <a:rPr lang="en-GB" sz="2000" spc="-5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experimental</a:t>
            </a:r>
            <a:r>
              <a:rPr lang="en-GB" sz="2000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time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complexity</a:t>
            </a:r>
            <a:r>
              <a:rPr lang="en-GB" sz="2000" spc="-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 err="1">
                <a:solidFill>
                  <a:schemeClr val="bg1"/>
                </a:solidFill>
                <a:latin typeface="Candara"/>
                <a:cs typeface="Candara"/>
              </a:rPr>
              <a:t>ia</a:t>
            </a:r>
            <a:r>
              <a:rPr lang="en-GB"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also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spc="-10" dirty="0">
                <a:solidFill>
                  <a:schemeClr val="bg1"/>
                </a:solidFill>
                <a:latin typeface="Candara"/>
                <a:cs typeface="Candara"/>
              </a:rPr>
              <a:t>O(n^2)</a:t>
            </a:r>
            <a:r>
              <a:rPr lang="en-GB" sz="2000" spc="-10" dirty="0">
                <a:solidFill>
                  <a:schemeClr val="bg1"/>
                </a:solidFill>
                <a:latin typeface="Candara"/>
                <a:cs typeface="Candara"/>
              </a:rPr>
              <a:t>.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Both</a:t>
            </a:r>
            <a:r>
              <a:rPr lang="en-GB"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theoretical</a:t>
            </a:r>
            <a:r>
              <a:rPr lang="en-GB" sz="2000" spc="-2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and</a:t>
            </a:r>
            <a:r>
              <a:rPr lang="en-GB" sz="2000" spc="-4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experimental</a:t>
            </a:r>
            <a:r>
              <a:rPr lang="en-GB" sz="2000" spc="-1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time</a:t>
            </a:r>
            <a:r>
              <a:rPr lang="en-GB" sz="2000" spc="-3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complexity</a:t>
            </a:r>
            <a:r>
              <a:rPr lang="en-GB" sz="2000" spc="-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of</a:t>
            </a:r>
            <a:r>
              <a:rPr lang="en-GB" sz="2000" spc="-4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the</a:t>
            </a:r>
            <a:r>
              <a:rPr lang="en-GB" sz="2000" spc="-50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program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ndara"/>
                <a:cs typeface="Candara"/>
              </a:rPr>
              <a:t>are</a:t>
            </a:r>
            <a:r>
              <a:rPr lang="en-GB" sz="2000" spc="-35" dirty="0">
                <a:solidFill>
                  <a:schemeClr val="bg1"/>
                </a:solidFill>
                <a:latin typeface="Candara"/>
                <a:cs typeface="Candara"/>
              </a:rPr>
              <a:t> </a:t>
            </a:r>
            <a:r>
              <a:rPr lang="en-GB" sz="2000" b="1" spc="-10" dirty="0">
                <a:solidFill>
                  <a:schemeClr val="bg1"/>
                </a:solidFill>
                <a:latin typeface="Candara"/>
                <a:cs typeface="Candara"/>
              </a:rPr>
              <a:t>O(n^2)</a:t>
            </a:r>
            <a:r>
              <a:rPr lang="en-GB" sz="2000" spc="-10" dirty="0">
                <a:solidFill>
                  <a:schemeClr val="bg1"/>
                </a:solidFill>
                <a:latin typeface="Candara"/>
                <a:cs typeface="Candara"/>
              </a:rPr>
              <a:t>.</a:t>
            </a:r>
            <a:endParaRPr lang="en-GB" sz="2000" dirty="0">
              <a:solidFill>
                <a:schemeClr val="bg1"/>
              </a:solidFill>
              <a:latin typeface="Candara"/>
              <a:cs typeface="Candara"/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123482-C8C6-6C98-6722-B7A3887EDEEE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683864" y="3200556"/>
                </a:moveTo>
                <a:lnTo>
                  <a:pt x="4761803" y="3683234"/>
                </a:lnTo>
                <a:lnTo>
                  <a:pt x="4605240" y="3683234"/>
                </a:lnTo>
                <a:close/>
                <a:moveTo>
                  <a:pt x="7574259" y="3091168"/>
                </a:moveTo>
                <a:lnTo>
                  <a:pt x="7793720" y="3091168"/>
                </a:lnTo>
                <a:lnTo>
                  <a:pt x="7793720" y="3886287"/>
                </a:lnTo>
                <a:lnTo>
                  <a:pt x="7574259" y="3886287"/>
                </a:lnTo>
                <a:close/>
                <a:moveTo>
                  <a:pt x="8128653" y="2953748"/>
                </a:moveTo>
                <a:lnTo>
                  <a:pt x="8128653" y="3925940"/>
                </a:lnTo>
                <a:cubicBezTo>
                  <a:pt x="8128653" y="3991118"/>
                  <a:pt x="8161014" y="4023706"/>
                  <a:pt x="8225735" y="4023706"/>
                </a:cubicBezTo>
                <a:lnTo>
                  <a:pt x="8565524" y="4023706"/>
                </a:lnTo>
                <a:cubicBezTo>
                  <a:pt x="8631157" y="4023706"/>
                  <a:pt x="8663974" y="3991118"/>
                  <a:pt x="8663974" y="3925940"/>
                </a:cubicBezTo>
                <a:lnTo>
                  <a:pt x="8663974" y="2953748"/>
                </a:lnTo>
                <a:lnTo>
                  <a:pt x="8503992" y="2953748"/>
                </a:lnTo>
                <a:lnTo>
                  <a:pt x="8503992" y="3886287"/>
                </a:lnTo>
                <a:lnTo>
                  <a:pt x="8288634" y="3886287"/>
                </a:lnTo>
                <a:lnTo>
                  <a:pt x="8288634" y="2953748"/>
                </a:lnTo>
                <a:close/>
                <a:moveTo>
                  <a:pt x="7509309" y="2953748"/>
                </a:moveTo>
                <a:cubicBezTo>
                  <a:pt x="7445955" y="2953748"/>
                  <a:pt x="7414278" y="2986565"/>
                  <a:pt x="7414278" y="3052198"/>
                </a:cubicBezTo>
                <a:lnTo>
                  <a:pt x="7414278" y="3925940"/>
                </a:lnTo>
                <a:cubicBezTo>
                  <a:pt x="7414278" y="3991118"/>
                  <a:pt x="7445955" y="4023706"/>
                  <a:pt x="7509309" y="4023706"/>
                </a:cubicBezTo>
                <a:lnTo>
                  <a:pt x="7856618" y="4023706"/>
                </a:lnTo>
                <a:cubicBezTo>
                  <a:pt x="7921340" y="4023706"/>
                  <a:pt x="7953701" y="3991118"/>
                  <a:pt x="7953701" y="3925940"/>
                </a:cubicBezTo>
                <a:lnTo>
                  <a:pt x="7953701" y="3052198"/>
                </a:lnTo>
                <a:cubicBezTo>
                  <a:pt x="7953701" y="2986565"/>
                  <a:pt x="7921340" y="2953748"/>
                  <a:pt x="7856618" y="2953748"/>
                </a:cubicBezTo>
                <a:close/>
                <a:moveTo>
                  <a:pt x="6711247" y="2953748"/>
                </a:moveTo>
                <a:cubicBezTo>
                  <a:pt x="6710791" y="2957394"/>
                  <a:pt x="6710791" y="2959446"/>
                  <a:pt x="6711247" y="2959902"/>
                </a:cubicBezTo>
                <a:lnTo>
                  <a:pt x="6852085" y="3407028"/>
                </a:lnTo>
                <a:cubicBezTo>
                  <a:pt x="6853908" y="3412953"/>
                  <a:pt x="6866897" y="3449871"/>
                  <a:pt x="6891054" y="3517784"/>
                </a:cubicBezTo>
                <a:cubicBezTo>
                  <a:pt x="6904728" y="3557437"/>
                  <a:pt x="6915211" y="3595039"/>
                  <a:pt x="6922504" y="3630591"/>
                </a:cubicBezTo>
                <a:lnTo>
                  <a:pt x="6922504" y="4023706"/>
                </a:lnTo>
                <a:lnTo>
                  <a:pt x="7083168" y="4023706"/>
                </a:lnTo>
                <a:lnTo>
                  <a:pt x="7083168" y="3630591"/>
                </a:lnTo>
                <a:cubicBezTo>
                  <a:pt x="7112794" y="3525760"/>
                  <a:pt x="7136267" y="3451239"/>
                  <a:pt x="7153587" y="3407028"/>
                </a:cubicBezTo>
                <a:lnTo>
                  <a:pt x="7295108" y="2959902"/>
                </a:lnTo>
                <a:cubicBezTo>
                  <a:pt x="7295108" y="2958990"/>
                  <a:pt x="7295108" y="2956939"/>
                  <a:pt x="7295108" y="2953748"/>
                </a:cubicBezTo>
                <a:lnTo>
                  <a:pt x="7131026" y="2953748"/>
                </a:lnTo>
                <a:lnTo>
                  <a:pt x="7003861" y="3418650"/>
                </a:lnTo>
                <a:lnTo>
                  <a:pt x="6876013" y="2953748"/>
                </a:lnTo>
                <a:close/>
                <a:moveTo>
                  <a:pt x="5814079" y="2953748"/>
                </a:moveTo>
                <a:lnTo>
                  <a:pt x="5814079" y="4023706"/>
                </a:lnTo>
                <a:lnTo>
                  <a:pt x="5974059" y="4023706"/>
                </a:lnTo>
                <a:lnTo>
                  <a:pt x="5974059" y="3546498"/>
                </a:lnTo>
                <a:lnTo>
                  <a:pt x="6177112" y="4023706"/>
                </a:lnTo>
                <a:lnTo>
                  <a:pt x="6353501" y="4023706"/>
                </a:lnTo>
                <a:lnTo>
                  <a:pt x="6109428" y="3469242"/>
                </a:lnTo>
                <a:lnTo>
                  <a:pt x="6326837" y="2961269"/>
                </a:lnTo>
                <a:lnTo>
                  <a:pt x="6326837" y="2953748"/>
                </a:lnTo>
                <a:lnTo>
                  <a:pt x="6151816" y="2953748"/>
                </a:lnTo>
                <a:lnTo>
                  <a:pt x="5974059" y="3406344"/>
                </a:lnTo>
                <a:lnTo>
                  <a:pt x="5974059" y="2953748"/>
                </a:lnTo>
                <a:close/>
                <a:moveTo>
                  <a:pt x="5109228" y="2953748"/>
                </a:moveTo>
                <a:lnTo>
                  <a:pt x="5109228" y="4023706"/>
                </a:lnTo>
                <a:lnTo>
                  <a:pt x="5265107" y="4023706"/>
                </a:lnTo>
                <a:lnTo>
                  <a:pt x="5265107" y="3427538"/>
                </a:lnTo>
                <a:cubicBezTo>
                  <a:pt x="5265107" y="3408851"/>
                  <a:pt x="5261689" y="3383099"/>
                  <a:pt x="5254852" y="3350282"/>
                </a:cubicBezTo>
                <a:lnTo>
                  <a:pt x="5511231" y="4023706"/>
                </a:lnTo>
                <a:lnTo>
                  <a:pt x="5651386" y="4023706"/>
                </a:lnTo>
                <a:lnTo>
                  <a:pt x="5651386" y="2953748"/>
                </a:lnTo>
                <a:lnTo>
                  <a:pt x="5495507" y="2953748"/>
                </a:lnTo>
                <a:lnTo>
                  <a:pt x="5495507" y="3536243"/>
                </a:lnTo>
                <a:cubicBezTo>
                  <a:pt x="5495507" y="3554930"/>
                  <a:pt x="5498926" y="3580682"/>
                  <a:pt x="5505762" y="3613499"/>
                </a:cubicBezTo>
                <a:lnTo>
                  <a:pt x="5249382" y="2953748"/>
                </a:lnTo>
                <a:close/>
                <a:moveTo>
                  <a:pt x="3728103" y="2953748"/>
                </a:moveTo>
                <a:lnTo>
                  <a:pt x="3728103" y="4023706"/>
                </a:lnTo>
                <a:lnTo>
                  <a:pt x="3888084" y="4023706"/>
                </a:lnTo>
                <a:lnTo>
                  <a:pt x="3888084" y="3543763"/>
                </a:lnTo>
                <a:lnTo>
                  <a:pt x="4104811" y="3543763"/>
                </a:lnTo>
                <a:lnTo>
                  <a:pt x="4104811" y="4023706"/>
                </a:lnTo>
                <a:lnTo>
                  <a:pt x="4266159" y="4023706"/>
                </a:lnTo>
                <a:lnTo>
                  <a:pt x="4266159" y="2953748"/>
                </a:lnTo>
                <a:lnTo>
                  <a:pt x="4104811" y="2953748"/>
                </a:lnTo>
                <a:lnTo>
                  <a:pt x="4104811" y="3394722"/>
                </a:lnTo>
                <a:lnTo>
                  <a:pt x="3888084" y="3394722"/>
                </a:lnTo>
                <a:lnTo>
                  <a:pt x="3888084" y="2953748"/>
                </a:lnTo>
                <a:close/>
                <a:moveTo>
                  <a:pt x="3080854" y="2953748"/>
                </a:moveTo>
                <a:lnTo>
                  <a:pt x="3080854" y="3095270"/>
                </a:lnTo>
                <a:lnTo>
                  <a:pt x="3257244" y="3095270"/>
                </a:lnTo>
                <a:lnTo>
                  <a:pt x="3257244" y="4023706"/>
                </a:lnTo>
                <a:lnTo>
                  <a:pt x="3416541" y="4023706"/>
                </a:lnTo>
                <a:lnTo>
                  <a:pt x="3416541" y="3095270"/>
                </a:lnTo>
                <a:lnTo>
                  <a:pt x="3592930" y="3095270"/>
                </a:lnTo>
                <a:lnTo>
                  <a:pt x="3592930" y="2953748"/>
                </a:lnTo>
                <a:close/>
                <a:moveTo>
                  <a:pt x="4601138" y="2952381"/>
                </a:moveTo>
                <a:lnTo>
                  <a:pt x="4393983" y="4020971"/>
                </a:lnTo>
                <a:lnTo>
                  <a:pt x="4393983" y="4023706"/>
                </a:lnTo>
                <a:lnTo>
                  <a:pt x="4551913" y="4023706"/>
                </a:lnTo>
                <a:lnTo>
                  <a:pt x="4584046" y="3820653"/>
                </a:lnTo>
                <a:lnTo>
                  <a:pt x="4784364" y="3820653"/>
                </a:lnTo>
                <a:lnTo>
                  <a:pt x="4816497" y="4023706"/>
                </a:lnTo>
                <a:lnTo>
                  <a:pt x="4975111" y="4023706"/>
                </a:lnTo>
                <a:lnTo>
                  <a:pt x="4769323" y="295238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0" b="1" spc="300" dirty="0">
              <a:latin typeface="Agency FB" panose="020B050302020202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36</TotalTime>
  <Words>701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Agency FB</vt:lpstr>
      <vt:lpstr>Arial</vt:lpstr>
      <vt:lpstr>Arial Black</vt:lpstr>
      <vt:lpstr>Cambria</vt:lpstr>
      <vt:lpstr>Candara</vt:lpstr>
      <vt:lpstr>Century Gothic</vt:lpstr>
      <vt:lpstr>Times New Roman</vt:lpstr>
      <vt:lpstr>Wingdings 2</vt:lpstr>
      <vt:lpstr>Quotable</vt:lpstr>
      <vt:lpstr>Mini Project</vt:lpstr>
      <vt:lpstr>SUBMITTED TO</vt:lpstr>
      <vt:lpstr>Directed Graph :</vt:lpstr>
      <vt:lpstr>Presenting 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Proyas Pratim Nandi Samya</dc:creator>
  <cp:lastModifiedBy>Md. Arifur Rahman Razu</cp:lastModifiedBy>
  <cp:revision>14</cp:revision>
  <dcterms:created xsi:type="dcterms:W3CDTF">2025-01-21T15:28:18Z</dcterms:created>
  <dcterms:modified xsi:type="dcterms:W3CDTF">2025-01-22T15:52:14Z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2025-01-18T00:00:00Z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2025-01-21T00:00:00Z</vt:filetime>
  </property>
  <property fmtid="{D5CDD505-2E9C-101B-9397-08002B2CF9AE}" pid="5" name="Producer">
    <vt:lpwstr>Microsoft® PowerPoint® LTSC</vt:lpwstr>
  </property>
</Properties>
</file>